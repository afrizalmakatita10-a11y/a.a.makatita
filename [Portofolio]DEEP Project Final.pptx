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aleway"/>
      <p:regular r:id="rId37"/>
      <p:bold r:id="rId38"/>
      <p:italic r:id="rId39"/>
      <p:boldItalic r:id="rId40"/>
    </p:embeddedFont>
    <p:embeddedFont>
      <p:font typeface="Playfair Display"/>
      <p:regular r:id="rId41"/>
      <p:bold r:id="rId42"/>
      <p:italic r:id="rId43"/>
      <p:boldItalic r:id="rId44"/>
    </p:embeddedFont>
    <p:embeddedFont>
      <p:font typeface="Anaheim"/>
      <p:regular r:id="rId45"/>
      <p:bold r:id="rId46"/>
    </p:embeddedFont>
    <p:embeddedFont>
      <p:font typeface="Bebas Neue"/>
      <p:regular r:id="rId47"/>
    </p:embeddedFont>
    <p:embeddedFont>
      <p:font typeface="PT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2" roundtripDataSignature="AMtx7mgo9Vq1JwUqrHP8zzzEiiIDG7YF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2FADD9-81F0-4FCF-8637-203B58AF7179}">
  <a:tblStyle styleId="{EC2FADD9-81F0-4FCF-8637-203B58AF717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boldItalic.fntdata"/><Relationship Id="rId42" Type="http://schemas.openxmlformats.org/officeDocument/2006/relationships/font" Target="fonts/PlayfairDisplay-bold.fntdata"/><Relationship Id="rId41" Type="http://schemas.openxmlformats.org/officeDocument/2006/relationships/font" Target="fonts/PlayfairDisplay-regular.fntdata"/><Relationship Id="rId44" Type="http://schemas.openxmlformats.org/officeDocument/2006/relationships/font" Target="fonts/PlayfairDisplay-boldItalic.fntdata"/><Relationship Id="rId43" Type="http://schemas.openxmlformats.org/officeDocument/2006/relationships/font" Target="fonts/PlayfairDisplay-italic.fntdata"/><Relationship Id="rId46" Type="http://schemas.openxmlformats.org/officeDocument/2006/relationships/font" Target="fonts/Anaheim-bold.fntdata"/><Relationship Id="rId45" Type="http://schemas.openxmlformats.org/officeDocument/2006/relationships/font" Target="fonts/Anahei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TSans-regular.fntdata"/><Relationship Id="rId47" Type="http://schemas.openxmlformats.org/officeDocument/2006/relationships/font" Target="fonts/BebasNeue-regular.fntdata"/><Relationship Id="rId49" Type="http://schemas.openxmlformats.org/officeDocument/2006/relationships/font" Target="fonts/PT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Raleway-regular.fntdata"/><Relationship Id="rId36" Type="http://schemas.openxmlformats.org/officeDocument/2006/relationships/slide" Target="slides/slide30.xml"/><Relationship Id="rId39" Type="http://schemas.openxmlformats.org/officeDocument/2006/relationships/font" Target="fonts/Raleway-italic.fntdata"/><Relationship Id="rId38" Type="http://schemas.openxmlformats.org/officeDocument/2006/relationships/font" Target="fonts/Raleway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TSans-boldItalic.fntdata"/><Relationship Id="rId50" Type="http://schemas.openxmlformats.org/officeDocument/2006/relationships/font" Target="fonts/PTSans-italic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55504fcf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g3f55504fcf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4" name="Google Shape;70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1" name="Google Shape;71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2" name="Google Shape;78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8" name="Google Shape;79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1"/>
          <p:cNvSpPr txBox="1"/>
          <p:nvPr>
            <p:ph type="ctrTitle"/>
          </p:nvPr>
        </p:nvSpPr>
        <p:spPr>
          <a:xfrm>
            <a:off x="671788" y="1248284"/>
            <a:ext cx="63636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5200"/>
              <a:buNone/>
              <a:defRPr sz="6000">
                <a:solidFill>
                  <a:srgbClr val="CC41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31"/>
          <p:cNvSpPr txBox="1"/>
          <p:nvPr>
            <p:ph idx="1" type="subTitle"/>
          </p:nvPr>
        </p:nvSpPr>
        <p:spPr>
          <a:xfrm>
            <a:off x="823812" y="3308559"/>
            <a:ext cx="42570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" name="Google Shape;12;p31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1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1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2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2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2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2" type="title"/>
          </p:nvPr>
        </p:nvSpPr>
        <p:spPr>
          <a:xfrm>
            <a:off x="713225" y="1917200"/>
            <a:ext cx="11844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sz="6000"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" name="Google Shape;22;p32"/>
          <p:cNvSpPr txBox="1"/>
          <p:nvPr>
            <p:ph idx="3" type="title"/>
          </p:nvPr>
        </p:nvSpPr>
        <p:spPr>
          <a:xfrm>
            <a:off x="3415888" y="1917200"/>
            <a:ext cx="11844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sz="6000"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" name="Google Shape;23;p32"/>
          <p:cNvSpPr txBox="1"/>
          <p:nvPr>
            <p:ph idx="4" type="title"/>
          </p:nvPr>
        </p:nvSpPr>
        <p:spPr>
          <a:xfrm>
            <a:off x="6118550" y="1917200"/>
            <a:ext cx="1184400" cy="67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 sz="6000"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" name="Google Shape;24;p32"/>
          <p:cNvSpPr txBox="1"/>
          <p:nvPr>
            <p:ph idx="1" type="subTitle"/>
          </p:nvPr>
        </p:nvSpPr>
        <p:spPr>
          <a:xfrm>
            <a:off x="713225" y="2612662"/>
            <a:ext cx="23055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" name="Google Shape;25;p32"/>
          <p:cNvSpPr txBox="1"/>
          <p:nvPr>
            <p:ph idx="5" type="subTitle"/>
          </p:nvPr>
        </p:nvSpPr>
        <p:spPr>
          <a:xfrm>
            <a:off x="3415887" y="2612662"/>
            <a:ext cx="23055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" name="Google Shape;26;p32"/>
          <p:cNvSpPr txBox="1"/>
          <p:nvPr>
            <p:ph idx="6" type="subTitle"/>
          </p:nvPr>
        </p:nvSpPr>
        <p:spPr>
          <a:xfrm>
            <a:off x="6118549" y="2612662"/>
            <a:ext cx="2305500" cy="365700"/>
          </a:xfrm>
          <a:prstGeom prst="rect">
            <a:avLst/>
          </a:prstGeom>
          <a:solidFill>
            <a:srgbClr val="CC41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" name="Google Shape;27;p32"/>
          <p:cNvSpPr txBox="1"/>
          <p:nvPr>
            <p:ph idx="7" type="subTitle"/>
          </p:nvPr>
        </p:nvSpPr>
        <p:spPr>
          <a:xfrm>
            <a:off x="713225" y="3118400"/>
            <a:ext cx="214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8" type="subTitle"/>
          </p:nvPr>
        </p:nvSpPr>
        <p:spPr>
          <a:xfrm>
            <a:off x="3415887" y="3118400"/>
            <a:ext cx="214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9" type="subTitle"/>
          </p:nvPr>
        </p:nvSpPr>
        <p:spPr>
          <a:xfrm>
            <a:off x="6118550" y="3118400"/>
            <a:ext cx="214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30" name="Google Shape;30;p3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2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3"/>
          <p:cNvSpPr/>
          <p:nvPr/>
        </p:nvSpPr>
        <p:spPr>
          <a:xfrm>
            <a:off x="7269350" y="301677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3"/>
          <p:cNvSpPr/>
          <p:nvPr/>
        </p:nvSpPr>
        <p:spPr>
          <a:xfrm>
            <a:off x="-3030675" y="39134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1" type="subTitle"/>
          </p:nvPr>
        </p:nvSpPr>
        <p:spPr>
          <a:xfrm>
            <a:off x="4947756" y="1667625"/>
            <a:ext cx="30408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2" type="subTitle"/>
          </p:nvPr>
        </p:nvSpPr>
        <p:spPr>
          <a:xfrm>
            <a:off x="1155450" y="1667625"/>
            <a:ext cx="3040800" cy="21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39" name="Google Shape;39;p33"/>
          <p:cNvCxnSpPr/>
          <p:nvPr/>
        </p:nvCxnSpPr>
        <p:spPr>
          <a:xfrm>
            <a:off x="707400" y="1960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33"/>
          <p:cNvCxnSpPr/>
          <p:nvPr/>
        </p:nvCxnSpPr>
        <p:spPr>
          <a:xfrm>
            <a:off x="707400" y="49140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4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4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4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4"/>
          <p:cNvSpPr txBox="1"/>
          <p:nvPr>
            <p:ph type="title"/>
          </p:nvPr>
        </p:nvSpPr>
        <p:spPr>
          <a:xfrm>
            <a:off x="1291500" y="2338425"/>
            <a:ext cx="3410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600"/>
              <a:buNone/>
              <a:defRPr sz="5000">
                <a:solidFill>
                  <a:srgbClr val="CC41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7" name="Google Shape;47;p34"/>
          <p:cNvSpPr txBox="1"/>
          <p:nvPr>
            <p:ph idx="2" type="title"/>
          </p:nvPr>
        </p:nvSpPr>
        <p:spPr>
          <a:xfrm>
            <a:off x="1291500" y="1574925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6000"/>
              <a:buNone/>
              <a:defRPr sz="8000">
                <a:solidFill>
                  <a:srgbClr val="CC412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34"/>
          <p:cNvSpPr txBox="1"/>
          <p:nvPr>
            <p:ph idx="1" type="subTitle"/>
          </p:nvPr>
        </p:nvSpPr>
        <p:spPr>
          <a:xfrm>
            <a:off x="1291500" y="3254325"/>
            <a:ext cx="38730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9" name="Google Shape;49;p34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34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5"/>
          <p:cNvSpPr/>
          <p:nvPr/>
        </p:nvSpPr>
        <p:spPr>
          <a:xfrm>
            <a:off x="7636950" y="805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5"/>
          <p:cNvSpPr/>
          <p:nvPr/>
        </p:nvSpPr>
        <p:spPr>
          <a:xfrm>
            <a:off x="-1911075" y="367947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5"/>
          <p:cNvSpPr/>
          <p:nvPr/>
        </p:nvSpPr>
        <p:spPr>
          <a:xfrm>
            <a:off x="-4054200" y="-252075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" type="subTitle"/>
          </p:nvPr>
        </p:nvSpPr>
        <p:spPr>
          <a:xfrm>
            <a:off x="2498350" y="1700300"/>
            <a:ext cx="42948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58" name="Google Shape;58;p3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35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6"/>
          <p:cNvSpPr/>
          <p:nvPr/>
        </p:nvSpPr>
        <p:spPr>
          <a:xfrm>
            <a:off x="7621000" y="-59975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6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6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6"/>
          <p:cNvSpPr txBox="1"/>
          <p:nvPr>
            <p:ph type="title"/>
          </p:nvPr>
        </p:nvSpPr>
        <p:spPr>
          <a:xfrm>
            <a:off x="2322400" y="1514150"/>
            <a:ext cx="44991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" type="subTitle"/>
          </p:nvPr>
        </p:nvSpPr>
        <p:spPr>
          <a:xfrm>
            <a:off x="2322400" y="2801575"/>
            <a:ext cx="4499100" cy="6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67" name="Google Shape;67;p36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36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7"/>
          <p:cNvSpPr/>
          <p:nvPr/>
        </p:nvSpPr>
        <p:spPr>
          <a:xfrm>
            <a:off x="7601975" y="-2756700"/>
            <a:ext cx="48207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7"/>
          <p:cNvSpPr/>
          <p:nvPr/>
        </p:nvSpPr>
        <p:spPr>
          <a:xfrm>
            <a:off x="511950" y="4249225"/>
            <a:ext cx="5387400" cy="51435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7"/>
          <p:cNvSpPr/>
          <p:nvPr/>
        </p:nvSpPr>
        <p:spPr>
          <a:xfrm>
            <a:off x="-3780225" y="-2395400"/>
            <a:ext cx="4632900" cy="460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" name="Google Shape;75;p37"/>
          <p:cNvSpPr txBox="1"/>
          <p:nvPr>
            <p:ph idx="1" type="subTitle"/>
          </p:nvPr>
        </p:nvSpPr>
        <p:spPr>
          <a:xfrm>
            <a:off x="720000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2" type="subTitle"/>
          </p:nvPr>
        </p:nvSpPr>
        <p:spPr>
          <a:xfrm>
            <a:off x="3579000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3" type="subTitle"/>
          </p:nvPr>
        </p:nvSpPr>
        <p:spPr>
          <a:xfrm>
            <a:off x="720000" y="344045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4" type="subTitle"/>
          </p:nvPr>
        </p:nvSpPr>
        <p:spPr>
          <a:xfrm>
            <a:off x="3579000" y="344045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5" type="subTitle"/>
          </p:nvPr>
        </p:nvSpPr>
        <p:spPr>
          <a:xfrm>
            <a:off x="6437997" y="1710161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6" type="subTitle"/>
          </p:nvPr>
        </p:nvSpPr>
        <p:spPr>
          <a:xfrm>
            <a:off x="6437997" y="3440450"/>
            <a:ext cx="1986000" cy="11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37"/>
          <p:cNvSpPr txBox="1"/>
          <p:nvPr>
            <p:ph idx="7" type="subTitle"/>
          </p:nvPr>
        </p:nvSpPr>
        <p:spPr>
          <a:xfrm>
            <a:off x="723905" y="1336263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p37"/>
          <p:cNvSpPr txBox="1"/>
          <p:nvPr>
            <p:ph idx="8" type="subTitle"/>
          </p:nvPr>
        </p:nvSpPr>
        <p:spPr>
          <a:xfrm>
            <a:off x="3582902" y="1336263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3" name="Google Shape;83;p37"/>
          <p:cNvSpPr txBox="1"/>
          <p:nvPr>
            <p:ph idx="9" type="subTitle"/>
          </p:nvPr>
        </p:nvSpPr>
        <p:spPr>
          <a:xfrm>
            <a:off x="6441895" y="1336263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37"/>
          <p:cNvSpPr txBox="1"/>
          <p:nvPr>
            <p:ph idx="13" type="subTitle"/>
          </p:nvPr>
        </p:nvSpPr>
        <p:spPr>
          <a:xfrm>
            <a:off x="723905" y="3063350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" name="Google Shape;85;p37"/>
          <p:cNvSpPr txBox="1"/>
          <p:nvPr>
            <p:ph idx="14" type="subTitle"/>
          </p:nvPr>
        </p:nvSpPr>
        <p:spPr>
          <a:xfrm>
            <a:off x="3582902" y="3063350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6" name="Google Shape;86;p37"/>
          <p:cNvSpPr txBox="1"/>
          <p:nvPr>
            <p:ph idx="15" type="subTitle"/>
          </p:nvPr>
        </p:nvSpPr>
        <p:spPr>
          <a:xfrm>
            <a:off x="6441895" y="3063350"/>
            <a:ext cx="1978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87" name="Google Shape;87;p37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37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8"/>
          <p:cNvSpPr/>
          <p:nvPr/>
        </p:nvSpPr>
        <p:spPr>
          <a:xfrm>
            <a:off x="7952850" y="25039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8"/>
          <p:cNvSpPr/>
          <p:nvPr/>
        </p:nvSpPr>
        <p:spPr>
          <a:xfrm>
            <a:off x="-2152525" y="396627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8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38"/>
          <p:cNvSpPr txBox="1"/>
          <p:nvPr>
            <p:ph idx="1" type="subTitle"/>
          </p:nvPr>
        </p:nvSpPr>
        <p:spPr>
          <a:xfrm>
            <a:off x="937625" y="2500177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38"/>
          <p:cNvSpPr txBox="1"/>
          <p:nvPr>
            <p:ph idx="2" type="subTitle"/>
          </p:nvPr>
        </p:nvSpPr>
        <p:spPr>
          <a:xfrm>
            <a:off x="3484347" y="2500177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38"/>
          <p:cNvSpPr txBox="1"/>
          <p:nvPr>
            <p:ph idx="3" type="subTitle"/>
          </p:nvPr>
        </p:nvSpPr>
        <p:spPr>
          <a:xfrm>
            <a:off x="6031075" y="2500177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38"/>
          <p:cNvSpPr txBox="1"/>
          <p:nvPr>
            <p:ph idx="4" type="subTitle"/>
          </p:nvPr>
        </p:nvSpPr>
        <p:spPr>
          <a:xfrm>
            <a:off x="937625" y="1992566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9" name="Google Shape;99;p38"/>
          <p:cNvSpPr txBox="1"/>
          <p:nvPr>
            <p:ph idx="5" type="subTitle"/>
          </p:nvPr>
        </p:nvSpPr>
        <p:spPr>
          <a:xfrm>
            <a:off x="3484350" y="1992566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38"/>
          <p:cNvSpPr txBox="1"/>
          <p:nvPr>
            <p:ph idx="6" type="subTitle"/>
          </p:nvPr>
        </p:nvSpPr>
        <p:spPr>
          <a:xfrm>
            <a:off x="6031075" y="1992566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cxnSp>
        <p:nvCxnSpPr>
          <p:cNvPr id="101" name="Google Shape;101;p38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38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9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9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9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109" name="Google Shape;109;p39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39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0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0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0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0"/>
          <p:cNvSpPr txBox="1"/>
          <p:nvPr>
            <p:ph type="title"/>
          </p:nvPr>
        </p:nvSpPr>
        <p:spPr>
          <a:xfrm>
            <a:off x="720000" y="1637550"/>
            <a:ext cx="3597900" cy="106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40"/>
          <p:cNvSpPr txBox="1"/>
          <p:nvPr>
            <p:ph idx="1" type="subTitle"/>
          </p:nvPr>
        </p:nvSpPr>
        <p:spPr>
          <a:xfrm>
            <a:off x="720000" y="2700750"/>
            <a:ext cx="35979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118" name="Google Shape;118;p40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40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p41"/>
          <p:cNvSpPr/>
          <p:nvPr/>
        </p:nvSpPr>
        <p:spPr>
          <a:xfrm>
            <a:off x="7515375" y="1805550"/>
            <a:ext cx="4683000" cy="46608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1"/>
          <p:cNvSpPr/>
          <p:nvPr/>
        </p:nvSpPr>
        <p:spPr>
          <a:xfrm>
            <a:off x="1917400" y="-3828525"/>
            <a:ext cx="5387400" cy="48213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1"/>
          <p:cNvSpPr/>
          <p:nvPr/>
        </p:nvSpPr>
        <p:spPr>
          <a:xfrm>
            <a:off x="-3585025" y="1219250"/>
            <a:ext cx="4411200" cy="43707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1"/>
          <p:cNvSpPr txBox="1"/>
          <p:nvPr>
            <p:ph type="title"/>
          </p:nvPr>
        </p:nvSpPr>
        <p:spPr>
          <a:xfrm>
            <a:off x="2592650" y="1602650"/>
            <a:ext cx="3958800" cy="17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26" name="Google Shape;126;p41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1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4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2"/>
          <p:cNvSpPr/>
          <p:nvPr/>
        </p:nvSpPr>
        <p:spPr>
          <a:xfrm flipH="1">
            <a:off x="-3721750" y="2846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2"/>
          <p:cNvSpPr/>
          <p:nvPr/>
        </p:nvSpPr>
        <p:spPr>
          <a:xfrm flipH="1">
            <a:off x="2743225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2"/>
          <p:cNvSpPr/>
          <p:nvPr/>
        </p:nvSpPr>
        <p:spPr>
          <a:xfrm flipH="1">
            <a:off x="8350450" y="-298225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2"/>
          <p:cNvSpPr txBox="1"/>
          <p:nvPr>
            <p:ph idx="1" type="body"/>
          </p:nvPr>
        </p:nvSpPr>
        <p:spPr>
          <a:xfrm>
            <a:off x="720000" y="1215752"/>
            <a:ext cx="77040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●"/>
              <a:defRPr>
                <a:solidFill>
                  <a:srgbClr val="CC4125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○"/>
              <a:defRPr>
                <a:solidFill>
                  <a:srgbClr val="CC4125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■"/>
              <a:defRPr>
                <a:solidFill>
                  <a:srgbClr val="CC4125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●"/>
              <a:defRPr>
                <a:solidFill>
                  <a:srgbClr val="CC4125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○"/>
              <a:defRPr>
                <a:solidFill>
                  <a:srgbClr val="CC4125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■"/>
              <a:defRPr>
                <a:solidFill>
                  <a:srgbClr val="CC4125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●"/>
              <a:defRPr>
                <a:solidFill>
                  <a:srgbClr val="CC4125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○"/>
              <a:defRPr>
                <a:solidFill>
                  <a:srgbClr val="CC4125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1200"/>
              <a:buFont typeface="Nunito Light"/>
              <a:buChar char="■"/>
              <a:defRPr>
                <a:solidFill>
                  <a:srgbClr val="CC4125"/>
                </a:solidFill>
              </a:defRPr>
            </a:lvl9pPr>
          </a:lstStyle>
          <a:p/>
        </p:txBody>
      </p:sp>
      <p:sp>
        <p:nvSpPr>
          <p:cNvPr id="135" name="Google Shape;135;p42"/>
          <p:cNvSpPr/>
          <p:nvPr/>
        </p:nvSpPr>
        <p:spPr>
          <a:xfrm rot="10800000">
            <a:off x="208090" y="571034"/>
            <a:ext cx="320700" cy="320700"/>
          </a:xfrm>
          <a:prstGeom prst="mathMultiply">
            <a:avLst>
              <a:gd fmla="val 23520" name="adj1"/>
            </a:avLst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42"/>
          <p:cNvGrpSpPr/>
          <p:nvPr/>
        </p:nvGrpSpPr>
        <p:grpSpPr>
          <a:xfrm>
            <a:off x="7570255" y="4792675"/>
            <a:ext cx="860520" cy="320700"/>
            <a:chOff x="7570255" y="4058050"/>
            <a:chExt cx="860520" cy="320700"/>
          </a:xfrm>
        </p:grpSpPr>
        <p:sp>
          <p:nvSpPr>
            <p:cNvPr id="137" name="Google Shape;137;p42"/>
            <p:cNvSpPr/>
            <p:nvPr/>
          </p:nvSpPr>
          <p:spPr>
            <a:xfrm rot="5400000">
              <a:off x="7570255" y="405805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2"/>
            <p:cNvSpPr/>
            <p:nvPr/>
          </p:nvSpPr>
          <p:spPr>
            <a:xfrm rot="5400000">
              <a:off x="7840165" y="405805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2"/>
            <p:cNvSpPr/>
            <p:nvPr/>
          </p:nvSpPr>
          <p:spPr>
            <a:xfrm rot="5400000">
              <a:off x="8110075" y="405805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rgbClr val="CC412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0" name="Google Shape;140;p4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42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3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3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3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8" name="Google Shape;148;p43"/>
          <p:cNvSpPr txBox="1"/>
          <p:nvPr>
            <p:ph idx="1" type="subTitle"/>
          </p:nvPr>
        </p:nvSpPr>
        <p:spPr>
          <a:xfrm>
            <a:off x="1808182" y="3677950"/>
            <a:ext cx="1799100" cy="34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" name="Google Shape;149;p43"/>
          <p:cNvSpPr txBox="1"/>
          <p:nvPr>
            <p:ph idx="2" type="subTitle"/>
          </p:nvPr>
        </p:nvSpPr>
        <p:spPr>
          <a:xfrm>
            <a:off x="1808193" y="4083200"/>
            <a:ext cx="1799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0" name="Google Shape;150;p43"/>
          <p:cNvSpPr txBox="1"/>
          <p:nvPr>
            <p:ph idx="3" type="subTitle"/>
          </p:nvPr>
        </p:nvSpPr>
        <p:spPr>
          <a:xfrm>
            <a:off x="5536707" y="3677950"/>
            <a:ext cx="1799100" cy="34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1" name="Google Shape;151;p43"/>
          <p:cNvSpPr txBox="1"/>
          <p:nvPr>
            <p:ph idx="4" type="subTitle"/>
          </p:nvPr>
        </p:nvSpPr>
        <p:spPr>
          <a:xfrm>
            <a:off x="5536718" y="4083200"/>
            <a:ext cx="17991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2" name="Google Shape;152;p43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43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6" name="Google Shape;156;p44"/>
          <p:cNvSpPr txBox="1"/>
          <p:nvPr>
            <p:ph type="title"/>
          </p:nvPr>
        </p:nvSpPr>
        <p:spPr>
          <a:xfrm>
            <a:off x="1230904" y="4064800"/>
            <a:ext cx="6682200" cy="53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5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5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5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5"/>
          <p:cNvSpPr txBox="1"/>
          <p:nvPr>
            <p:ph hasCustomPrompt="1" type="title"/>
          </p:nvPr>
        </p:nvSpPr>
        <p:spPr>
          <a:xfrm>
            <a:off x="713225" y="1470525"/>
            <a:ext cx="54981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45"/>
          <p:cNvSpPr txBox="1"/>
          <p:nvPr>
            <p:ph idx="1" type="subTitle"/>
          </p:nvPr>
        </p:nvSpPr>
        <p:spPr>
          <a:xfrm>
            <a:off x="713225" y="2827775"/>
            <a:ext cx="49974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64" name="Google Shape;164;p4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45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47"/>
          <p:cNvSpPr/>
          <p:nvPr/>
        </p:nvSpPr>
        <p:spPr>
          <a:xfrm>
            <a:off x="7750900" y="-2041200"/>
            <a:ext cx="3956400" cy="3956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7"/>
          <p:cNvSpPr/>
          <p:nvPr/>
        </p:nvSpPr>
        <p:spPr>
          <a:xfrm>
            <a:off x="6285450" y="41557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7"/>
          <p:cNvSpPr/>
          <p:nvPr/>
        </p:nvSpPr>
        <p:spPr>
          <a:xfrm>
            <a:off x="-4262250" y="-131125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73" name="Google Shape;173;p47"/>
          <p:cNvGrpSpPr/>
          <p:nvPr/>
        </p:nvGrpSpPr>
        <p:grpSpPr>
          <a:xfrm rot="-5400000">
            <a:off x="230357" y="-37852"/>
            <a:ext cx="320700" cy="645033"/>
            <a:chOff x="8576165" y="1455540"/>
            <a:chExt cx="320700" cy="645033"/>
          </a:xfrm>
        </p:grpSpPr>
        <p:sp>
          <p:nvSpPr>
            <p:cNvPr id="174" name="Google Shape;174;p47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47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" name="Google Shape;176;p47"/>
          <p:cNvGrpSpPr/>
          <p:nvPr/>
        </p:nvGrpSpPr>
        <p:grpSpPr>
          <a:xfrm rot="-5400000">
            <a:off x="8592932" y="4530098"/>
            <a:ext cx="320700" cy="645033"/>
            <a:chOff x="8576165" y="1455540"/>
            <a:chExt cx="320700" cy="645033"/>
          </a:xfrm>
        </p:grpSpPr>
        <p:sp>
          <p:nvSpPr>
            <p:cNvPr id="177" name="Google Shape;177;p47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47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9" name="Google Shape;179;p47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47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8"/>
          <p:cNvSpPr/>
          <p:nvPr/>
        </p:nvSpPr>
        <p:spPr>
          <a:xfrm>
            <a:off x="8177025" y="0"/>
            <a:ext cx="3956400" cy="3956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8"/>
          <p:cNvSpPr/>
          <p:nvPr/>
        </p:nvSpPr>
        <p:spPr>
          <a:xfrm>
            <a:off x="77500" y="46040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8"/>
          <p:cNvSpPr/>
          <p:nvPr/>
        </p:nvSpPr>
        <p:spPr>
          <a:xfrm>
            <a:off x="-4054200" y="-83295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87" name="Google Shape;187;p48"/>
          <p:cNvGrpSpPr/>
          <p:nvPr/>
        </p:nvGrpSpPr>
        <p:grpSpPr>
          <a:xfrm rot="10800000">
            <a:off x="207257" y="445023"/>
            <a:ext cx="320700" cy="645033"/>
            <a:chOff x="8576165" y="1455540"/>
            <a:chExt cx="320700" cy="645033"/>
          </a:xfrm>
        </p:grpSpPr>
        <p:sp>
          <p:nvSpPr>
            <p:cNvPr id="188" name="Google Shape;188;p48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8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48"/>
          <p:cNvGrpSpPr/>
          <p:nvPr/>
        </p:nvGrpSpPr>
        <p:grpSpPr>
          <a:xfrm rot="10800000">
            <a:off x="8616057" y="4074298"/>
            <a:ext cx="320700" cy="645033"/>
            <a:chOff x="8576165" y="1455540"/>
            <a:chExt cx="320700" cy="645033"/>
          </a:xfrm>
        </p:grpSpPr>
        <p:sp>
          <p:nvSpPr>
            <p:cNvPr id="191" name="Google Shape;191;p48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8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93" name="Google Shape;193;p48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8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49"/>
          <p:cNvSpPr/>
          <p:nvPr/>
        </p:nvSpPr>
        <p:spPr>
          <a:xfrm>
            <a:off x="8494525" y="-286600"/>
            <a:ext cx="3956400" cy="3956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9"/>
          <p:cNvSpPr/>
          <p:nvPr/>
        </p:nvSpPr>
        <p:spPr>
          <a:xfrm>
            <a:off x="2157950" y="46802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9"/>
          <p:cNvSpPr/>
          <p:nvPr/>
        </p:nvSpPr>
        <p:spPr>
          <a:xfrm>
            <a:off x="-4195425" y="-1225675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1" name="Google Shape;201;p49"/>
          <p:cNvSpPr/>
          <p:nvPr/>
        </p:nvSpPr>
        <p:spPr>
          <a:xfrm rot="-5400000">
            <a:off x="8620690" y="4701865"/>
            <a:ext cx="320700" cy="320700"/>
          </a:xfrm>
          <a:prstGeom prst="mathMultiply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9"/>
          <p:cNvSpPr/>
          <p:nvPr/>
        </p:nvSpPr>
        <p:spPr>
          <a:xfrm rot="-5400000">
            <a:off x="173565" y="124315"/>
            <a:ext cx="320700" cy="320700"/>
          </a:xfrm>
          <a:prstGeom prst="mathMultiply">
            <a:avLst>
              <a:gd fmla="val 2352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" name="Google Shape;203;p49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49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50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0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0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0"/>
          <p:cNvSpPr txBox="1"/>
          <p:nvPr>
            <p:ph type="title"/>
          </p:nvPr>
        </p:nvSpPr>
        <p:spPr>
          <a:xfrm>
            <a:off x="1065325" y="3487650"/>
            <a:ext cx="2661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1" name="Google Shape;211;p50"/>
          <p:cNvSpPr txBox="1"/>
          <p:nvPr>
            <p:ph idx="1" type="subTitle"/>
          </p:nvPr>
        </p:nvSpPr>
        <p:spPr>
          <a:xfrm>
            <a:off x="1065325" y="1355025"/>
            <a:ext cx="68523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212" name="Google Shape;212;p50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50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51"/>
          <p:cNvSpPr/>
          <p:nvPr/>
        </p:nvSpPr>
        <p:spPr>
          <a:xfrm>
            <a:off x="4175725" y="-24346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1"/>
          <p:cNvSpPr/>
          <p:nvPr/>
        </p:nvSpPr>
        <p:spPr>
          <a:xfrm>
            <a:off x="3937700" y="378675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1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1"/>
          <p:cNvSpPr txBox="1"/>
          <p:nvPr>
            <p:ph type="title"/>
          </p:nvPr>
        </p:nvSpPr>
        <p:spPr>
          <a:xfrm>
            <a:off x="720000" y="1093600"/>
            <a:ext cx="3113100" cy="16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0" name="Google Shape;220;p51"/>
          <p:cNvSpPr txBox="1"/>
          <p:nvPr>
            <p:ph idx="1" type="subTitle"/>
          </p:nvPr>
        </p:nvSpPr>
        <p:spPr>
          <a:xfrm>
            <a:off x="720000" y="3047550"/>
            <a:ext cx="31131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21" name="Google Shape;221;p51"/>
          <p:cNvSpPr/>
          <p:nvPr>
            <p:ph idx="2" type="pic"/>
          </p:nvPr>
        </p:nvSpPr>
        <p:spPr>
          <a:xfrm>
            <a:off x="5031725" y="492300"/>
            <a:ext cx="3399000" cy="417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22" name="Google Shape;222;p51"/>
          <p:cNvGrpSpPr/>
          <p:nvPr/>
        </p:nvGrpSpPr>
        <p:grpSpPr>
          <a:xfrm>
            <a:off x="8595340" y="492290"/>
            <a:ext cx="320700" cy="1293700"/>
            <a:chOff x="8576165" y="1455540"/>
            <a:chExt cx="320700" cy="1293700"/>
          </a:xfrm>
        </p:grpSpPr>
        <p:sp>
          <p:nvSpPr>
            <p:cNvPr id="223" name="Google Shape;223;p51"/>
            <p:cNvSpPr/>
            <p:nvPr/>
          </p:nvSpPr>
          <p:spPr>
            <a:xfrm rot="10800000">
              <a:off x="8576165" y="1455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51"/>
            <p:cNvSpPr/>
            <p:nvPr/>
          </p:nvSpPr>
          <p:spPr>
            <a:xfrm rot="10800000">
              <a:off x="8576165" y="1779873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1"/>
            <p:cNvSpPr/>
            <p:nvPr/>
          </p:nvSpPr>
          <p:spPr>
            <a:xfrm rot="10800000">
              <a:off x="8576165" y="2104207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51"/>
            <p:cNvSpPr/>
            <p:nvPr/>
          </p:nvSpPr>
          <p:spPr>
            <a:xfrm rot="10800000">
              <a:off x="8576165" y="2428540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7" name="Google Shape;227;p51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51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2"/>
          <p:cNvSpPr/>
          <p:nvPr/>
        </p:nvSpPr>
        <p:spPr>
          <a:xfrm>
            <a:off x="6791400" y="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2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2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2"/>
          <p:cNvSpPr txBox="1"/>
          <p:nvPr>
            <p:ph idx="1" type="subTitle"/>
          </p:nvPr>
        </p:nvSpPr>
        <p:spPr>
          <a:xfrm>
            <a:off x="720000" y="1590725"/>
            <a:ext cx="34767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1B4E5"/>
              </a:buClr>
              <a:buSzPts val="1500"/>
              <a:buFont typeface="Barlow"/>
              <a:buAutoNum type="arabicPeriod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rabicPeriod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alphaLcPeriod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mo"/>
              <a:buAutoNum type="romanLcPeriod"/>
              <a:defRPr/>
            </a:lvl9pPr>
          </a:lstStyle>
          <a:p/>
        </p:txBody>
      </p:sp>
      <p:sp>
        <p:nvSpPr>
          <p:cNvPr id="235" name="Google Shape;235;p52"/>
          <p:cNvSpPr/>
          <p:nvPr>
            <p:ph idx="2" type="pic"/>
          </p:nvPr>
        </p:nvSpPr>
        <p:spPr>
          <a:xfrm>
            <a:off x="5031775" y="1281550"/>
            <a:ext cx="3399000" cy="3399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37" name="Google Shape;237;p5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52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3"/>
          <p:cNvSpPr/>
          <p:nvPr/>
        </p:nvSpPr>
        <p:spPr>
          <a:xfrm>
            <a:off x="4790625" y="-39572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3"/>
          <p:cNvSpPr/>
          <p:nvPr/>
        </p:nvSpPr>
        <p:spPr>
          <a:xfrm>
            <a:off x="5499275" y="414197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3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3"/>
          <p:cNvSpPr txBox="1"/>
          <p:nvPr>
            <p:ph type="title"/>
          </p:nvPr>
        </p:nvSpPr>
        <p:spPr>
          <a:xfrm>
            <a:off x="4837200" y="1501200"/>
            <a:ext cx="3593400" cy="10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5" name="Google Shape;245;p53"/>
          <p:cNvSpPr txBox="1"/>
          <p:nvPr>
            <p:ph idx="1" type="subTitle"/>
          </p:nvPr>
        </p:nvSpPr>
        <p:spPr>
          <a:xfrm>
            <a:off x="4837371" y="2562000"/>
            <a:ext cx="35934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246" name="Google Shape;246;p53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53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4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4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4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4"/>
          <p:cNvSpPr txBox="1"/>
          <p:nvPr>
            <p:ph idx="1" type="subTitle"/>
          </p:nvPr>
        </p:nvSpPr>
        <p:spPr>
          <a:xfrm>
            <a:off x="726775" y="1169725"/>
            <a:ext cx="7704000" cy="22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4" name="Google Shape;254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55" name="Google Shape;255;p54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54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55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55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5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5"/>
          <p:cNvSpPr txBox="1"/>
          <p:nvPr>
            <p:ph idx="1" type="subTitle"/>
          </p:nvPr>
        </p:nvSpPr>
        <p:spPr>
          <a:xfrm>
            <a:off x="726775" y="1169725"/>
            <a:ext cx="7704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3" name="Google Shape;263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264" name="Google Shape;264;p55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55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56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6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6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4125"/>
              </a:buClr>
              <a:buSzPts val="3000"/>
              <a:buNone/>
              <a:defRPr>
                <a:solidFill>
                  <a:srgbClr val="CC412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2" name="Google Shape;272;p56"/>
          <p:cNvSpPr txBox="1"/>
          <p:nvPr>
            <p:ph idx="1" type="subTitle"/>
          </p:nvPr>
        </p:nvSpPr>
        <p:spPr>
          <a:xfrm>
            <a:off x="4990775" y="2685025"/>
            <a:ext cx="28389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56"/>
          <p:cNvSpPr txBox="1"/>
          <p:nvPr>
            <p:ph idx="2" type="subTitle"/>
          </p:nvPr>
        </p:nvSpPr>
        <p:spPr>
          <a:xfrm>
            <a:off x="1135100" y="2685025"/>
            <a:ext cx="28389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56"/>
          <p:cNvSpPr txBox="1"/>
          <p:nvPr>
            <p:ph idx="3" type="subTitle"/>
          </p:nvPr>
        </p:nvSpPr>
        <p:spPr>
          <a:xfrm>
            <a:off x="1135101" y="2126125"/>
            <a:ext cx="28389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5" name="Google Shape;275;p56"/>
          <p:cNvSpPr txBox="1"/>
          <p:nvPr>
            <p:ph idx="4" type="subTitle"/>
          </p:nvPr>
        </p:nvSpPr>
        <p:spPr>
          <a:xfrm>
            <a:off x="4990802" y="2126125"/>
            <a:ext cx="28389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57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7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7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rgbClr val="CC4125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2" name="Google Shape;282;p57"/>
          <p:cNvSpPr txBox="1"/>
          <p:nvPr>
            <p:ph idx="1" type="subTitle"/>
          </p:nvPr>
        </p:nvSpPr>
        <p:spPr>
          <a:xfrm>
            <a:off x="1433099" y="1825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57"/>
          <p:cNvSpPr txBox="1"/>
          <p:nvPr>
            <p:ph idx="2" type="subTitle"/>
          </p:nvPr>
        </p:nvSpPr>
        <p:spPr>
          <a:xfrm>
            <a:off x="5613001" y="1825100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57"/>
          <p:cNvSpPr txBox="1"/>
          <p:nvPr>
            <p:ph idx="3" type="subTitle"/>
          </p:nvPr>
        </p:nvSpPr>
        <p:spPr>
          <a:xfrm>
            <a:off x="1433099" y="348567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57"/>
          <p:cNvSpPr txBox="1"/>
          <p:nvPr>
            <p:ph idx="4" type="subTitle"/>
          </p:nvPr>
        </p:nvSpPr>
        <p:spPr>
          <a:xfrm>
            <a:off x="5613001" y="3485675"/>
            <a:ext cx="2811000" cy="9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57"/>
          <p:cNvSpPr txBox="1"/>
          <p:nvPr>
            <p:ph idx="5" type="subTitle"/>
          </p:nvPr>
        </p:nvSpPr>
        <p:spPr>
          <a:xfrm>
            <a:off x="1433099" y="145555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7" name="Google Shape;287;p57"/>
          <p:cNvSpPr txBox="1"/>
          <p:nvPr>
            <p:ph idx="6" type="subTitle"/>
          </p:nvPr>
        </p:nvSpPr>
        <p:spPr>
          <a:xfrm>
            <a:off x="1433099" y="311620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8" name="Google Shape;288;p57"/>
          <p:cNvSpPr txBox="1"/>
          <p:nvPr>
            <p:ph idx="7" type="subTitle"/>
          </p:nvPr>
        </p:nvSpPr>
        <p:spPr>
          <a:xfrm>
            <a:off x="5612974" y="145555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89" name="Google Shape;289;p57"/>
          <p:cNvSpPr txBox="1"/>
          <p:nvPr>
            <p:ph idx="8" type="subTitle"/>
          </p:nvPr>
        </p:nvSpPr>
        <p:spPr>
          <a:xfrm>
            <a:off x="5612974" y="3116200"/>
            <a:ext cx="2811000" cy="3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290" name="Google Shape;290;p57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57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8"/>
          <p:cNvSpPr/>
          <p:nvPr/>
        </p:nvSpPr>
        <p:spPr>
          <a:xfrm>
            <a:off x="5151725" y="-37034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8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8"/>
          <p:cNvSpPr/>
          <p:nvPr/>
        </p:nvSpPr>
        <p:spPr>
          <a:xfrm>
            <a:off x="-3877825" y="-306775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8"/>
          <p:cNvSpPr txBox="1"/>
          <p:nvPr>
            <p:ph type="title"/>
          </p:nvPr>
        </p:nvSpPr>
        <p:spPr>
          <a:xfrm>
            <a:off x="2391100" y="552100"/>
            <a:ext cx="43617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58"/>
          <p:cNvSpPr txBox="1"/>
          <p:nvPr>
            <p:ph idx="1" type="subTitle"/>
          </p:nvPr>
        </p:nvSpPr>
        <p:spPr>
          <a:xfrm>
            <a:off x="2391100" y="1288069"/>
            <a:ext cx="4361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99" name="Google Shape;299;p58"/>
          <p:cNvSpPr txBox="1"/>
          <p:nvPr>
            <p:ph idx="2" type="title"/>
          </p:nvPr>
        </p:nvSpPr>
        <p:spPr>
          <a:xfrm>
            <a:off x="2391100" y="1904364"/>
            <a:ext cx="43617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58"/>
          <p:cNvSpPr txBox="1"/>
          <p:nvPr>
            <p:ph idx="3" type="subTitle"/>
          </p:nvPr>
        </p:nvSpPr>
        <p:spPr>
          <a:xfrm>
            <a:off x="2391100" y="2640333"/>
            <a:ext cx="4361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01" name="Google Shape;301;p58"/>
          <p:cNvSpPr txBox="1"/>
          <p:nvPr>
            <p:ph idx="4" type="title"/>
          </p:nvPr>
        </p:nvSpPr>
        <p:spPr>
          <a:xfrm>
            <a:off x="2391100" y="3256628"/>
            <a:ext cx="43617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58"/>
          <p:cNvSpPr txBox="1"/>
          <p:nvPr>
            <p:ph idx="5" type="subTitle"/>
          </p:nvPr>
        </p:nvSpPr>
        <p:spPr>
          <a:xfrm>
            <a:off x="2391100" y="3992598"/>
            <a:ext cx="4361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cxnSp>
        <p:nvCxnSpPr>
          <p:cNvPr id="303" name="Google Shape;303;p58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58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59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9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9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9"/>
          <p:cNvSpPr txBox="1"/>
          <p:nvPr>
            <p:ph type="title"/>
          </p:nvPr>
        </p:nvSpPr>
        <p:spPr>
          <a:xfrm>
            <a:off x="938500" y="1831700"/>
            <a:ext cx="1580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59"/>
          <p:cNvSpPr txBox="1"/>
          <p:nvPr>
            <p:ph idx="1" type="subTitle"/>
          </p:nvPr>
        </p:nvSpPr>
        <p:spPr>
          <a:xfrm>
            <a:off x="938500" y="3552975"/>
            <a:ext cx="217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12" name="Google Shape;312;p59"/>
          <p:cNvSpPr txBox="1"/>
          <p:nvPr>
            <p:ph idx="2" type="subTitle"/>
          </p:nvPr>
        </p:nvSpPr>
        <p:spPr>
          <a:xfrm>
            <a:off x="938500" y="3055950"/>
            <a:ext cx="2173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3" name="Google Shape;313;p59"/>
          <p:cNvSpPr txBox="1"/>
          <p:nvPr>
            <p:ph idx="3" type="title"/>
          </p:nvPr>
        </p:nvSpPr>
        <p:spPr>
          <a:xfrm>
            <a:off x="3485350" y="1831700"/>
            <a:ext cx="1580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59"/>
          <p:cNvSpPr txBox="1"/>
          <p:nvPr>
            <p:ph idx="4" type="subTitle"/>
          </p:nvPr>
        </p:nvSpPr>
        <p:spPr>
          <a:xfrm>
            <a:off x="3485400" y="3552975"/>
            <a:ext cx="217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15" name="Google Shape;315;p59"/>
          <p:cNvSpPr txBox="1"/>
          <p:nvPr>
            <p:ph idx="5" type="subTitle"/>
          </p:nvPr>
        </p:nvSpPr>
        <p:spPr>
          <a:xfrm>
            <a:off x="3485400" y="3055950"/>
            <a:ext cx="2173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6" name="Google Shape;316;p59"/>
          <p:cNvSpPr txBox="1"/>
          <p:nvPr>
            <p:ph idx="6" type="title"/>
          </p:nvPr>
        </p:nvSpPr>
        <p:spPr>
          <a:xfrm>
            <a:off x="6029925" y="1831700"/>
            <a:ext cx="15804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59"/>
          <p:cNvSpPr txBox="1"/>
          <p:nvPr>
            <p:ph idx="7" type="subTitle"/>
          </p:nvPr>
        </p:nvSpPr>
        <p:spPr>
          <a:xfrm>
            <a:off x="6032300" y="3552975"/>
            <a:ext cx="21732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18" name="Google Shape;318;p59"/>
          <p:cNvSpPr txBox="1"/>
          <p:nvPr>
            <p:ph idx="8" type="subTitle"/>
          </p:nvPr>
        </p:nvSpPr>
        <p:spPr>
          <a:xfrm>
            <a:off x="6032300" y="3055950"/>
            <a:ext cx="21732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19" name="Google Shape;319;p59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20" name="Google Shape;320;p59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59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8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60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60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60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0"/>
          <p:cNvSpPr txBox="1"/>
          <p:nvPr>
            <p:ph type="title"/>
          </p:nvPr>
        </p:nvSpPr>
        <p:spPr>
          <a:xfrm>
            <a:off x="1319500" y="1711275"/>
            <a:ext cx="191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60"/>
          <p:cNvSpPr txBox="1"/>
          <p:nvPr>
            <p:ph idx="1" type="subTitle"/>
          </p:nvPr>
        </p:nvSpPr>
        <p:spPr>
          <a:xfrm>
            <a:off x="5368246" y="1193175"/>
            <a:ext cx="26937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29" name="Google Shape;329;p60"/>
          <p:cNvSpPr txBox="1"/>
          <p:nvPr>
            <p:ph idx="2" type="subTitle"/>
          </p:nvPr>
        </p:nvSpPr>
        <p:spPr>
          <a:xfrm>
            <a:off x="1319500" y="1193175"/>
            <a:ext cx="19176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0" name="Google Shape;330;p60"/>
          <p:cNvSpPr txBox="1"/>
          <p:nvPr>
            <p:ph idx="3" type="title"/>
          </p:nvPr>
        </p:nvSpPr>
        <p:spPr>
          <a:xfrm>
            <a:off x="1319500" y="3531500"/>
            <a:ext cx="1917600" cy="6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60"/>
          <p:cNvSpPr txBox="1"/>
          <p:nvPr>
            <p:ph idx="4" type="subTitle"/>
          </p:nvPr>
        </p:nvSpPr>
        <p:spPr>
          <a:xfrm>
            <a:off x="5368246" y="3012800"/>
            <a:ext cx="26937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32" name="Google Shape;332;p60"/>
          <p:cNvSpPr txBox="1"/>
          <p:nvPr>
            <p:ph idx="5" type="subTitle"/>
          </p:nvPr>
        </p:nvSpPr>
        <p:spPr>
          <a:xfrm>
            <a:off x="1319494" y="3013400"/>
            <a:ext cx="19176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33" name="Google Shape;333;p60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cxnSp>
        <p:nvCxnSpPr>
          <p:cNvPr id="334" name="Google Shape;334;p60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60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6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61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61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61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1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2" name="Google Shape;342;p61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61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This presentation template was created by </a:t>
            </a:r>
            <a:r>
              <a:rPr b="1" i="0" lang="en" sz="11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Slidesgo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b="1" i="0" lang="en" sz="11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b="1" i="0" lang="en" sz="11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1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i="0" sz="1100" u="sng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344" name="Google Shape;344;p61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61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62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2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2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62"/>
          <p:cNvGrpSpPr/>
          <p:nvPr/>
        </p:nvGrpSpPr>
        <p:grpSpPr>
          <a:xfrm rot="5400000">
            <a:off x="1033915" y="-253710"/>
            <a:ext cx="320700" cy="962100"/>
            <a:chOff x="173565" y="124315"/>
            <a:chExt cx="320700" cy="962100"/>
          </a:xfrm>
        </p:grpSpPr>
        <p:sp>
          <p:nvSpPr>
            <p:cNvPr id="352" name="Google Shape;352;p62"/>
            <p:cNvSpPr/>
            <p:nvPr/>
          </p:nvSpPr>
          <p:spPr>
            <a:xfrm rot="-5400000">
              <a:off x="173565" y="1243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62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62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62"/>
          <p:cNvGrpSpPr/>
          <p:nvPr/>
        </p:nvGrpSpPr>
        <p:grpSpPr>
          <a:xfrm rot="5400000">
            <a:off x="7792240" y="4437065"/>
            <a:ext cx="320700" cy="962100"/>
            <a:chOff x="173565" y="124315"/>
            <a:chExt cx="320700" cy="962100"/>
          </a:xfrm>
        </p:grpSpPr>
        <p:sp>
          <p:nvSpPr>
            <p:cNvPr id="356" name="Google Shape;356;p62"/>
            <p:cNvSpPr/>
            <p:nvPr/>
          </p:nvSpPr>
          <p:spPr>
            <a:xfrm rot="-5400000">
              <a:off x="173565" y="1243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62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62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59" name="Google Shape;359;p62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62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63"/>
          <p:cNvSpPr/>
          <p:nvPr/>
        </p:nvSpPr>
        <p:spPr>
          <a:xfrm>
            <a:off x="7035400" y="-2756700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3"/>
          <p:cNvSpPr/>
          <p:nvPr/>
        </p:nvSpPr>
        <p:spPr>
          <a:xfrm>
            <a:off x="511950" y="4005325"/>
            <a:ext cx="5387400" cy="53874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63"/>
          <p:cNvSpPr/>
          <p:nvPr/>
        </p:nvSpPr>
        <p:spPr>
          <a:xfrm>
            <a:off x="-3780225" y="-2395400"/>
            <a:ext cx="4774200" cy="4774200"/>
          </a:xfrm>
          <a:prstGeom prst="ellipse">
            <a:avLst/>
          </a:prstGeom>
          <a:gradFill>
            <a:gsLst>
              <a:gs pos="0">
                <a:schemeClr val="dk1"/>
              </a:gs>
              <a:gs pos="6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" name="Google Shape;366;p63"/>
          <p:cNvGrpSpPr/>
          <p:nvPr/>
        </p:nvGrpSpPr>
        <p:grpSpPr>
          <a:xfrm rot="5400000">
            <a:off x="873565" y="-93360"/>
            <a:ext cx="320700" cy="641400"/>
            <a:chOff x="173565" y="445015"/>
            <a:chExt cx="320700" cy="641400"/>
          </a:xfrm>
        </p:grpSpPr>
        <p:sp>
          <p:nvSpPr>
            <p:cNvPr id="367" name="Google Shape;367;p63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63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63"/>
          <p:cNvGrpSpPr/>
          <p:nvPr/>
        </p:nvGrpSpPr>
        <p:grpSpPr>
          <a:xfrm rot="5400000">
            <a:off x="873565" y="4597415"/>
            <a:ext cx="320700" cy="641400"/>
            <a:chOff x="173565" y="445015"/>
            <a:chExt cx="320700" cy="641400"/>
          </a:xfrm>
        </p:grpSpPr>
        <p:sp>
          <p:nvSpPr>
            <p:cNvPr id="370" name="Google Shape;370;p63"/>
            <p:cNvSpPr/>
            <p:nvPr/>
          </p:nvSpPr>
          <p:spPr>
            <a:xfrm rot="-5400000">
              <a:off x="173565" y="4450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63"/>
            <p:cNvSpPr/>
            <p:nvPr/>
          </p:nvSpPr>
          <p:spPr>
            <a:xfrm rot="-5400000">
              <a:off x="173565" y="765715"/>
              <a:ext cx="320700" cy="320700"/>
            </a:xfrm>
            <a:prstGeom prst="mathMultiply">
              <a:avLst>
                <a:gd fmla="val 23520" name="adj1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72" name="Google Shape;372;p63"/>
          <p:cNvCxnSpPr/>
          <p:nvPr/>
        </p:nvCxnSpPr>
        <p:spPr>
          <a:xfrm>
            <a:off x="704450" y="479425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63"/>
          <p:cNvCxnSpPr/>
          <p:nvPr/>
        </p:nvCxnSpPr>
        <p:spPr>
          <a:xfrm>
            <a:off x="704450" y="4680200"/>
            <a:ext cx="7729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"/>
              <a:buNone/>
              <a:defRPr b="1" i="0" sz="30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layfair Display"/>
              <a:buNone/>
              <a:defRPr b="1" i="0" sz="3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www.opensend.com/post/order-cancellation-rate-statistics" TargetMode="External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hyperlink" Target="https://public.tableau.com/app/profile/afrizal.makatita/viz/DEEP_Dahsboard1/Dashboard1?publish=ye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19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hyperlink" Target="https://colab.research.google.com/drive/10X53N4BF9qlOSX3jsvKni3KwEyWV5ArI#scrollTo=Yn5v6I4-Rlx2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55504fcf8_0_45"/>
          <p:cNvSpPr txBox="1"/>
          <p:nvPr/>
        </p:nvSpPr>
        <p:spPr>
          <a:xfrm>
            <a:off x="703350" y="1884904"/>
            <a:ext cx="2170200" cy="1487400"/>
          </a:xfrm>
          <a:prstGeom prst="rect">
            <a:avLst/>
          </a:prstGeom>
          <a:solidFill>
            <a:schemeClr val="dk1"/>
          </a:solidFill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</a:t>
            </a:r>
            <a:endParaRPr b="1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0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Shopee Thailand experiences </a:t>
            </a:r>
            <a:r>
              <a:rPr b="1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20% Revenue Loss due to Cancelation</a:t>
            </a:r>
            <a:r>
              <a:rPr b="0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with value excess </a:t>
            </a:r>
            <a:r>
              <a:rPr b="1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฿800 Million</a:t>
            </a:r>
            <a:r>
              <a:rPr b="0" i="0" lang="en" sz="96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in the past 3 years</a:t>
            </a:r>
            <a:endParaRPr b="0" i="0" sz="96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9" name="Google Shape;379;g3f55504fcf8_0_45"/>
          <p:cNvSpPr txBox="1"/>
          <p:nvPr/>
        </p:nvSpPr>
        <p:spPr>
          <a:xfrm>
            <a:off x="703350" y="3372438"/>
            <a:ext cx="2170200" cy="1487400"/>
          </a:xfrm>
          <a:prstGeom prst="rect">
            <a:avLst/>
          </a:prstGeom>
          <a:noFill/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Findings</a:t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Cancellation value is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not evenly distributed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—it is heavily concentrated among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high-volume transactions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the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20–40 customer segment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core product categories like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Home and Electronics.</a:t>
            </a:r>
            <a:endParaRPr b="1" i="0" sz="96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0" name="Google Shape;380;g3f55504fcf8_0_45"/>
          <p:cNvSpPr txBox="1"/>
          <p:nvPr/>
        </p:nvSpPr>
        <p:spPr>
          <a:xfrm>
            <a:off x="2873606" y="1884916"/>
            <a:ext cx="2170200" cy="1487400"/>
          </a:xfrm>
          <a:prstGeom prst="rect">
            <a:avLst/>
          </a:prstGeom>
          <a:noFill/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1" i="0" lang="en" sz="128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Objective</a:t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1" i="0" sz="128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Analyze Trends and patterns to find the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best method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to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decrease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loss due to cancellations to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10%</a:t>
            </a:r>
            <a:r>
              <a:rPr b="0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by </a:t>
            </a:r>
            <a:r>
              <a:rPr b="1" i="0" lang="en" sz="96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2028</a:t>
            </a:r>
            <a:endParaRPr b="1" i="0" sz="96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1" name="Google Shape;381;g3f55504fcf8_0_45"/>
          <p:cNvSpPr txBox="1"/>
          <p:nvPr/>
        </p:nvSpPr>
        <p:spPr>
          <a:xfrm>
            <a:off x="2873606" y="3372448"/>
            <a:ext cx="2170200" cy="1487400"/>
          </a:xfrm>
          <a:prstGeom prst="rect">
            <a:avLst/>
          </a:prstGeom>
          <a:solidFill>
            <a:schemeClr val="dk1"/>
          </a:solidFill>
          <a:ln cap="flat" cmpd="sng" w="109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7500" lIns="97500" spcFirstLastPara="1" rIns="97500" wrap="square" tIns="97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rPr b="0" i="0" lang="en" sz="128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Recommendation</a:t>
            </a:r>
            <a:endParaRPr b="0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0"/>
              <a:buFont typeface="Arial"/>
              <a:buNone/>
            </a:pPr>
            <a:r>
              <a:t/>
            </a:r>
            <a:endParaRPr b="0" i="0" sz="128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0" i="0" lang="en" sz="1067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Suppressive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High-Density Sales </a:t>
            </a:r>
            <a:r>
              <a:rPr b="1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Interventions</a:t>
            </a:r>
            <a:b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0" i="0" lang="en" sz="1067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Preventive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</a:t>
            </a:r>
            <a:r>
              <a:rPr b="1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Deploy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Value-Based Retaining Triggers</a:t>
            </a:r>
            <a:endParaRPr b="0" i="0" sz="1067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67"/>
              <a:buFont typeface="Arial"/>
              <a:buNone/>
            </a:pPr>
            <a:r>
              <a:rPr b="0" i="0" lang="en" sz="1067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Preservative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</a:t>
            </a:r>
            <a:r>
              <a:rPr b="1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Standardize</a:t>
            </a:r>
            <a:r>
              <a:rPr b="0" i="0" lang="en" sz="1067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Cancellation Monitoring</a:t>
            </a:r>
            <a:endParaRPr b="0" i="0" sz="1067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82" name="Google Shape;382;g3f55504fcf8_0_45"/>
          <p:cNvSpPr txBox="1"/>
          <p:nvPr>
            <p:ph type="title"/>
          </p:nvPr>
        </p:nvSpPr>
        <p:spPr>
          <a:xfrm>
            <a:off x="703350" y="198625"/>
            <a:ext cx="77373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44"/>
              <a:t>Project Summary</a:t>
            </a:r>
            <a:endParaRPr sz="2044"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sp>
        <p:nvSpPr>
          <p:cNvPr id="383" name="Google Shape;383;g3f55504fcf8_0_45"/>
          <p:cNvSpPr txBox="1"/>
          <p:nvPr/>
        </p:nvSpPr>
        <p:spPr>
          <a:xfrm>
            <a:off x="733424" y="850850"/>
            <a:ext cx="4231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Title : Shopee Thailand Sales Performance</a:t>
            </a:r>
            <a:endParaRPr b="1" sz="1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84" name="Google Shape;384;g3f55504fcf8_0_45"/>
          <p:cNvSpPr txBox="1"/>
          <p:nvPr/>
        </p:nvSpPr>
        <p:spPr>
          <a:xfrm>
            <a:off x="733424" y="1184139"/>
            <a:ext cx="4231500" cy="29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Scope</a:t>
            </a:r>
            <a:r>
              <a:rPr lang="en" sz="13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: Cancelation Loss</a:t>
            </a:r>
            <a:endParaRPr sz="1300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85" name="Google Shape;385;g3f55504fcf8_0_45"/>
          <p:cNvSpPr txBox="1"/>
          <p:nvPr/>
        </p:nvSpPr>
        <p:spPr>
          <a:xfrm>
            <a:off x="733424" y="1517428"/>
            <a:ext cx="4231500" cy="299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Skills</a:t>
            </a:r>
            <a:r>
              <a:rPr lang="en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: Python, Tableau, Business Acumen, Data Preparation, EDA, Correlation, </a:t>
            </a:r>
            <a:r>
              <a:rPr lang="en" sz="1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Pareto</a:t>
            </a:r>
            <a:endParaRPr sz="10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386" name="Google Shape;386;g3f55504fcf8_0_45" title="[Portofolio]DEEP Project Final.ppt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0" y="850850"/>
            <a:ext cx="3297151" cy="1918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7" name="Google Shape;387;g3f55504fcf8_0_45" title="[Portofolio]DEEP Project Final.pptx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2897525"/>
            <a:ext cx="3297151" cy="19188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"/>
          <p:cNvSpPr txBox="1"/>
          <p:nvPr>
            <p:ph type="ctrTitle"/>
          </p:nvPr>
        </p:nvSpPr>
        <p:spPr>
          <a:xfrm>
            <a:off x="671788" y="1248284"/>
            <a:ext cx="63636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500"/>
              <a:t>Shopee </a:t>
            </a:r>
            <a:r>
              <a:rPr lang="en" sz="5500">
                <a:solidFill>
                  <a:schemeClr val="dk2"/>
                </a:solidFill>
                <a:highlight>
                  <a:schemeClr val="dk1"/>
                </a:highlight>
              </a:rPr>
              <a:t>Thailand</a:t>
            </a:r>
            <a:r>
              <a:rPr lang="en" sz="5500"/>
              <a:t> Sales Performance</a:t>
            </a:r>
            <a:endParaRPr sz="5500"/>
          </a:p>
        </p:txBody>
      </p:sp>
      <p:sp>
        <p:nvSpPr>
          <p:cNvPr id="393" name="Google Shape;393;p1"/>
          <p:cNvSpPr txBox="1"/>
          <p:nvPr>
            <p:ph idx="1" type="subTitle"/>
          </p:nvPr>
        </p:nvSpPr>
        <p:spPr>
          <a:xfrm>
            <a:off x="823800" y="3308530"/>
            <a:ext cx="42570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>
                <a:solidFill>
                  <a:srgbClr val="CC4125"/>
                </a:solidFill>
              </a:rPr>
              <a:t>Name : Afrizal Anshari Makatita</a:t>
            </a:r>
            <a:endParaRPr>
              <a:solidFill>
                <a:srgbClr val="CC412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>
              <a:solidFill>
                <a:srgbClr val="CC4125"/>
              </a:solidFill>
            </a:endParaRPr>
          </a:p>
        </p:txBody>
      </p:sp>
      <p:pic>
        <p:nvPicPr>
          <p:cNvPr id="394" name="Google Shape;394;p1" title="1727674497_shopee-logo-p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800" y="644500"/>
            <a:ext cx="603750" cy="6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400" name="Google Shape;400;p2"/>
          <p:cNvSpPr txBox="1"/>
          <p:nvPr>
            <p:ph idx="1" type="subTitle"/>
          </p:nvPr>
        </p:nvSpPr>
        <p:spPr>
          <a:xfrm>
            <a:off x="2030025" y="1679149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Executive Summary</a:t>
            </a:r>
            <a:endParaRPr sz="1500"/>
          </a:p>
        </p:txBody>
      </p:sp>
      <p:sp>
        <p:nvSpPr>
          <p:cNvPr id="401" name="Google Shape;401;p2"/>
          <p:cNvSpPr txBox="1"/>
          <p:nvPr>
            <p:ph idx="5" type="subTitle"/>
          </p:nvPr>
        </p:nvSpPr>
        <p:spPr>
          <a:xfrm>
            <a:off x="2030029" y="2134624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Project Background</a:t>
            </a:r>
            <a:endParaRPr sz="1500"/>
          </a:p>
        </p:txBody>
      </p:sp>
      <p:sp>
        <p:nvSpPr>
          <p:cNvPr id="402" name="Google Shape;402;p2"/>
          <p:cNvSpPr txBox="1"/>
          <p:nvPr>
            <p:ph idx="6" type="subTitle"/>
          </p:nvPr>
        </p:nvSpPr>
        <p:spPr>
          <a:xfrm>
            <a:off x="2030032" y="2590099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Business Problem</a:t>
            </a:r>
            <a:endParaRPr sz="1500"/>
          </a:p>
        </p:txBody>
      </p:sp>
      <p:sp>
        <p:nvSpPr>
          <p:cNvPr id="403" name="Google Shape;403;p2"/>
          <p:cNvSpPr txBox="1"/>
          <p:nvPr>
            <p:ph idx="1" type="subTitle"/>
          </p:nvPr>
        </p:nvSpPr>
        <p:spPr>
          <a:xfrm>
            <a:off x="2030025" y="3045574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Methodology</a:t>
            </a:r>
            <a:endParaRPr sz="1500"/>
          </a:p>
        </p:txBody>
      </p:sp>
      <p:sp>
        <p:nvSpPr>
          <p:cNvPr id="404" name="Google Shape;404;p2"/>
          <p:cNvSpPr txBox="1"/>
          <p:nvPr>
            <p:ph idx="1" type="subTitle"/>
          </p:nvPr>
        </p:nvSpPr>
        <p:spPr>
          <a:xfrm>
            <a:off x="4808475" y="1679149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Analysis Result</a:t>
            </a:r>
            <a:endParaRPr sz="1500"/>
          </a:p>
        </p:txBody>
      </p:sp>
      <p:sp>
        <p:nvSpPr>
          <p:cNvPr id="405" name="Google Shape;405;p2"/>
          <p:cNvSpPr txBox="1"/>
          <p:nvPr>
            <p:ph idx="1" type="subTitle"/>
          </p:nvPr>
        </p:nvSpPr>
        <p:spPr>
          <a:xfrm>
            <a:off x="4808475" y="2590099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Tableau Dashboard</a:t>
            </a:r>
            <a:endParaRPr sz="1500"/>
          </a:p>
        </p:txBody>
      </p:sp>
      <p:sp>
        <p:nvSpPr>
          <p:cNvPr id="406" name="Google Shape;406;p2"/>
          <p:cNvSpPr txBox="1"/>
          <p:nvPr>
            <p:ph idx="1" type="subTitle"/>
          </p:nvPr>
        </p:nvSpPr>
        <p:spPr>
          <a:xfrm>
            <a:off x="4808475" y="2134624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Recommendation</a:t>
            </a:r>
            <a:endParaRPr sz="1500"/>
          </a:p>
        </p:txBody>
      </p:sp>
      <p:sp>
        <p:nvSpPr>
          <p:cNvPr id="407" name="Google Shape;407;p2"/>
          <p:cNvSpPr txBox="1"/>
          <p:nvPr>
            <p:ph idx="1" type="subTitle"/>
          </p:nvPr>
        </p:nvSpPr>
        <p:spPr>
          <a:xfrm>
            <a:off x="4808475" y="3045574"/>
            <a:ext cx="2305500" cy="4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500"/>
              <a:t>Appendix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3"/>
          <p:cNvGrpSpPr/>
          <p:nvPr/>
        </p:nvGrpSpPr>
        <p:grpSpPr>
          <a:xfrm>
            <a:off x="2979624" y="1651988"/>
            <a:ext cx="3184436" cy="2315563"/>
            <a:chOff x="2855505" y="1323607"/>
            <a:chExt cx="3432984" cy="2496295"/>
          </a:xfrm>
        </p:grpSpPr>
        <p:grpSp>
          <p:nvGrpSpPr>
            <p:cNvPr id="413" name="Google Shape;413;p3"/>
            <p:cNvGrpSpPr/>
            <p:nvPr/>
          </p:nvGrpSpPr>
          <p:grpSpPr>
            <a:xfrm>
              <a:off x="2855505" y="1323607"/>
              <a:ext cx="3432984" cy="2496295"/>
              <a:chOff x="331763" y="414153"/>
              <a:chExt cx="6903246" cy="5019697"/>
            </a:xfrm>
          </p:grpSpPr>
          <p:sp>
            <p:nvSpPr>
              <p:cNvPr id="414" name="Google Shape;414;p3"/>
              <p:cNvSpPr/>
              <p:nvPr/>
            </p:nvSpPr>
            <p:spPr>
              <a:xfrm>
                <a:off x="2953125" y="4725150"/>
                <a:ext cx="1660725" cy="708700"/>
              </a:xfrm>
              <a:custGeom>
                <a:rect b="b" l="l" r="r" t="t"/>
                <a:pathLst>
                  <a:path extrusionOk="0" h="28348" w="66429">
                    <a:moveTo>
                      <a:pt x="6889" y="1"/>
                    </a:moveTo>
                    <a:lnTo>
                      <a:pt x="1" y="28347"/>
                    </a:lnTo>
                    <a:lnTo>
                      <a:pt x="66429" y="28347"/>
                    </a:lnTo>
                    <a:lnTo>
                      <a:pt x="59475" y="1"/>
                    </a:lnTo>
                    <a:lnTo>
                      <a:pt x="33182" y="464"/>
                    </a:lnTo>
                    <a:lnTo>
                      <a:pt x="6889" y="1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800" lIns="84800" spcFirstLastPara="1" rIns="84800" wrap="square" tIns="84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9"/>
                  <a:buFont typeface="Arial"/>
                  <a:buNone/>
                </a:pPr>
                <a:r>
                  <a:t/>
                </a:r>
                <a:endParaRPr b="0" i="0" sz="1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3"/>
              <p:cNvSpPr/>
              <p:nvPr/>
            </p:nvSpPr>
            <p:spPr>
              <a:xfrm>
                <a:off x="331763" y="414153"/>
                <a:ext cx="6903246" cy="4353879"/>
              </a:xfrm>
              <a:custGeom>
                <a:rect b="b" l="l" r="r" t="t"/>
                <a:pathLst>
                  <a:path extrusionOk="0" h="181204" w="248162">
                    <a:moveTo>
                      <a:pt x="4636" y="0"/>
                    </a:moveTo>
                    <a:cubicBezTo>
                      <a:pt x="2053" y="0"/>
                      <a:pt x="0" y="2053"/>
                      <a:pt x="0" y="4636"/>
                    </a:cubicBezTo>
                    <a:lnTo>
                      <a:pt x="0" y="176634"/>
                    </a:lnTo>
                    <a:cubicBezTo>
                      <a:pt x="0" y="179151"/>
                      <a:pt x="2053" y="181204"/>
                      <a:pt x="4636" y="181204"/>
                    </a:cubicBezTo>
                    <a:lnTo>
                      <a:pt x="243526" y="181204"/>
                    </a:lnTo>
                    <a:cubicBezTo>
                      <a:pt x="246109" y="181204"/>
                      <a:pt x="248162" y="179151"/>
                      <a:pt x="248162" y="176634"/>
                    </a:cubicBezTo>
                    <a:lnTo>
                      <a:pt x="248162" y="4636"/>
                    </a:lnTo>
                    <a:cubicBezTo>
                      <a:pt x="248162" y="2053"/>
                      <a:pt x="246109" y="0"/>
                      <a:pt x="2435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800" lIns="84800" spcFirstLastPara="1" rIns="84800" wrap="square" tIns="84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99"/>
                  <a:buFont typeface="Arial"/>
                  <a:buNone/>
                </a:pPr>
                <a:r>
                  <a:t/>
                </a:r>
                <a:endParaRPr b="0" i="0" sz="12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3"/>
              <p:cNvSpPr/>
              <p:nvPr/>
            </p:nvSpPr>
            <p:spPr>
              <a:xfrm>
                <a:off x="2772650" y="5206975"/>
                <a:ext cx="2020025" cy="226875"/>
              </a:xfrm>
              <a:custGeom>
                <a:rect b="b" l="l" r="r" t="t"/>
                <a:pathLst>
                  <a:path extrusionOk="0" h="9075" w="80801">
                    <a:moveTo>
                      <a:pt x="4571" y="1"/>
                    </a:moveTo>
                    <a:cubicBezTo>
                      <a:pt x="2054" y="1"/>
                      <a:pt x="1" y="2054"/>
                      <a:pt x="1" y="4570"/>
                    </a:cubicBezTo>
                    <a:cubicBezTo>
                      <a:pt x="1" y="7021"/>
                      <a:pt x="2054" y="9074"/>
                      <a:pt x="4571" y="9074"/>
                    </a:cubicBezTo>
                    <a:lnTo>
                      <a:pt x="76297" y="9074"/>
                    </a:lnTo>
                    <a:cubicBezTo>
                      <a:pt x="78814" y="9074"/>
                      <a:pt x="80801" y="7021"/>
                      <a:pt x="80801" y="4570"/>
                    </a:cubicBezTo>
                    <a:cubicBezTo>
                      <a:pt x="80801" y="2054"/>
                      <a:pt x="78814" y="1"/>
                      <a:pt x="762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4800" lIns="84800" spcFirstLastPara="1" rIns="84800" wrap="square" tIns="848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" name="Google Shape;417;p3"/>
            <p:cNvSpPr txBox="1"/>
            <p:nvPr/>
          </p:nvSpPr>
          <p:spPr>
            <a:xfrm>
              <a:off x="2944800" y="1445325"/>
              <a:ext cx="3254400" cy="1930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84800" lIns="84800" spcFirstLastPara="1" rIns="84800" wrap="square" tIns="8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13"/>
                <a:buFont typeface="Arial"/>
                <a:buNone/>
              </a:pPr>
              <a:r>
                <a:t/>
              </a:r>
              <a:endParaRPr b="0" i="0" sz="1113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418" name="Google Shape;418;p3"/>
          <p:cNvSpPr txBox="1"/>
          <p:nvPr/>
        </p:nvSpPr>
        <p:spPr>
          <a:xfrm>
            <a:off x="3067533" y="1769797"/>
            <a:ext cx="1504500" cy="895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0" i="0" sz="1113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19" name="Google Shape;419;p3"/>
          <p:cNvGrpSpPr/>
          <p:nvPr/>
        </p:nvGrpSpPr>
        <p:grpSpPr>
          <a:xfrm>
            <a:off x="3496983" y="1911731"/>
            <a:ext cx="645614" cy="635423"/>
            <a:chOff x="683125" y="1955275"/>
            <a:chExt cx="299325" cy="294600"/>
          </a:xfrm>
        </p:grpSpPr>
        <p:sp>
          <p:nvSpPr>
            <p:cNvPr id="420" name="Google Shape;420;p3"/>
            <p:cNvSpPr/>
            <p:nvPr/>
          </p:nvSpPr>
          <p:spPr>
            <a:xfrm>
              <a:off x="876875" y="1989925"/>
              <a:ext cx="52800" cy="63825"/>
            </a:xfrm>
            <a:custGeom>
              <a:rect b="b" l="l" r="r" t="t"/>
              <a:pathLst>
                <a:path extrusionOk="0" h="2553" w="2112">
                  <a:moveTo>
                    <a:pt x="1072" y="0"/>
                  </a:moveTo>
                  <a:cubicBezTo>
                    <a:pt x="473" y="0"/>
                    <a:pt x="64" y="473"/>
                    <a:pt x="64" y="1009"/>
                  </a:cubicBezTo>
                  <a:cubicBezTo>
                    <a:pt x="1" y="1229"/>
                    <a:pt x="158" y="1324"/>
                    <a:pt x="379" y="1324"/>
                  </a:cubicBezTo>
                  <a:cubicBezTo>
                    <a:pt x="568" y="1324"/>
                    <a:pt x="725" y="1166"/>
                    <a:pt x="725" y="977"/>
                  </a:cubicBezTo>
                  <a:cubicBezTo>
                    <a:pt x="725" y="788"/>
                    <a:pt x="883" y="631"/>
                    <a:pt x="1072" y="631"/>
                  </a:cubicBezTo>
                  <a:cubicBezTo>
                    <a:pt x="1261" y="631"/>
                    <a:pt x="1418" y="788"/>
                    <a:pt x="1418" y="977"/>
                  </a:cubicBezTo>
                  <a:cubicBezTo>
                    <a:pt x="1418" y="1103"/>
                    <a:pt x="1355" y="1198"/>
                    <a:pt x="1229" y="1292"/>
                  </a:cubicBezTo>
                  <a:cubicBezTo>
                    <a:pt x="914" y="1450"/>
                    <a:pt x="725" y="1796"/>
                    <a:pt x="725" y="2206"/>
                  </a:cubicBezTo>
                  <a:cubicBezTo>
                    <a:pt x="725" y="2395"/>
                    <a:pt x="883" y="2552"/>
                    <a:pt x="1072" y="2552"/>
                  </a:cubicBezTo>
                  <a:cubicBezTo>
                    <a:pt x="1261" y="2552"/>
                    <a:pt x="1418" y="2395"/>
                    <a:pt x="1418" y="2206"/>
                  </a:cubicBezTo>
                  <a:cubicBezTo>
                    <a:pt x="1418" y="2080"/>
                    <a:pt x="1481" y="1954"/>
                    <a:pt x="1544" y="1922"/>
                  </a:cubicBezTo>
                  <a:cubicBezTo>
                    <a:pt x="1891" y="1733"/>
                    <a:pt x="2111" y="1355"/>
                    <a:pt x="2111" y="1009"/>
                  </a:cubicBezTo>
                  <a:cubicBezTo>
                    <a:pt x="2111" y="410"/>
                    <a:pt x="1639" y="0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125" lIns="167125" spcFirstLastPara="1" rIns="167125" wrap="square" tIns="16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683125" y="2058450"/>
              <a:ext cx="159900" cy="191425"/>
            </a:xfrm>
            <a:custGeom>
              <a:rect b="b" l="l" r="r" t="t"/>
              <a:pathLst>
                <a:path extrusionOk="0" h="7657" w="6396">
                  <a:moveTo>
                    <a:pt x="3245" y="693"/>
                  </a:moveTo>
                  <a:cubicBezTo>
                    <a:pt x="3812" y="693"/>
                    <a:pt x="4285" y="1166"/>
                    <a:pt x="4285" y="1702"/>
                  </a:cubicBezTo>
                  <a:cubicBezTo>
                    <a:pt x="4285" y="2269"/>
                    <a:pt x="3812" y="2710"/>
                    <a:pt x="3245" y="2710"/>
                  </a:cubicBezTo>
                  <a:cubicBezTo>
                    <a:pt x="2647" y="2710"/>
                    <a:pt x="2174" y="2269"/>
                    <a:pt x="2174" y="1702"/>
                  </a:cubicBezTo>
                  <a:cubicBezTo>
                    <a:pt x="2174" y="1166"/>
                    <a:pt x="2678" y="693"/>
                    <a:pt x="3245" y="693"/>
                  </a:cubicBezTo>
                  <a:close/>
                  <a:moveTo>
                    <a:pt x="3245" y="3434"/>
                  </a:moveTo>
                  <a:cubicBezTo>
                    <a:pt x="4569" y="3434"/>
                    <a:pt x="5671" y="4537"/>
                    <a:pt x="5671" y="5892"/>
                  </a:cubicBezTo>
                  <a:lnTo>
                    <a:pt x="5671" y="6994"/>
                  </a:lnTo>
                  <a:lnTo>
                    <a:pt x="788" y="6994"/>
                  </a:lnTo>
                  <a:lnTo>
                    <a:pt x="788" y="5892"/>
                  </a:lnTo>
                  <a:cubicBezTo>
                    <a:pt x="788" y="4537"/>
                    <a:pt x="1891" y="3434"/>
                    <a:pt x="3245" y="3434"/>
                  </a:cubicBezTo>
                  <a:close/>
                  <a:moveTo>
                    <a:pt x="3182" y="0"/>
                  </a:moveTo>
                  <a:cubicBezTo>
                    <a:pt x="2237" y="0"/>
                    <a:pt x="1418" y="788"/>
                    <a:pt x="1418" y="1733"/>
                  </a:cubicBezTo>
                  <a:cubicBezTo>
                    <a:pt x="1418" y="2206"/>
                    <a:pt x="1607" y="2678"/>
                    <a:pt x="1985" y="2993"/>
                  </a:cubicBezTo>
                  <a:cubicBezTo>
                    <a:pt x="819" y="3466"/>
                    <a:pt x="0" y="4569"/>
                    <a:pt x="0" y="5892"/>
                  </a:cubicBezTo>
                  <a:lnTo>
                    <a:pt x="0" y="7309"/>
                  </a:lnTo>
                  <a:cubicBezTo>
                    <a:pt x="126" y="7499"/>
                    <a:pt x="284" y="7656"/>
                    <a:pt x="441" y="7656"/>
                  </a:cubicBezTo>
                  <a:lnTo>
                    <a:pt x="6018" y="7656"/>
                  </a:lnTo>
                  <a:cubicBezTo>
                    <a:pt x="6238" y="7656"/>
                    <a:pt x="6396" y="7499"/>
                    <a:pt x="6396" y="7309"/>
                  </a:cubicBezTo>
                  <a:lnTo>
                    <a:pt x="6396" y="5892"/>
                  </a:lnTo>
                  <a:cubicBezTo>
                    <a:pt x="6396" y="4569"/>
                    <a:pt x="5545" y="3466"/>
                    <a:pt x="4411" y="2993"/>
                  </a:cubicBezTo>
                  <a:cubicBezTo>
                    <a:pt x="4758" y="2647"/>
                    <a:pt x="4978" y="2206"/>
                    <a:pt x="4978" y="1733"/>
                  </a:cubicBezTo>
                  <a:cubicBezTo>
                    <a:pt x="4978" y="788"/>
                    <a:pt x="4190" y="0"/>
                    <a:pt x="318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125" lIns="167125" spcFirstLastPara="1" rIns="167125" wrap="square" tIns="16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824900" y="1955275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51" y="662"/>
                  </a:moveTo>
                  <a:cubicBezTo>
                    <a:pt x="4505" y="662"/>
                    <a:pt x="5608" y="1765"/>
                    <a:pt x="5608" y="3119"/>
                  </a:cubicBezTo>
                  <a:cubicBezTo>
                    <a:pt x="5608" y="4442"/>
                    <a:pt x="4505" y="5545"/>
                    <a:pt x="3151" y="5545"/>
                  </a:cubicBezTo>
                  <a:cubicBezTo>
                    <a:pt x="2710" y="5545"/>
                    <a:pt x="2332" y="5451"/>
                    <a:pt x="1954" y="5230"/>
                  </a:cubicBezTo>
                  <a:cubicBezTo>
                    <a:pt x="1890" y="5199"/>
                    <a:pt x="1796" y="5199"/>
                    <a:pt x="1733" y="5199"/>
                  </a:cubicBezTo>
                  <a:lnTo>
                    <a:pt x="945" y="5388"/>
                  </a:lnTo>
                  <a:lnTo>
                    <a:pt x="1166" y="4694"/>
                  </a:lnTo>
                  <a:cubicBezTo>
                    <a:pt x="1229" y="4568"/>
                    <a:pt x="1166" y="4505"/>
                    <a:pt x="1134" y="4411"/>
                  </a:cubicBezTo>
                  <a:cubicBezTo>
                    <a:pt x="914" y="4033"/>
                    <a:pt x="756" y="3592"/>
                    <a:pt x="756" y="3119"/>
                  </a:cubicBezTo>
                  <a:cubicBezTo>
                    <a:pt x="725" y="1733"/>
                    <a:pt x="1827" y="662"/>
                    <a:pt x="3151" y="662"/>
                  </a:cubicBezTo>
                  <a:close/>
                  <a:moveTo>
                    <a:pt x="3182" y="0"/>
                  </a:moveTo>
                  <a:cubicBezTo>
                    <a:pt x="1449" y="0"/>
                    <a:pt x="95" y="1418"/>
                    <a:pt x="95" y="3119"/>
                  </a:cubicBezTo>
                  <a:cubicBezTo>
                    <a:pt x="95" y="3655"/>
                    <a:pt x="189" y="4190"/>
                    <a:pt x="473" y="4663"/>
                  </a:cubicBezTo>
                  <a:lnTo>
                    <a:pt x="32" y="5766"/>
                  </a:lnTo>
                  <a:cubicBezTo>
                    <a:pt x="0" y="5860"/>
                    <a:pt x="32" y="5986"/>
                    <a:pt x="126" y="6112"/>
                  </a:cubicBezTo>
                  <a:cubicBezTo>
                    <a:pt x="189" y="6175"/>
                    <a:pt x="315" y="6238"/>
                    <a:pt x="473" y="6238"/>
                  </a:cubicBezTo>
                  <a:lnTo>
                    <a:pt x="1764" y="5923"/>
                  </a:lnTo>
                  <a:cubicBezTo>
                    <a:pt x="2206" y="6144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19"/>
                  </a:cubicBezTo>
                  <a:cubicBezTo>
                    <a:pt x="6301" y="1386"/>
                    <a:pt x="4883" y="0"/>
                    <a:pt x="318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125" lIns="167125" spcFirstLastPara="1" rIns="167125" wrap="square" tIns="16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8"/>
                <a:buFont typeface="Arial"/>
                <a:buNone/>
              </a:pPr>
              <a:r>
                <a:t/>
              </a:r>
              <a:endParaRPr b="0" i="0" sz="97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895000" y="2058450"/>
              <a:ext cx="17350" cy="18125"/>
            </a:xfrm>
            <a:custGeom>
              <a:rect b="b" l="l" r="r" t="t"/>
              <a:pathLst>
                <a:path extrusionOk="0" h="725" w="694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125" lIns="167125" spcFirstLastPara="1" rIns="167125" wrap="square" tIns="167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" name="Google Shape;424;p3"/>
          <p:cNvSpPr txBox="1"/>
          <p:nvPr/>
        </p:nvSpPr>
        <p:spPr>
          <a:xfrm>
            <a:off x="4572025" y="1794009"/>
            <a:ext cx="1472700" cy="87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0" i="0" sz="1113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5" name="Google Shape;425;p3"/>
          <p:cNvSpPr txBox="1"/>
          <p:nvPr/>
        </p:nvSpPr>
        <p:spPr>
          <a:xfrm>
            <a:off x="3067533" y="2665154"/>
            <a:ext cx="1472700" cy="87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0" i="0" sz="1113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26" name="Google Shape;426;p3"/>
          <p:cNvSpPr txBox="1"/>
          <p:nvPr/>
        </p:nvSpPr>
        <p:spPr>
          <a:xfrm>
            <a:off x="4556162" y="2665154"/>
            <a:ext cx="1504500" cy="871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0" i="0" sz="1113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27" name="Google Shape;427;p3"/>
          <p:cNvGrpSpPr/>
          <p:nvPr/>
        </p:nvGrpSpPr>
        <p:grpSpPr>
          <a:xfrm>
            <a:off x="4985546" y="1911744"/>
            <a:ext cx="645585" cy="635419"/>
            <a:chOff x="2139425" y="2682250"/>
            <a:chExt cx="298550" cy="296150"/>
          </a:xfrm>
        </p:grpSpPr>
        <p:sp>
          <p:nvSpPr>
            <p:cNvPr id="428" name="Google Shape;428;p3"/>
            <p:cNvSpPr/>
            <p:nvPr/>
          </p:nvSpPr>
          <p:spPr>
            <a:xfrm>
              <a:off x="2139425" y="2787000"/>
              <a:ext cx="159125" cy="191400"/>
            </a:xfrm>
            <a:custGeom>
              <a:rect b="b" l="l" r="r" t="t"/>
              <a:pathLst>
                <a:path extrusionOk="0" h="7656" w="6365">
                  <a:moveTo>
                    <a:pt x="3214" y="630"/>
                  </a:moveTo>
                  <a:cubicBezTo>
                    <a:pt x="3813" y="630"/>
                    <a:pt x="4286" y="1103"/>
                    <a:pt x="4286" y="1670"/>
                  </a:cubicBezTo>
                  <a:cubicBezTo>
                    <a:pt x="4286" y="2206"/>
                    <a:pt x="3813" y="2678"/>
                    <a:pt x="3214" y="2678"/>
                  </a:cubicBezTo>
                  <a:cubicBezTo>
                    <a:pt x="2647" y="2678"/>
                    <a:pt x="2175" y="2206"/>
                    <a:pt x="2175" y="1670"/>
                  </a:cubicBezTo>
                  <a:cubicBezTo>
                    <a:pt x="2175" y="1166"/>
                    <a:pt x="2647" y="630"/>
                    <a:pt x="3214" y="630"/>
                  </a:cubicBezTo>
                  <a:close/>
                  <a:moveTo>
                    <a:pt x="3183" y="3403"/>
                  </a:moveTo>
                  <a:cubicBezTo>
                    <a:pt x="4538" y="3403"/>
                    <a:pt x="5609" y="4506"/>
                    <a:pt x="5609" y="5829"/>
                  </a:cubicBezTo>
                  <a:lnTo>
                    <a:pt x="5609" y="6931"/>
                  </a:lnTo>
                  <a:lnTo>
                    <a:pt x="757" y="6931"/>
                  </a:lnTo>
                  <a:lnTo>
                    <a:pt x="757" y="5829"/>
                  </a:lnTo>
                  <a:cubicBezTo>
                    <a:pt x="757" y="4506"/>
                    <a:pt x="1860" y="3403"/>
                    <a:pt x="3183" y="3403"/>
                  </a:cubicBezTo>
                  <a:close/>
                  <a:moveTo>
                    <a:pt x="3183" y="0"/>
                  </a:moveTo>
                  <a:cubicBezTo>
                    <a:pt x="2238" y="0"/>
                    <a:pt x="1419" y="788"/>
                    <a:pt x="1419" y="1733"/>
                  </a:cubicBezTo>
                  <a:cubicBezTo>
                    <a:pt x="1419" y="2206"/>
                    <a:pt x="1608" y="2678"/>
                    <a:pt x="1954" y="2993"/>
                  </a:cubicBezTo>
                  <a:cubicBezTo>
                    <a:pt x="820" y="3466"/>
                    <a:pt x="1" y="4569"/>
                    <a:pt x="1" y="5892"/>
                  </a:cubicBezTo>
                  <a:lnTo>
                    <a:pt x="1" y="7309"/>
                  </a:lnTo>
                  <a:cubicBezTo>
                    <a:pt x="64" y="7498"/>
                    <a:pt x="222" y="7656"/>
                    <a:pt x="442" y="7656"/>
                  </a:cubicBezTo>
                  <a:lnTo>
                    <a:pt x="6018" y="7656"/>
                  </a:lnTo>
                  <a:cubicBezTo>
                    <a:pt x="6207" y="7656"/>
                    <a:pt x="6365" y="7498"/>
                    <a:pt x="6365" y="7309"/>
                  </a:cubicBezTo>
                  <a:lnTo>
                    <a:pt x="6365" y="5892"/>
                  </a:lnTo>
                  <a:cubicBezTo>
                    <a:pt x="6365" y="4569"/>
                    <a:pt x="5546" y="3466"/>
                    <a:pt x="4412" y="2993"/>
                  </a:cubicBezTo>
                  <a:cubicBezTo>
                    <a:pt x="4758" y="2647"/>
                    <a:pt x="4947" y="2206"/>
                    <a:pt x="4947" y="1733"/>
                  </a:cubicBezTo>
                  <a:cubicBezTo>
                    <a:pt x="4947" y="788"/>
                    <a:pt x="4160" y="0"/>
                    <a:pt x="3183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550" lIns="167550" spcFirstLastPara="1" rIns="167550" wrap="square" tIns="16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2280425" y="2682250"/>
              <a:ext cx="157550" cy="155975"/>
            </a:xfrm>
            <a:custGeom>
              <a:rect b="b" l="l" r="r" t="t"/>
              <a:pathLst>
                <a:path extrusionOk="0" h="6239" w="6302">
                  <a:moveTo>
                    <a:pt x="3182" y="662"/>
                  </a:moveTo>
                  <a:cubicBezTo>
                    <a:pt x="4506" y="662"/>
                    <a:pt x="5608" y="1764"/>
                    <a:pt x="5608" y="3088"/>
                  </a:cubicBezTo>
                  <a:cubicBezTo>
                    <a:pt x="5577" y="4442"/>
                    <a:pt x="4474" y="5545"/>
                    <a:pt x="3151" y="5545"/>
                  </a:cubicBezTo>
                  <a:cubicBezTo>
                    <a:pt x="2710" y="5545"/>
                    <a:pt x="2300" y="5419"/>
                    <a:pt x="1954" y="5230"/>
                  </a:cubicBezTo>
                  <a:cubicBezTo>
                    <a:pt x="1891" y="5198"/>
                    <a:pt x="1796" y="5198"/>
                    <a:pt x="1733" y="5198"/>
                  </a:cubicBezTo>
                  <a:lnTo>
                    <a:pt x="946" y="5388"/>
                  </a:lnTo>
                  <a:lnTo>
                    <a:pt x="1166" y="4663"/>
                  </a:lnTo>
                  <a:cubicBezTo>
                    <a:pt x="1198" y="4568"/>
                    <a:pt x="1166" y="4474"/>
                    <a:pt x="1135" y="4411"/>
                  </a:cubicBezTo>
                  <a:cubicBezTo>
                    <a:pt x="883" y="4001"/>
                    <a:pt x="725" y="3560"/>
                    <a:pt x="725" y="3088"/>
                  </a:cubicBezTo>
                  <a:cubicBezTo>
                    <a:pt x="725" y="1764"/>
                    <a:pt x="1828" y="662"/>
                    <a:pt x="3182" y="662"/>
                  </a:cubicBezTo>
                  <a:close/>
                  <a:moveTo>
                    <a:pt x="3151" y="0"/>
                  </a:moveTo>
                  <a:cubicBezTo>
                    <a:pt x="1418" y="0"/>
                    <a:pt x="32" y="1418"/>
                    <a:pt x="32" y="3088"/>
                  </a:cubicBezTo>
                  <a:cubicBezTo>
                    <a:pt x="32" y="3655"/>
                    <a:pt x="158" y="4159"/>
                    <a:pt x="410" y="4631"/>
                  </a:cubicBezTo>
                  <a:lnTo>
                    <a:pt x="32" y="5766"/>
                  </a:lnTo>
                  <a:cubicBezTo>
                    <a:pt x="0" y="5892"/>
                    <a:pt x="32" y="6018"/>
                    <a:pt x="95" y="6144"/>
                  </a:cubicBezTo>
                  <a:cubicBezTo>
                    <a:pt x="189" y="6207"/>
                    <a:pt x="315" y="6238"/>
                    <a:pt x="473" y="6238"/>
                  </a:cubicBezTo>
                  <a:lnTo>
                    <a:pt x="1765" y="5923"/>
                  </a:lnTo>
                  <a:cubicBezTo>
                    <a:pt x="2206" y="6175"/>
                    <a:pt x="2678" y="6238"/>
                    <a:pt x="3182" y="6238"/>
                  </a:cubicBezTo>
                  <a:cubicBezTo>
                    <a:pt x="4915" y="6238"/>
                    <a:pt x="6301" y="4820"/>
                    <a:pt x="6301" y="3151"/>
                  </a:cubicBezTo>
                  <a:cubicBezTo>
                    <a:pt x="6238" y="1418"/>
                    <a:pt x="4884" y="0"/>
                    <a:pt x="3151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550" lIns="167550" spcFirstLastPara="1" rIns="167550" wrap="square" tIns="16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 rot="10800000">
              <a:off x="2349725" y="2786975"/>
              <a:ext cx="18150" cy="17375"/>
            </a:xfrm>
            <a:custGeom>
              <a:rect b="b" l="l" r="r" t="t"/>
              <a:pathLst>
                <a:path extrusionOk="0" h="695" w="726">
                  <a:moveTo>
                    <a:pt x="379" y="1"/>
                  </a:moveTo>
                  <a:cubicBezTo>
                    <a:pt x="158" y="1"/>
                    <a:pt x="1" y="158"/>
                    <a:pt x="1" y="348"/>
                  </a:cubicBezTo>
                  <a:cubicBezTo>
                    <a:pt x="1" y="537"/>
                    <a:pt x="158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550" lIns="167550" spcFirstLastPara="1" rIns="167550" wrap="square" tIns="16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349725" y="2725550"/>
              <a:ext cx="18150" cy="52800"/>
            </a:xfrm>
            <a:custGeom>
              <a:rect b="b" l="l" r="r" t="t"/>
              <a:pathLst>
                <a:path extrusionOk="0" h="2112" w="726">
                  <a:moveTo>
                    <a:pt x="379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79" y="2111"/>
                  </a:cubicBezTo>
                  <a:cubicBezTo>
                    <a:pt x="568" y="2111"/>
                    <a:pt x="725" y="1954"/>
                    <a:pt x="725" y="1733"/>
                  </a:cubicBezTo>
                  <a:lnTo>
                    <a:pt x="725" y="379"/>
                  </a:lnTo>
                  <a:cubicBezTo>
                    <a:pt x="725" y="158"/>
                    <a:pt x="568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7550" lIns="167550" spcFirstLastPara="1" rIns="167550" wrap="square" tIns="1675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99"/>
                <a:buFont typeface="Arial"/>
                <a:buNone/>
              </a:pPr>
              <a:r>
                <a:t/>
              </a:r>
              <a:endParaRPr b="0" i="0" sz="1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3"/>
          <p:cNvGrpSpPr/>
          <p:nvPr/>
        </p:nvGrpSpPr>
        <p:grpSpPr>
          <a:xfrm>
            <a:off x="4985611" y="2779418"/>
            <a:ext cx="645611" cy="642280"/>
            <a:chOff x="685475" y="2318350"/>
            <a:chExt cx="297750" cy="296200"/>
          </a:xfrm>
        </p:grpSpPr>
        <p:sp>
          <p:nvSpPr>
            <p:cNvPr id="433" name="Google Shape;433;p3"/>
            <p:cNvSpPr/>
            <p:nvPr/>
          </p:nvSpPr>
          <p:spPr>
            <a:xfrm>
              <a:off x="685475" y="2371925"/>
              <a:ext cx="142600" cy="241975"/>
            </a:xfrm>
            <a:custGeom>
              <a:rect b="b" l="l" r="r" t="t"/>
              <a:pathLst>
                <a:path extrusionOk="0" h="9679" w="5704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8025" lIns="168025" spcFirstLastPara="1" rIns="168025" wrap="square" tIns="1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839850" y="2371925"/>
              <a:ext cx="143375" cy="242625"/>
            </a:xfrm>
            <a:custGeom>
              <a:rect b="b" l="l" r="r" t="t"/>
              <a:pathLst>
                <a:path extrusionOk="0" h="9705" w="5735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8025" lIns="168025" spcFirstLastPara="1" rIns="168025" wrap="square" tIns="1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772900" y="2318350"/>
              <a:ext cx="122125" cy="105075"/>
            </a:xfrm>
            <a:custGeom>
              <a:rect b="b" l="l" r="r" t="t"/>
              <a:pathLst>
                <a:path extrusionOk="0" h="4203" w="4885">
                  <a:moveTo>
                    <a:pt x="3844" y="631"/>
                  </a:moveTo>
                  <a:cubicBezTo>
                    <a:pt x="4034" y="631"/>
                    <a:pt x="4223" y="789"/>
                    <a:pt x="4223" y="978"/>
                  </a:cubicBezTo>
                  <a:lnTo>
                    <a:pt x="4223" y="1734"/>
                  </a:lnTo>
                  <a:cubicBezTo>
                    <a:pt x="4223" y="1923"/>
                    <a:pt x="4034" y="2112"/>
                    <a:pt x="3844" y="2112"/>
                  </a:cubicBezTo>
                  <a:cubicBezTo>
                    <a:pt x="3655" y="2143"/>
                    <a:pt x="3498" y="2301"/>
                    <a:pt x="3498" y="2458"/>
                  </a:cubicBezTo>
                  <a:lnTo>
                    <a:pt x="3498" y="2994"/>
                  </a:lnTo>
                  <a:lnTo>
                    <a:pt x="2679" y="2206"/>
                  </a:lnTo>
                  <a:cubicBezTo>
                    <a:pt x="2584" y="2143"/>
                    <a:pt x="2521" y="2112"/>
                    <a:pt x="2427" y="2112"/>
                  </a:cubicBezTo>
                  <a:lnTo>
                    <a:pt x="1009" y="2112"/>
                  </a:lnTo>
                  <a:cubicBezTo>
                    <a:pt x="820" y="2112"/>
                    <a:pt x="662" y="1923"/>
                    <a:pt x="662" y="1734"/>
                  </a:cubicBezTo>
                  <a:lnTo>
                    <a:pt x="662" y="978"/>
                  </a:lnTo>
                  <a:cubicBezTo>
                    <a:pt x="662" y="789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4"/>
                    <a:pt x="1" y="1041"/>
                  </a:cubicBezTo>
                  <a:lnTo>
                    <a:pt x="1" y="1765"/>
                  </a:lnTo>
                  <a:cubicBezTo>
                    <a:pt x="1" y="2364"/>
                    <a:pt x="473" y="2805"/>
                    <a:pt x="1009" y="2805"/>
                  </a:cubicBezTo>
                  <a:lnTo>
                    <a:pt x="2269" y="2805"/>
                  </a:lnTo>
                  <a:lnTo>
                    <a:pt x="3592" y="4097"/>
                  </a:lnTo>
                  <a:cubicBezTo>
                    <a:pt x="3663" y="4167"/>
                    <a:pt x="3770" y="4203"/>
                    <a:pt x="3872" y="4203"/>
                  </a:cubicBezTo>
                  <a:cubicBezTo>
                    <a:pt x="3906" y="4203"/>
                    <a:pt x="3939" y="4199"/>
                    <a:pt x="3970" y="4191"/>
                  </a:cubicBezTo>
                  <a:cubicBezTo>
                    <a:pt x="4097" y="4160"/>
                    <a:pt x="4160" y="4002"/>
                    <a:pt x="4160" y="3876"/>
                  </a:cubicBezTo>
                  <a:lnTo>
                    <a:pt x="4160" y="2773"/>
                  </a:lnTo>
                  <a:cubicBezTo>
                    <a:pt x="4569" y="2616"/>
                    <a:pt x="4884" y="2238"/>
                    <a:pt x="4884" y="1765"/>
                  </a:cubicBezTo>
                  <a:lnTo>
                    <a:pt x="4884" y="1041"/>
                  </a:lnTo>
                  <a:cubicBezTo>
                    <a:pt x="4884" y="442"/>
                    <a:pt x="4412" y="1"/>
                    <a:pt x="3844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68025" lIns="168025" spcFirstLastPara="1" rIns="168025" wrap="square" tIns="1680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6" name="Google Shape;436;p3"/>
          <p:cNvGrpSpPr/>
          <p:nvPr/>
        </p:nvGrpSpPr>
        <p:grpSpPr>
          <a:xfrm>
            <a:off x="3437897" y="2749382"/>
            <a:ext cx="731872" cy="702464"/>
            <a:chOff x="2140225" y="2318650"/>
            <a:chExt cx="307975" cy="295600"/>
          </a:xfrm>
        </p:grpSpPr>
        <p:sp>
          <p:nvSpPr>
            <p:cNvPr id="437" name="Google Shape;437;p3"/>
            <p:cNvSpPr/>
            <p:nvPr/>
          </p:nvSpPr>
          <p:spPr>
            <a:xfrm>
              <a:off x="2281200" y="2353025"/>
              <a:ext cx="104000" cy="121300"/>
            </a:xfrm>
            <a:custGeom>
              <a:rect b="b" l="l" r="r" t="t"/>
              <a:pathLst>
                <a:path extrusionOk="0" h="4852" w="4160">
                  <a:moveTo>
                    <a:pt x="2080" y="662"/>
                  </a:moveTo>
                  <a:cubicBezTo>
                    <a:pt x="2490" y="662"/>
                    <a:pt x="2805" y="977"/>
                    <a:pt x="2805" y="1386"/>
                  </a:cubicBezTo>
                  <a:cubicBezTo>
                    <a:pt x="2805" y="1764"/>
                    <a:pt x="2490" y="2079"/>
                    <a:pt x="2080" y="2079"/>
                  </a:cubicBezTo>
                  <a:cubicBezTo>
                    <a:pt x="1702" y="2079"/>
                    <a:pt x="1387" y="1764"/>
                    <a:pt x="1387" y="1386"/>
                  </a:cubicBezTo>
                  <a:cubicBezTo>
                    <a:pt x="1387" y="977"/>
                    <a:pt x="1702" y="662"/>
                    <a:pt x="2080" y="662"/>
                  </a:cubicBezTo>
                  <a:close/>
                  <a:moveTo>
                    <a:pt x="2080" y="2773"/>
                  </a:moveTo>
                  <a:cubicBezTo>
                    <a:pt x="2836" y="2773"/>
                    <a:pt x="3466" y="3403"/>
                    <a:pt x="3466" y="4127"/>
                  </a:cubicBezTo>
                  <a:lnTo>
                    <a:pt x="662" y="4127"/>
                  </a:lnTo>
                  <a:cubicBezTo>
                    <a:pt x="662" y="3403"/>
                    <a:pt x="1293" y="2773"/>
                    <a:pt x="2080" y="2773"/>
                  </a:cubicBezTo>
                  <a:close/>
                  <a:moveTo>
                    <a:pt x="2112" y="0"/>
                  </a:moveTo>
                  <a:cubicBezTo>
                    <a:pt x="1387" y="0"/>
                    <a:pt x="757" y="630"/>
                    <a:pt x="757" y="1386"/>
                  </a:cubicBezTo>
                  <a:cubicBezTo>
                    <a:pt x="757" y="1733"/>
                    <a:pt x="915" y="2079"/>
                    <a:pt x="1135" y="2332"/>
                  </a:cubicBezTo>
                  <a:cubicBezTo>
                    <a:pt x="505" y="2678"/>
                    <a:pt x="64" y="3340"/>
                    <a:pt x="64" y="4127"/>
                  </a:cubicBezTo>
                  <a:lnTo>
                    <a:pt x="64" y="4505"/>
                  </a:lnTo>
                  <a:cubicBezTo>
                    <a:pt x="1" y="4694"/>
                    <a:pt x="158" y="4852"/>
                    <a:pt x="347" y="4852"/>
                  </a:cubicBezTo>
                  <a:lnTo>
                    <a:pt x="3813" y="4852"/>
                  </a:lnTo>
                  <a:cubicBezTo>
                    <a:pt x="4002" y="4852"/>
                    <a:pt x="4160" y="4694"/>
                    <a:pt x="4160" y="4505"/>
                  </a:cubicBezTo>
                  <a:lnTo>
                    <a:pt x="4160" y="4127"/>
                  </a:lnTo>
                  <a:cubicBezTo>
                    <a:pt x="4160" y="3340"/>
                    <a:pt x="3750" y="2678"/>
                    <a:pt x="3120" y="2332"/>
                  </a:cubicBezTo>
                  <a:cubicBezTo>
                    <a:pt x="3340" y="2079"/>
                    <a:pt x="3498" y="1733"/>
                    <a:pt x="3498" y="1386"/>
                  </a:cubicBezTo>
                  <a:cubicBezTo>
                    <a:pt x="3498" y="630"/>
                    <a:pt x="2868" y="0"/>
                    <a:pt x="211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4125" lIns="184125" spcFirstLastPara="1" rIns="184125" wrap="square" tIns="184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2140225" y="2318650"/>
              <a:ext cx="307975" cy="295600"/>
            </a:xfrm>
            <a:custGeom>
              <a:rect b="b" l="l" r="r" t="t"/>
              <a:pathLst>
                <a:path extrusionOk="0" h="11824" w="12319">
                  <a:moveTo>
                    <a:pt x="7712" y="682"/>
                  </a:moveTo>
                  <a:cubicBezTo>
                    <a:pt x="8607" y="682"/>
                    <a:pt x="9499" y="1029"/>
                    <a:pt x="10177" y="1690"/>
                  </a:cubicBezTo>
                  <a:cubicBezTo>
                    <a:pt x="11468" y="2982"/>
                    <a:pt x="11531" y="5187"/>
                    <a:pt x="10177" y="6573"/>
                  </a:cubicBezTo>
                  <a:cubicBezTo>
                    <a:pt x="9500" y="7266"/>
                    <a:pt x="8627" y="7590"/>
                    <a:pt x="7754" y="7590"/>
                  </a:cubicBezTo>
                  <a:cubicBezTo>
                    <a:pt x="6839" y="7590"/>
                    <a:pt x="5923" y="7234"/>
                    <a:pt x="5230" y="6573"/>
                  </a:cubicBezTo>
                  <a:cubicBezTo>
                    <a:pt x="3939" y="5282"/>
                    <a:pt x="3876" y="3045"/>
                    <a:pt x="5325" y="1659"/>
                  </a:cubicBezTo>
                  <a:cubicBezTo>
                    <a:pt x="6001" y="997"/>
                    <a:pt x="6858" y="682"/>
                    <a:pt x="7712" y="682"/>
                  </a:cubicBezTo>
                  <a:close/>
                  <a:moveTo>
                    <a:pt x="4128" y="6258"/>
                  </a:moveTo>
                  <a:cubicBezTo>
                    <a:pt x="4285" y="6573"/>
                    <a:pt x="4537" y="6857"/>
                    <a:pt x="4758" y="7078"/>
                  </a:cubicBezTo>
                  <a:cubicBezTo>
                    <a:pt x="5010" y="7330"/>
                    <a:pt x="5293" y="7550"/>
                    <a:pt x="5577" y="7708"/>
                  </a:cubicBezTo>
                  <a:lnTo>
                    <a:pt x="5136" y="8180"/>
                  </a:lnTo>
                  <a:cubicBezTo>
                    <a:pt x="5073" y="8243"/>
                    <a:pt x="4978" y="8275"/>
                    <a:pt x="4888" y="8275"/>
                  </a:cubicBezTo>
                  <a:cubicBezTo>
                    <a:pt x="4797" y="8275"/>
                    <a:pt x="4710" y="8243"/>
                    <a:pt x="4663" y="8180"/>
                  </a:cubicBezTo>
                  <a:lnTo>
                    <a:pt x="3655" y="7204"/>
                  </a:lnTo>
                  <a:cubicBezTo>
                    <a:pt x="3498" y="7078"/>
                    <a:pt x="3498" y="6857"/>
                    <a:pt x="3655" y="6731"/>
                  </a:cubicBezTo>
                  <a:lnTo>
                    <a:pt x="4128" y="6258"/>
                  </a:lnTo>
                  <a:close/>
                  <a:moveTo>
                    <a:pt x="3403" y="7960"/>
                  </a:moveTo>
                  <a:lnTo>
                    <a:pt x="3876" y="8432"/>
                  </a:lnTo>
                  <a:lnTo>
                    <a:pt x="3309" y="8968"/>
                  </a:lnTo>
                  <a:lnTo>
                    <a:pt x="2836" y="8495"/>
                  </a:lnTo>
                  <a:lnTo>
                    <a:pt x="3403" y="7960"/>
                  </a:lnTo>
                  <a:close/>
                  <a:moveTo>
                    <a:pt x="2363" y="8968"/>
                  </a:moveTo>
                  <a:lnTo>
                    <a:pt x="2836" y="9440"/>
                  </a:lnTo>
                  <a:lnTo>
                    <a:pt x="1292" y="10984"/>
                  </a:lnTo>
                  <a:cubicBezTo>
                    <a:pt x="1245" y="11047"/>
                    <a:pt x="1158" y="11079"/>
                    <a:pt x="1068" y="11079"/>
                  </a:cubicBezTo>
                  <a:cubicBezTo>
                    <a:pt x="977" y="11079"/>
                    <a:pt x="883" y="11047"/>
                    <a:pt x="820" y="10984"/>
                  </a:cubicBezTo>
                  <a:cubicBezTo>
                    <a:pt x="725" y="10858"/>
                    <a:pt x="725" y="10669"/>
                    <a:pt x="820" y="10512"/>
                  </a:cubicBezTo>
                  <a:lnTo>
                    <a:pt x="2363" y="8968"/>
                  </a:lnTo>
                  <a:close/>
                  <a:moveTo>
                    <a:pt x="7731" y="1"/>
                  </a:moveTo>
                  <a:cubicBezTo>
                    <a:pt x="6669" y="1"/>
                    <a:pt x="5604" y="403"/>
                    <a:pt x="4789" y="1218"/>
                  </a:cubicBezTo>
                  <a:cubicBezTo>
                    <a:pt x="3592" y="2446"/>
                    <a:pt x="3309" y="4179"/>
                    <a:pt x="3844" y="5628"/>
                  </a:cubicBezTo>
                  <a:lnTo>
                    <a:pt x="3182" y="6290"/>
                  </a:lnTo>
                  <a:cubicBezTo>
                    <a:pt x="2867" y="6605"/>
                    <a:pt x="2804" y="7078"/>
                    <a:pt x="2993" y="7487"/>
                  </a:cubicBezTo>
                  <a:lnTo>
                    <a:pt x="410" y="10071"/>
                  </a:lnTo>
                  <a:cubicBezTo>
                    <a:pt x="0" y="10480"/>
                    <a:pt x="0" y="11142"/>
                    <a:pt x="410" y="11520"/>
                  </a:cubicBezTo>
                  <a:cubicBezTo>
                    <a:pt x="580" y="11721"/>
                    <a:pt x="826" y="11823"/>
                    <a:pt x="1081" y="11823"/>
                  </a:cubicBezTo>
                  <a:cubicBezTo>
                    <a:pt x="1345" y="11823"/>
                    <a:pt x="1619" y="11713"/>
                    <a:pt x="1828" y="11488"/>
                  </a:cubicBezTo>
                  <a:lnTo>
                    <a:pt x="4411" y="8905"/>
                  </a:lnTo>
                  <a:cubicBezTo>
                    <a:pt x="4565" y="8976"/>
                    <a:pt x="4727" y="9011"/>
                    <a:pt x="4887" y="9011"/>
                  </a:cubicBezTo>
                  <a:cubicBezTo>
                    <a:pt x="5153" y="9011"/>
                    <a:pt x="5411" y="8913"/>
                    <a:pt x="5608" y="8716"/>
                  </a:cubicBezTo>
                  <a:lnTo>
                    <a:pt x="6270" y="8023"/>
                  </a:lnTo>
                  <a:cubicBezTo>
                    <a:pt x="6736" y="8205"/>
                    <a:pt x="7231" y="8296"/>
                    <a:pt x="7729" y="8296"/>
                  </a:cubicBezTo>
                  <a:cubicBezTo>
                    <a:pt x="8781" y="8296"/>
                    <a:pt x="9847" y="7890"/>
                    <a:pt x="10681" y="7078"/>
                  </a:cubicBezTo>
                  <a:cubicBezTo>
                    <a:pt x="12319" y="5439"/>
                    <a:pt x="12287" y="2793"/>
                    <a:pt x="10681" y="1218"/>
                  </a:cubicBezTo>
                  <a:cubicBezTo>
                    <a:pt x="9873" y="410"/>
                    <a:pt x="8804" y="1"/>
                    <a:pt x="7731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4125" lIns="184125" spcFirstLastPara="1" rIns="184125" wrap="square" tIns="184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p3"/>
          <p:cNvSpPr txBox="1"/>
          <p:nvPr/>
        </p:nvSpPr>
        <p:spPr>
          <a:xfrm>
            <a:off x="798875" y="1344880"/>
            <a:ext cx="2041200" cy="129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b="1" i="0" lang="en" sz="1113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</a:t>
            </a:r>
            <a:endParaRPr b="1" i="0" sz="1113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0" i="0" sz="1113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b="0" i="0" lang="en" sz="8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Shopee Thailand experiences </a:t>
            </a:r>
            <a:r>
              <a:rPr b="1" i="0" lang="en" sz="8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20% Revenue Loss due to Cancelation</a:t>
            </a:r>
            <a:r>
              <a:rPr b="0" i="0" lang="en" sz="8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, with value excess </a:t>
            </a:r>
            <a:r>
              <a:rPr b="1" i="0" lang="en" sz="8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฿800 Million</a:t>
            </a:r>
            <a:r>
              <a:rPr b="0" i="0" lang="en" sz="835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in the past 3 years</a:t>
            </a:r>
            <a:endParaRPr b="0" i="0" sz="835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0" name="Google Shape;440;p3"/>
          <p:cNvSpPr txBox="1"/>
          <p:nvPr/>
        </p:nvSpPr>
        <p:spPr>
          <a:xfrm>
            <a:off x="798875" y="2981352"/>
            <a:ext cx="2041200" cy="129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b="1" i="0" lang="en" sz="111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Findings</a:t>
            </a:r>
            <a:endParaRPr b="1" i="0" sz="1113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1" i="0" sz="1113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Cancellation value is 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not evenly distributed</a:t>
            </a: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—it is heavily concentrated among 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high-volume transactions</a:t>
            </a: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the 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20–40 customer segment</a:t>
            </a: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core product categories like 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Home and Electronics.</a:t>
            </a:r>
            <a:endParaRPr b="1" i="0" sz="835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1" name="Google Shape;441;p3"/>
          <p:cNvSpPr txBox="1"/>
          <p:nvPr/>
        </p:nvSpPr>
        <p:spPr>
          <a:xfrm>
            <a:off x="6303905" y="1344869"/>
            <a:ext cx="2041200" cy="1293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b="1" i="0" lang="en" sz="1113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Objective</a:t>
            </a:r>
            <a:endParaRPr b="1" i="0" sz="1113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1" i="0" sz="1113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5"/>
              <a:buFont typeface="Arial"/>
              <a:buNone/>
            </a:pP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Analyze Trends and patterns to find the 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best method</a:t>
            </a: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to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decrease</a:t>
            </a: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loss due to cancellations to 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10%</a:t>
            </a:r>
            <a:r>
              <a:rPr b="0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by </a:t>
            </a:r>
            <a:r>
              <a:rPr b="1" i="0" lang="en" sz="83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2028</a:t>
            </a:r>
            <a:endParaRPr b="1" i="0" sz="835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2" name="Google Shape;442;p3"/>
          <p:cNvSpPr txBox="1"/>
          <p:nvPr/>
        </p:nvSpPr>
        <p:spPr>
          <a:xfrm>
            <a:off x="6303905" y="2981340"/>
            <a:ext cx="2041200" cy="1293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800" lIns="84800" spcFirstLastPara="1" rIns="84800" wrap="square" tIns="84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rPr b="0" i="0" lang="en" sz="1113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Recommendation</a:t>
            </a:r>
            <a:endParaRPr b="0" i="0" sz="1113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3"/>
              <a:buFont typeface="Arial"/>
              <a:buNone/>
            </a:pPr>
            <a:r>
              <a:t/>
            </a:r>
            <a:endParaRPr b="0" i="0" sz="1113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" sz="928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Suppressive</a:t>
            </a:r>
            <a:r>
              <a:rPr b="0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High-Density Sales </a:t>
            </a:r>
            <a:r>
              <a:rPr b="1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Interventions</a:t>
            </a:r>
            <a:br>
              <a:rPr b="0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0" i="0" lang="en" sz="928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Preventive</a:t>
            </a:r>
            <a:r>
              <a:rPr b="0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</a:t>
            </a:r>
            <a:r>
              <a:rPr b="1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Deploy</a:t>
            </a:r>
            <a:r>
              <a:rPr b="0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Value-Based Retaining Triggers</a:t>
            </a:r>
            <a:endParaRPr b="0" i="0" sz="928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8"/>
              <a:buFont typeface="Arial"/>
              <a:buNone/>
            </a:pPr>
            <a:r>
              <a:rPr b="0" i="0" lang="en" sz="928" u="sng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Preservative</a:t>
            </a:r>
            <a:r>
              <a:rPr b="0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: </a:t>
            </a:r>
            <a:r>
              <a:rPr b="1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Standardize</a:t>
            </a:r>
            <a:r>
              <a:rPr b="0" i="0" lang="en" sz="928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Cancellation Monitoring</a:t>
            </a:r>
            <a:endParaRPr b="0" i="0" sz="928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443" name="Google Shape;443;p3"/>
          <p:cNvCxnSpPr>
            <a:stCxn id="418" idx="0"/>
            <a:endCxn id="439" idx="0"/>
          </p:cNvCxnSpPr>
          <p:nvPr/>
        </p:nvCxnSpPr>
        <p:spPr>
          <a:xfrm flipH="1" rot="5400000">
            <a:off x="2607183" y="557197"/>
            <a:ext cx="424800" cy="2000400"/>
          </a:xfrm>
          <a:prstGeom prst="bentConnector3">
            <a:avLst>
              <a:gd fmla="val 15197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3"/>
          <p:cNvCxnSpPr>
            <a:stCxn id="424" idx="0"/>
            <a:endCxn id="441" idx="0"/>
          </p:cNvCxnSpPr>
          <p:nvPr/>
        </p:nvCxnSpPr>
        <p:spPr>
          <a:xfrm rot="-5400000">
            <a:off x="6091825" y="561459"/>
            <a:ext cx="449100" cy="2016000"/>
          </a:xfrm>
          <a:prstGeom prst="bentConnector3">
            <a:avLst>
              <a:gd fmla="val 14917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5" name="Google Shape;445;p3"/>
          <p:cNvCxnSpPr>
            <a:stCxn id="425" idx="2"/>
            <a:endCxn id="440" idx="2"/>
          </p:cNvCxnSpPr>
          <p:nvPr/>
        </p:nvCxnSpPr>
        <p:spPr>
          <a:xfrm rot="5400000">
            <a:off x="2442333" y="2913404"/>
            <a:ext cx="738600" cy="1984500"/>
          </a:xfrm>
          <a:prstGeom prst="bentConnector3">
            <a:avLst>
              <a:gd fmla="val 12991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3"/>
          <p:cNvCxnSpPr>
            <a:stCxn id="426" idx="2"/>
            <a:endCxn id="442" idx="2"/>
          </p:cNvCxnSpPr>
          <p:nvPr/>
        </p:nvCxnSpPr>
        <p:spPr>
          <a:xfrm flipH="1" rot="-5400000">
            <a:off x="5947112" y="2897654"/>
            <a:ext cx="738600" cy="2016000"/>
          </a:xfrm>
          <a:prstGeom prst="bentConnector3">
            <a:avLst>
              <a:gd fmla="val 1299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7" name="Google Shape;447;p3"/>
          <p:cNvSpPr txBox="1"/>
          <p:nvPr>
            <p:ph type="title"/>
          </p:nvPr>
        </p:nvSpPr>
        <p:spPr>
          <a:xfrm>
            <a:off x="827250" y="574225"/>
            <a:ext cx="7489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44"/>
              <a:t>Executive </a:t>
            </a:r>
            <a:r>
              <a:rPr lang="en" sz="2044">
                <a:solidFill>
                  <a:schemeClr val="lt1"/>
                </a:solidFill>
                <a:highlight>
                  <a:srgbClr val="CC4125"/>
                </a:highlight>
              </a:rPr>
              <a:t>Summary</a:t>
            </a:r>
            <a:endParaRPr sz="2044"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"/>
          <p:cNvSpPr txBox="1"/>
          <p:nvPr>
            <p:ph type="title"/>
          </p:nvPr>
        </p:nvSpPr>
        <p:spPr>
          <a:xfrm>
            <a:off x="1291500" y="2338425"/>
            <a:ext cx="4118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Project Background</a:t>
            </a:r>
            <a:endParaRPr/>
          </a:p>
        </p:txBody>
      </p:sp>
      <p:sp>
        <p:nvSpPr>
          <p:cNvPr id="453" name="Google Shape;453;p4"/>
          <p:cNvSpPr txBox="1"/>
          <p:nvPr>
            <p:ph idx="1" type="subTitle"/>
          </p:nvPr>
        </p:nvSpPr>
        <p:spPr>
          <a:xfrm>
            <a:off x="1291500" y="3254325"/>
            <a:ext cx="38730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Contextualizing the Business challenge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5" title="Screenshot 2026-06-07 17483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400" y="1155925"/>
            <a:ext cx="4807750" cy="28316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5"/>
          <p:cNvSpPr txBox="1"/>
          <p:nvPr>
            <p:ph type="title"/>
          </p:nvPr>
        </p:nvSpPr>
        <p:spPr>
          <a:xfrm>
            <a:off x="827250" y="574225"/>
            <a:ext cx="7489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88875" lIns="88875" spcFirstLastPara="1" rIns="88875" wrap="square" tIns="88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44">
                <a:solidFill>
                  <a:srgbClr val="CC4125"/>
                </a:solidFill>
              </a:rPr>
              <a:t>Shopee Strive for </a:t>
            </a:r>
            <a:r>
              <a:rPr lang="en" sz="1944">
                <a:solidFill>
                  <a:schemeClr val="lt1"/>
                </a:solidFill>
                <a:highlight>
                  <a:schemeClr val="dk1"/>
                </a:highlight>
              </a:rPr>
              <a:t>Improvement</a:t>
            </a:r>
            <a:r>
              <a:rPr lang="en" sz="1944">
                <a:solidFill>
                  <a:srgbClr val="CC4125"/>
                </a:solidFill>
              </a:rPr>
              <a:t> - But do we?</a:t>
            </a:r>
            <a:endParaRPr sz="1944">
              <a:solidFill>
                <a:srgbClr val="CC4125"/>
              </a:solidFill>
              <a:highlight>
                <a:schemeClr val="dk1"/>
              </a:highlight>
            </a:endParaRPr>
          </a:p>
        </p:txBody>
      </p:sp>
      <p:sp>
        <p:nvSpPr>
          <p:cNvPr id="460" name="Google Shape;460;p5"/>
          <p:cNvSpPr txBox="1"/>
          <p:nvPr/>
        </p:nvSpPr>
        <p:spPr>
          <a:xfrm>
            <a:off x="6111141" y="1169650"/>
            <a:ext cx="1852800" cy="28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8875" lIns="88875" spcFirstLastPara="1" rIns="88875" wrap="square" tIns="888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5"/>
              <a:buFont typeface="Arial"/>
              <a:buNone/>
            </a:pPr>
            <a:r>
              <a:rPr b="1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Head of Shopee Thailand</a:t>
            </a:r>
            <a:r>
              <a:rPr b="0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has tasked the Data Team with delivering solutions to mitigate the persistent </a:t>
            </a:r>
            <a:r>
              <a:rPr b="1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high revenue loss driven by canceled orders over the past three years.</a:t>
            </a:r>
            <a:endParaRPr b="1" i="0" sz="875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5"/>
              <a:buFont typeface="Arial"/>
              <a:buNone/>
            </a:pPr>
            <a:r>
              <a:t/>
            </a:r>
            <a:endParaRPr b="0" i="0" sz="875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5"/>
              <a:buFont typeface="Arial"/>
              <a:buNone/>
            </a:pPr>
            <a:r>
              <a:rPr b="0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 escalation reached a critical point in </a:t>
            </a:r>
            <a:r>
              <a:rPr b="1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December 2025</a:t>
            </a:r>
            <a:r>
              <a:rPr b="0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</a:t>
            </a:r>
            <a:r>
              <a:rPr b="1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when</a:t>
            </a:r>
            <a:r>
              <a:rPr b="1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losses spiked by 35% from previous year to ฿ 105 million</a:t>
            </a:r>
            <a:r>
              <a:rPr b="0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 Due to persistent upward trend over the years, the Head of Branch has prioritized the</a:t>
            </a:r>
            <a:r>
              <a:rPr b="1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immediate</a:t>
            </a:r>
            <a:r>
              <a:rPr b="0" i="0" lang="en" sz="87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deployment of solutions.</a:t>
            </a:r>
            <a:endParaRPr b="0" i="0" sz="778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61" name="Google Shape;461;p5"/>
          <p:cNvSpPr txBox="1"/>
          <p:nvPr>
            <p:ph type="title"/>
          </p:nvPr>
        </p:nvSpPr>
        <p:spPr>
          <a:xfrm>
            <a:off x="827250" y="4139970"/>
            <a:ext cx="7489500" cy="429300"/>
          </a:xfrm>
          <a:prstGeom prst="rect">
            <a:avLst/>
          </a:prstGeom>
          <a:noFill/>
          <a:ln>
            <a:noFill/>
          </a:ln>
        </p:spPr>
        <p:txBody>
          <a:bodyPr anchorCtr="0" anchor="b" bIns="88875" lIns="88875" spcFirstLastPara="1" rIns="88875" wrap="square" tIns="88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44">
                <a:solidFill>
                  <a:srgbClr val="CC4125"/>
                </a:solidFill>
              </a:rPr>
              <a:t>3 Years of </a:t>
            </a:r>
            <a:r>
              <a:rPr lang="en" sz="1944">
                <a:solidFill>
                  <a:schemeClr val="lt1"/>
                </a:solidFill>
                <a:highlight>
                  <a:schemeClr val="dk1"/>
                </a:highlight>
              </a:rPr>
              <a:t>Recurring Problem</a:t>
            </a:r>
            <a:r>
              <a:rPr lang="en" sz="1944">
                <a:solidFill>
                  <a:srgbClr val="CC4125"/>
                </a:solidFill>
              </a:rPr>
              <a:t> Without Resolution</a:t>
            </a:r>
            <a:endParaRPr sz="1944">
              <a:solidFill>
                <a:srgbClr val="CC4125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6" title="Screenshot 2026-06-07 1800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300" y="1121175"/>
            <a:ext cx="3347743" cy="2184222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"/>
          <p:cNvSpPr txBox="1"/>
          <p:nvPr>
            <p:ph type="title"/>
          </p:nvPr>
        </p:nvSpPr>
        <p:spPr>
          <a:xfrm>
            <a:off x="773550" y="545700"/>
            <a:ext cx="7596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0150" lIns="90150" spcFirstLastPara="1" rIns="90150" wrap="square" tIns="901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72">
                <a:solidFill>
                  <a:srgbClr val="CC4125"/>
                </a:solidFill>
              </a:rPr>
              <a:t>Our</a:t>
            </a:r>
            <a:r>
              <a:rPr lang="en" sz="1972">
                <a:solidFill>
                  <a:schemeClr val="lt1"/>
                </a:solidFill>
              </a:rPr>
              <a:t> </a:t>
            </a:r>
            <a:r>
              <a:rPr lang="en" sz="1972">
                <a:solidFill>
                  <a:schemeClr val="lt1"/>
                </a:solidFill>
                <a:highlight>
                  <a:schemeClr val="dk1"/>
                </a:highlight>
              </a:rPr>
              <a:t>Revenue also Increase</a:t>
            </a:r>
            <a:r>
              <a:rPr lang="en" sz="1972"/>
              <a:t> - </a:t>
            </a:r>
            <a:r>
              <a:rPr lang="en" sz="1972">
                <a:solidFill>
                  <a:srgbClr val="CC4125"/>
                </a:solidFill>
              </a:rPr>
              <a:t>Surely it’s</a:t>
            </a:r>
            <a:r>
              <a:rPr lang="en" sz="1972"/>
              <a:t> </a:t>
            </a:r>
            <a:r>
              <a:rPr lang="en" sz="1972">
                <a:solidFill>
                  <a:schemeClr val="lt1"/>
                </a:solidFill>
                <a:highlight>
                  <a:schemeClr val="dk1"/>
                </a:highlight>
              </a:rPr>
              <a:t>not a big deal</a:t>
            </a:r>
            <a:r>
              <a:rPr lang="en" sz="1972"/>
              <a:t> </a:t>
            </a:r>
            <a:r>
              <a:rPr lang="en" sz="1972">
                <a:solidFill>
                  <a:srgbClr val="CC4125"/>
                </a:solidFill>
              </a:rPr>
              <a:t>Right?</a:t>
            </a:r>
            <a:endParaRPr sz="1972">
              <a:solidFill>
                <a:srgbClr val="CC4125"/>
              </a:solidFill>
              <a:highlight>
                <a:schemeClr val="dk1"/>
              </a:highlight>
            </a:endParaRPr>
          </a:p>
        </p:txBody>
      </p:sp>
      <p:sp>
        <p:nvSpPr>
          <p:cNvPr id="468" name="Google Shape;468;p6"/>
          <p:cNvSpPr txBox="1"/>
          <p:nvPr>
            <p:ph type="title"/>
          </p:nvPr>
        </p:nvSpPr>
        <p:spPr>
          <a:xfrm>
            <a:off x="773550" y="4162492"/>
            <a:ext cx="7596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0150" lIns="90150" spcFirstLastPara="1" rIns="90150" wrap="square" tIns="901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972">
                <a:solidFill>
                  <a:srgbClr val="CC4125"/>
                </a:solidFill>
              </a:rPr>
              <a:t>Loss Surpass Industry Benchmark</a:t>
            </a:r>
            <a:r>
              <a:rPr lang="en" sz="1972"/>
              <a:t> </a:t>
            </a:r>
            <a:r>
              <a:rPr lang="en" sz="1972">
                <a:solidFill>
                  <a:srgbClr val="CC4125"/>
                </a:solidFill>
              </a:rPr>
              <a:t>,</a:t>
            </a:r>
            <a:r>
              <a:rPr lang="en" sz="1972"/>
              <a:t> </a:t>
            </a:r>
            <a:r>
              <a:rPr lang="en" sz="1972">
                <a:solidFill>
                  <a:schemeClr val="lt1"/>
                </a:solidFill>
                <a:highlight>
                  <a:schemeClr val="dk1"/>
                </a:highlight>
              </a:rPr>
              <a:t>Risky!</a:t>
            </a:r>
            <a:endParaRPr sz="1972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  <p:sp>
        <p:nvSpPr>
          <p:cNvPr id="469" name="Google Shape;469;p6"/>
          <p:cNvSpPr txBox="1"/>
          <p:nvPr/>
        </p:nvSpPr>
        <p:spPr>
          <a:xfrm>
            <a:off x="1224325" y="3319125"/>
            <a:ext cx="66954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75" lIns="80075" spcFirstLastPara="1" rIns="80075" wrap="square" tIns="8007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While our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revenue has increased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rapidly over the past three years, this growth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does not diminish the urgency of the issue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. In fact, our revenue loss tracks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almost identically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with our revenue growth trend.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December 2025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data highlights a critical leakage: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we forfeited 105 million Baht out of ฿ 520 million in potential revenue.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This translates to a staggering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20% revenue loss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strictly driven by order cancellations.  Which is past industry benchmark of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16%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(</a:t>
            </a:r>
            <a:r>
              <a:rPr b="0" i="0" lang="en" sz="876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Source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)</a:t>
            </a:r>
            <a:endParaRPr b="0" i="0" sz="876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t/>
            </a:r>
            <a:endParaRPr b="0" i="0" sz="876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6"/>
              <a:buFont typeface="Arial"/>
              <a:buNone/>
            </a:pP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Therefore the scope of analysis will heavily focus on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Loss due to Cancelation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and find the solution on how we can </a:t>
            </a:r>
            <a:r>
              <a:rPr b="1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effectively decrease</a:t>
            </a:r>
            <a:r>
              <a:rPr b="0" i="0" lang="en" sz="876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the value.</a:t>
            </a:r>
            <a:endParaRPr b="0" i="0" sz="876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70" name="Google Shape;470;p6" title="Screenshot 2026-06-07 18003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56" y="1121175"/>
            <a:ext cx="3347743" cy="219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"/>
          <p:cNvSpPr txBox="1"/>
          <p:nvPr>
            <p:ph type="title"/>
          </p:nvPr>
        </p:nvSpPr>
        <p:spPr>
          <a:xfrm>
            <a:off x="1366050" y="1376913"/>
            <a:ext cx="64119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solidFill>
                  <a:srgbClr val="CC4125"/>
                </a:solidFill>
                <a:highlight>
                  <a:schemeClr val="lt1"/>
                </a:highlight>
              </a:rPr>
              <a:t>“</a:t>
            </a:r>
            <a:r>
              <a:rPr lang="en" sz="3000">
                <a:solidFill>
                  <a:schemeClr val="lt1"/>
                </a:solidFill>
                <a:highlight>
                  <a:schemeClr val="dk1"/>
                </a:highlight>
              </a:rPr>
              <a:t>How</a:t>
            </a:r>
            <a:r>
              <a:rPr lang="en" sz="3000">
                <a:solidFill>
                  <a:srgbClr val="CC4125"/>
                </a:solidFill>
              </a:rPr>
              <a:t> to decrease revenue loss from order cancelation From </a:t>
            </a:r>
            <a:r>
              <a:rPr lang="en" sz="3000">
                <a:solidFill>
                  <a:schemeClr val="lt1"/>
                </a:solidFill>
                <a:highlight>
                  <a:schemeClr val="dk1"/>
                </a:highlight>
              </a:rPr>
              <a:t>20%</a:t>
            </a:r>
            <a:r>
              <a:rPr lang="en" sz="3000">
                <a:solidFill>
                  <a:srgbClr val="CC4125"/>
                </a:solidFill>
              </a:rPr>
              <a:t> to </a:t>
            </a:r>
            <a:r>
              <a:rPr lang="en" sz="3000">
                <a:solidFill>
                  <a:schemeClr val="lt1"/>
                </a:solidFill>
                <a:highlight>
                  <a:schemeClr val="dk1"/>
                </a:highlight>
              </a:rPr>
              <a:t>10%</a:t>
            </a:r>
            <a:r>
              <a:rPr lang="en" sz="3000">
                <a:solidFill>
                  <a:srgbClr val="CC4125"/>
                </a:solidFill>
              </a:rPr>
              <a:t> by the end of 2028”</a:t>
            </a:r>
            <a:endParaRPr sz="3000">
              <a:solidFill>
                <a:srgbClr val="CC4125"/>
              </a:solidFill>
            </a:endParaRPr>
          </a:p>
        </p:txBody>
      </p:sp>
      <p:sp>
        <p:nvSpPr>
          <p:cNvPr id="476" name="Google Shape;476;p7"/>
          <p:cNvSpPr txBox="1"/>
          <p:nvPr>
            <p:ph idx="1" type="subTitle"/>
          </p:nvPr>
        </p:nvSpPr>
        <p:spPr>
          <a:xfrm>
            <a:off x="2314975" y="2966188"/>
            <a:ext cx="4499100" cy="80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“ To find the right method to decrease revenue loss from order cancelation by 10% in 3 years”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"/>
          <p:cNvSpPr txBox="1"/>
          <p:nvPr>
            <p:ph type="title"/>
          </p:nvPr>
        </p:nvSpPr>
        <p:spPr>
          <a:xfrm>
            <a:off x="1291500" y="2338425"/>
            <a:ext cx="4118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482" name="Google Shape;482;p8"/>
          <p:cNvSpPr txBox="1"/>
          <p:nvPr>
            <p:ph idx="1" type="subTitle"/>
          </p:nvPr>
        </p:nvSpPr>
        <p:spPr>
          <a:xfrm>
            <a:off x="1291500" y="3254325"/>
            <a:ext cx="38730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Project Workflow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9"/>
          <p:cNvSpPr txBox="1"/>
          <p:nvPr>
            <p:ph idx="1" type="subTitle"/>
          </p:nvPr>
        </p:nvSpPr>
        <p:spPr>
          <a:xfrm>
            <a:off x="707425" y="1336957"/>
            <a:ext cx="1992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4"/>
              <a:t>Understanding what is the business demand is and how to solve it</a:t>
            </a:r>
            <a:endParaRPr sz="1204"/>
          </a:p>
        </p:txBody>
      </p:sp>
      <p:sp>
        <p:nvSpPr>
          <p:cNvPr id="488" name="Google Shape;488;p9"/>
          <p:cNvSpPr txBox="1"/>
          <p:nvPr>
            <p:ph idx="2" type="subTitle"/>
          </p:nvPr>
        </p:nvSpPr>
        <p:spPr>
          <a:xfrm>
            <a:off x="3575689" y="1336957"/>
            <a:ext cx="1992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4"/>
              <a:t>Gathering relevant data from the database with additional data if required</a:t>
            </a:r>
            <a:endParaRPr sz="1204"/>
          </a:p>
        </p:txBody>
      </p:sp>
      <p:sp>
        <p:nvSpPr>
          <p:cNvPr id="489" name="Google Shape;489;p9"/>
          <p:cNvSpPr txBox="1"/>
          <p:nvPr>
            <p:ph idx="3" type="subTitle"/>
          </p:nvPr>
        </p:nvSpPr>
        <p:spPr>
          <a:xfrm>
            <a:off x="707425" y="3072838"/>
            <a:ext cx="1992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4"/>
              <a:t>Transfer insights and recommendation to the audience with proper manner</a:t>
            </a:r>
            <a:endParaRPr sz="1204"/>
          </a:p>
        </p:txBody>
      </p:sp>
      <p:sp>
        <p:nvSpPr>
          <p:cNvPr id="490" name="Google Shape;490;p9"/>
          <p:cNvSpPr txBox="1"/>
          <p:nvPr>
            <p:ph idx="4" type="subTitle"/>
          </p:nvPr>
        </p:nvSpPr>
        <p:spPr>
          <a:xfrm>
            <a:off x="3575688" y="3072838"/>
            <a:ext cx="1992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4"/>
              <a:t>Interpret and translate the data into visual to enhance acceptability using Tableau</a:t>
            </a:r>
            <a:endParaRPr sz="1204"/>
          </a:p>
        </p:txBody>
      </p:sp>
      <p:sp>
        <p:nvSpPr>
          <p:cNvPr id="491" name="Google Shape;491;p9"/>
          <p:cNvSpPr txBox="1"/>
          <p:nvPr>
            <p:ph idx="5" type="subTitle"/>
          </p:nvPr>
        </p:nvSpPr>
        <p:spPr>
          <a:xfrm>
            <a:off x="6443950" y="1336957"/>
            <a:ext cx="1992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4"/>
              <a:t>Cleaning  data using necessary tools such as Python and Spreadsheet to be analyze ready</a:t>
            </a:r>
            <a:endParaRPr sz="1204"/>
          </a:p>
        </p:txBody>
      </p:sp>
      <p:sp>
        <p:nvSpPr>
          <p:cNvPr id="492" name="Google Shape;492;p9"/>
          <p:cNvSpPr txBox="1"/>
          <p:nvPr>
            <p:ph idx="6" type="subTitle"/>
          </p:nvPr>
        </p:nvSpPr>
        <p:spPr>
          <a:xfrm>
            <a:off x="6443950" y="3072838"/>
            <a:ext cx="19926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204"/>
              <a:t>Generate insights from the findings in the data using the tools such as Python, Spreadsheet or Tableau</a:t>
            </a:r>
            <a:endParaRPr sz="1204"/>
          </a:p>
        </p:txBody>
      </p:sp>
      <p:sp>
        <p:nvSpPr>
          <p:cNvPr id="493" name="Google Shape;493;p9"/>
          <p:cNvSpPr txBox="1"/>
          <p:nvPr>
            <p:ph idx="7" type="subTitle"/>
          </p:nvPr>
        </p:nvSpPr>
        <p:spPr>
          <a:xfrm>
            <a:off x="711343" y="961850"/>
            <a:ext cx="1984500" cy="36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6"/>
              <a:t>Business Understanding</a:t>
            </a:r>
            <a:endParaRPr sz="1206"/>
          </a:p>
        </p:txBody>
      </p:sp>
      <p:sp>
        <p:nvSpPr>
          <p:cNvPr id="494" name="Google Shape;494;p9"/>
          <p:cNvSpPr txBox="1"/>
          <p:nvPr>
            <p:ph idx="8" type="subTitle"/>
          </p:nvPr>
        </p:nvSpPr>
        <p:spPr>
          <a:xfrm>
            <a:off x="3579604" y="961850"/>
            <a:ext cx="1984500" cy="36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/>
              <a:t>Data Collection</a:t>
            </a:r>
            <a:endParaRPr sz="1200"/>
          </a:p>
        </p:txBody>
      </p:sp>
      <p:sp>
        <p:nvSpPr>
          <p:cNvPr id="495" name="Google Shape;495;p9"/>
          <p:cNvSpPr txBox="1"/>
          <p:nvPr>
            <p:ph idx="9" type="subTitle"/>
          </p:nvPr>
        </p:nvSpPr>
        <p:spPr>
          <a:xfrm>
            <a:off x="6447861" y="961850"/>
            <a:ext cx="1984500" cy="36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/>
              <a:t>Data Cleaning</a:t>
            </a:r>
            <a:endParaRPr sz="1200"/>
          </a:p>
        </p:txBody>
      </p:sp>
      <p:sp>
        <p:nvSpPr>
          <p:cNvPr id="496" name="Google Shape;496;p9"/>
          <p:cNvSpPr txBox="1"/>
          <p:nvPr>
            <p:ph idx="13" type="subTitle"/>
          </p:nvPr>
        </p:nvSpPr>
        <p:spPr>
          <a:xfrm>
            <a:off x="711343" y="2694520"/>
            <a:ext cx="1984500" cy="36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/>
              <a:t>Data Communication</a:t>
            </a:r>
            <a:endParaRPr sz="1200"/>
          </a:p>
        </p:txBody>
      </p:sp>
      <p:sp>
        <p:nvSpPr>
          <p:cNvPr id="497" name="Google Shape;497;p9"/>
          <p:cNvSpPr txBox="1"/>
          <p:nvPr>
            <p:ph idx="14" type="subTitle"/>
          </p:nvPr>
        </p:nvSpPr>
        <p:spPr>
          <a:xfrm>
            <a:off x="3579604" y="2694520"/>
            <a:ext cx="1984500" cy="36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/>
              <a:t>Data Visualization</a:t>
            </a:r>
            <a:endParaRPr sz="1200"/>
          </a:p>
        </p:txBody>
      </p:sp>
      <p:sp>
        <p:nvSpPr>
          <p:cNvPr id="498" name="Google Shape;498;p9"/>
          <p:cNvSpPr txBox="1"/>
          <p:nvPr>
            <p:ph idx="15" type="subTitle"/>
          </p:nvPr>
        </p:nvSpPr>
        <p:spPr>
          <a:xfrm>
            <a:off x="6447861" y="2694520"/>
            <a:ext cx="1984500" cy="36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725" lIns="91725" spcFirstLastPara="1" rIns="91725" wrap="square" tIns="917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200"/>
              <a:t>Data Analysis</a:t>
            </a:r>
            <a:endParaRPr sz="1200"/>
          </a:p>
        </p:txBody>
      </p:sp>
      <p:cxnSp>
        <p:nvCxnSpPr>
          <p:cNvPr id="499" name="Google Shape;499;p9"/>
          <p:cNvCxnSpPr>
            <a:stCxn id="493" idx="3"/>
            <a:endCxn id="494" idx="1"/>
          </p:cNvCxnSpPr>
          <p:nvPr/>
        </p:nvCxnSpPr>
        <p:spPr>
          <a:xfrm>
            <a:off x="2695843" y="1145300"/>
            <a:ext cx="88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9"/>
          <p:cNvCxnSpPr>
            <a:stCxn id="494" idx="3"/>
            <a:endCxn id="495" idx="1"/>
          </p:cNvCxnSpPr>
          <p:nvPr/>
        </p:nvCxnSpPr>
        <p:spPr>
          <a:xfrm>
            <a:off x="5564104" y="1145300"/>
            <a:ext cx="88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9"/>
          <p:cNvCxnSpPr>
            <a:stCxn id="498" idx="1"/>
            <a:endCxn id="497" idx="3"/>
          </p:cNvCxnSpPr>
          <p:nvPr/>
        </p:nvCxnSpPr>
        <p:spPr>
          <a:xfrm rot="10800000">
            <a:off x="5564061" y="2877970"/>
            <a:ext cx="88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9"/>
          <p:cNvCxnSpPr>
            <a:stCxn id="497" idx="1"/>
            <a:endCxn id="496" idx="3"/>
          </p:cNvCxnSpPr>
          <p:nvPr/>
        </p:nvCxnSpPr>
        <p:spPr>
          <a:xfrm rot="10800000">
            <a:off x="2695804" y="2877970"/>
            <a:ext cx="8838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9"/>
          <p:cNvCxnSpPr>
            <a:stCxn id="495" idx="3"/>
            <a:endCxn id="498" idx="3"/>
          </p:cNvCxnSpPr>
          <p:nvPr/>
        </p:nvCxnSpPr>
        <p:spPr>
          <a:xfrm>
            <a:off x="8432361" y="1145300"/>
            <a:ext cx="600" cy="1732800"/>
          </a:xfrm>
          <a:prstGeom prst="bentConnector3">
            <a:avLst>
              <a:gd fmla="val 396875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"/>
          <p:cNvSpPr txBox="1"/>
          <p:nvPr>
            <p:ph type="title"/>
          </p:nvPr>
        </p:nvSpPr>
        <p:spPr>
          <a:xfrm>
            <a:off x="1291500" y="2338425"/>
            <a:ext cx="41184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Analysis Result</a:t>
            </a:r>
            <a:endParaRPr/>
          </a:p>
        </p:txBody>
      </p:sp>
      <p:sp>
        <p:nvSpPr>
          <p:cNvPr id="509" name="Google Shape;509;p10"/>
          <p:cNvSpPr txBox="1"/>
          <p:nvPr>
            <p:ph idx="1" type="subTitle"/>
          </p:nvPr>
        </p:nvSpPr>
        <p:spPr>
          <a:xfrm>
            <a:off x="1291500" y="3254325"/>
            <a:ext cx="38730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Discovering What Matters Most 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1"/>
          <p:cNvSpPr txBox="1"/>
          <p:nvPr/>
        </p:nvSpPr>
        <p:spPr>
          <a:xfrm>
            <a:off x="727050" y="822438"/>
            <a:ext cx="3862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Company </a:t>
            </a:r>
            <a:r>
              <a:rPr b="0" i="0" lang="en" sz="1900" u="none" cap="none" strike="noStrike">
                <a:solidFill>
                  <a:schemeClr val="lt1"/>
                </a:solidFill>
                <a:highlight>
                  <a:srgbClr val="CC4125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Consistently</a:t>
            </a: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Losing 1/5 Potential Revenue Each Quarter</a:t>
            </a:r>
            <a:endParaRPr b="0" i="0" sz="19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15" name="Google Shape;515;p11"/>
          <p:cNvSpPr txBox="1"/>
          <p:nvPr/>
        </p:nvSpPr>
        <p:spPr>
          <a:xfrm>
            <a:off x="763500" y="1492638"/>
            <a:ext cx="3826200" cy="28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3-year historical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cycle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shows we consistently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bleed 1/5 of our GMV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 systemic leak that will naturally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multiply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into unsustainable losses as platform volume hits a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forecasted ฿1.5 Billion </a:t>
            </a:r>
            <a:endParaRPr b="1" i="0" sz="11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:</a:t>
            </a:r>
            <a:endParaRPr b="0" i="0" sz="12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Consistently losing 1/5 of GMV suggests the current model is scaling </a:t>
            </a:r>
            <a:r>
              <a:rPr b="0" i="0" lang="en" sz="14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inefficiencies</a:t>
            </a:r>
            <a:r>
              <a:rPr b="0" i="0" lang="en" sz="14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rather than improving performance.</a:t>
            </a:r>
            <a:endParaRPr b="0" i="0" sz="14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516" name="Google Shape;516;p11"/>
          <p:cNvGrpSpPr/>
          <p:nvPr/>
        </p:nvGrpSpPr>
        <p:grpSpPr>
          <a:xfrm>
            <a:off x="4589850" y="822450"/>
            <a:ext cx="3826198" cy="3498600"/>
            <a:chOff x="4589850" y="822450"/>
            <a:chExt cx="3826198" cy="3498600"/>
          </a:xfrm>
        </p:grpSpPr>
        <p:pic>
          <p:nvPicPr>
            <p:cNvPr id="517" name="Google Shape;517;p11" title="Screenshot 2026-06-07 224447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589850" y="822450"/>
              <a:ext cx="3826198" cy="3498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18" name="Google Shape;518;p11"/>
            <p:cNvCxnSpPr/>
            <p:nvPr/>
          </p:nvCxnSpPr>
          <p:spPr>
            <a:xfrm flipH="1" rot="10800000">
              <a:off x="7247250" y="1184225"/>
              <a:ext cx="5400" cy="304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19" name="Google Shape;519;p11"/>
            <p:cNvCxnSpPr>
              <a:stCxn id="520" idx="1"/>
              <a:endCxn id="520" idx="3"/>
            </p:cNvCxnSpPr>
            <p:nvPr/>
          </p:nvCxnSpPr>
          <p:spPr>
            <a:xfrm>
              <a:off x="4854525" y="1255675"/>
              <a:ext cx="105000" cy="0"/>
            </a:xfrm>
            <a:prstGeom prst="straightConnector1">
              <a:avLst/>
            </a:prstGeom>
            <a:noFill/>
            <a:ln cap="flat" cmpd="sng" w="9525">
              <a:solidFill>
                <a:srgbClr val="A61C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1" name="Google Shape;521;p11"/>
            <p:cNvSpPr/>
            <p:nvPr/>
          </p:nvSpPr>
          <p:spPr>
            <a:xfrm>
              <a:off x="4854525" y="1010375"/>
              <a:ext cx="105000" cy="981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22" name="Google Shape;522;p11"/>
            <p:cNvSpPr/>
            <p:nvPr/>
          </p:nvSpPr>
          <p:spPr>
            <a:xfrm>
              <a:off x="4854525" y="1108488"/>
              <a:ext cx="105000" cy="98100"/>
            </a:xfrm>
            <a:prstGeom prst="rect">
              <a:avLst/>
            </a:prstGeom>
            <a:solidFill>
              <a:srgbClr val="F6B2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23" name="Google Shape;523;p11"/>
            <p:cNvSpPr txBox="1"/>
            <p:nvPr/>
          </p:nvSpPr>
          <p:spPr>
            <a:xfrm>
              <a:off x="4854525" y="1010400"/>
              <a:ext cx="1072200" cy="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121"/>
                  </a:solidFill>
                  <a:latin typeface="Raleway"/>
                  <a:ea typeface="Raleway"/>
                  <a:cs typeface="Raleway"/>
                  <a:sym typeface="Raleway"/>
                </a:rPr>
                <a:t>Completed Value</a:t>
              </a:r>
              <a:endParaRPr b="0" i="0" sz="500" u="none" cap="none" strike="noStrike">
                <a:solidFill>
                  <a:srgbClr val="21212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24" name="Google Shape;524;p11"/>
            <p:cNvSpPr txBox="1"/>
            <p:nvPr/>
          </p:nvSpPr>
          <p:spPr>
            <a:xfrm>
              <a:off x="4854525" y="1108500"/>
              <a:ext cx="1072200" cy="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121"/>
                  </a:solidFill>
                  <a:latin typeface="Raleway"/>
                  <a:ea typeface="Raleway"/>
                  <a:cs typeface="Raleway"/>
                  <a:sym typeface="Raleway"/>
                </a:rPr>
                <a:t>Canceled  Value</a:t>
              </a:r>
              <a:endParaRPr b="0" i="0" sz="500" u="none" cap="none" strike="noStrike">
                <a:solidFill>
                  <a:srgbClr val="21212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20" name="Google Shape;520;p11"/>
            <p:cNvSpPr txBox="1"/>
            <p:nvPr/>
          </p:nvSpPr>
          <p:spPr>
            <a:xfrm>
              <a:off x="4854525" y="1206625"/>
              <a:ext cx="105000" cy="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525" name="Google Shape;525;p11"/>
            <p:cNvSpPr txBox="1"/>
            <p:nvPr/>
          </p:nvSpPr>
          <p:spPr>
            <a:xfrm>
              <a:off x="4854525" y="1206625"/>
              <a:ext cx="1072200" cy="9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b="0" i="0" lang="en" sz="500" u="none" cap="none" strike="noStrike">
                  <a:solidFill>
                    <a:srgbClr val="212121"/>
                  </a:solidFill>
                  <a:latin typeface="Raleway"/>
                  <a:ea typeface="Raleway"/>
                  <a:cs typeface="Raleway"/>
                  <a:sym typeface="Raleway"/>
                </a:rPr>
                <a:t>Loss Trend</a:t>
              </a:r>
              <a:endParaRPr b="0" i="0" sz="500" u="none" cap="none" strike="noStrike">
                <a:solidFill>
                  <a:srgbClr val="212121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12" title="Screenshot 2026-06-07 21592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975" y="850475"/>
            <a:ext cx="1972625" cy="3498501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12"/>
          <p:cNvSpPr txBox="1"/>
          <p:nvPr/>
        </p:nvSpPr>
        <p:spPr>
          <a:xfrm>
            <a:off x="4613225" y="850488"/>
            <a:ext cx="3862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Customers Aged 20–40 Bears the </a:t>
            </a:r>
            <a:r>
              <a:rPr b="0" i="0" lang="en" sz="1900" u="none" cap="none" strike="noStrike">
                <a:solidFill>
                  <a:schemeClr val="lt1"/>
                </a:solidFill>
                <a:highlight>
                  <a:srgbClr val="CC4125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Heaviest</a:t>
            </a: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Financial Volume </a:t>
            </a:r>
            <a:endParaRPr b="0" i="0" sz="19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32" name="Google Shape;532;p12"/>
          <p:cNvSpPr txBox="1"/>
          <p:nvPr/>
        </p:nvSpPr>
        <p:spPr>
          <a:xfrm>
            <a:off x="4649675" y="1520688"/>
            <a:ext cx="3826200" cy="28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As our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primary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economic driver, the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20 &amp; 40 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demographic generates a massive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฿3.1 Billion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in overall GMV, which directly translates into our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largest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absolute financial leak of over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฿619 Million.</a:t>
            </a:r>
            <a:endParaRPr b="1" i="0" sz="11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:</a:t>
            </a:r>
            <a:endParaRPr b="0" i="0" sz="12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“The 20–40 age segment acts as our </a:t>
            </a:r>
            <a:r>
              <a:rPr b="0" i="0" lang="en" sz="14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core</a:t>
            </a:r>
            <a:r>
              <a:rPr b="0" i="0" lang="en" sz="14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transaction driver, which correlates to them holding the largest share of loss”</a:t>
            </a:r>
            <a:endParaRPr b="0" i="0" sz="14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33" name="Google Shape;533;p12" title="Screenshot 2026-06-07 21594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0600" y="850500"/>
            <a:ext cx="1972625" cy="34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13" title="Screenshot 2026-06-07 22015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1975" y="830838"/>
            <a:ext cx="3753376" cy="26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3"/>
          <p:cNvSpPr txBox="1"/>
          <p:nvPr/>
        </p:nvSpPr>
        <p:spPr>
          <a:xfrm>
            <a:off x="818663" y="804925"/>
            <a:ext cx="3753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Cancellation Value </a:t>
            </a:r>
            <a:r>
              <a:rPr b="0" i="0" lang="en" sz="1900" u="none" cap="none" strike="noStrike">
                <a:solidFill>
                  <a:schemeClr val="lt1"/>
                </a:solidFill>
                <a:highlight>
                  <a:srgbClr val="CC4125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Concentrates</a:t>
            </a: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in Bangkok Metropolitan Region</a:t>
            </a:r>
            <a:endParaRPr b="0" i="0" sz="19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40" name="Google Shape;540;p13"/>
          <p:cNvSpPr txBox="1"/>
          <p:nvPr/>
        </p:nvSpPr>
        <p:spPr>
          <a:xfrm>
            <a:off x="818663" y="1644586"/>
            <a:ext cx="37533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Bangkok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stands out as our largest single leak at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฿310.6 Million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—nearly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double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any other province—driving the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Bangkok Metropolitan Region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collective loss past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฿620 Million.</a:t>
            </a:r>
            <a:endParaRPr b="1" i="0" sz="11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:</a:t>
            </a:r>
            <a:endParaRPr b="0" i="0" sz="12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“The capital region emerges as the primary </a:t>
            </a:r>
            <a:r>
              <a:rPr b="0" i="0" lang="en" sz="1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hotspot</a:t>
            </a:r>
            <a:r>
              <a:rPr b="0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for cancellation risk”</a:t>
            </a:r>
            <a:endParaRPr b="0" i="0" sz="15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41" name="Google Shape;541;p13" title="Screenshot 2026-06-03 023517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1963" y="3431889"/>
            <a:ext cx="3753375" cy="906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4" title="Screenshot 2026-06-07 22085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713" y="744100"/>
            <a:ext cx="3753299" cy="20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7" name="Google Shape;547;p14" title="Screenshot 2026-06-03 02385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663" y="2797289"/>
            <a:ext cx="3753376" cy="152841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14"/>
          <p:cNvSpPr txBox="1"/>
          <p:nvPr/>
        </p:nvSpPr>
        <p:spPr>
          <a:xfrm>
            <a:off x="4572038" y="804925"/>
            <a:ext cx="3753300" cy="6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Home and Electronics </a:t>
            </a:r>
            <a:r>
              <a:rPr b="0" i="0" lang="en" sz="1900" u="none" cap="none" strike="noStrike">
                <a:solidFill>
                  <a:schemeClr val="lt1"/>
                </a:solidFill>
                <a:highlight>
                  <a:srgbClr val="CC4125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Anchor</a:t>
            </a:r>
            <a:r>
              <a:rPr b="0" i="0" lang="en" sz="19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96% of Total Cancelation Value</a:t>
            </a:r>
            <a:endParaRPr b="0" i="0" sz="19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49" name="Google Shape;549;p14"/>
          <p:cNvSpPr txBox="1"/>
          <p:nvPr/>
        </p:nvSpPr>
        <p:spPr>
          <a:xfrm>
            <a:off x="4572038" y="1644586"/>
            <a:ext cx="37533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Led by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Home at ฿508.2 Million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both the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Home and Electronics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categories </a:t>
            </a:r>
            <a:r>
              <a:rPr b="1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dictate</a:t>
            </a:r>
            <a:r>
              <a:rPr b="0" i="0" lang="en" sz="11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our financial leakage as their cancellation values scale symmetrically with their massive sales volumes.</a:t>
            </a:r>
            <a:endParaRPr b="0" i="0" sz="11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:</a:t>
            </a:r>
            <a:endParaRPr b="0" i="0" sz="12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“Cancellations is highly centralized, with Home and Electronics alone capturing nearly the </a:t>
            </a:r>
            <a:r>
              <a:rPr b="0" i="0" lang="en" sz="1500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entire</a:t>
            </a:r>
            <a:r>
              <a:rPr b="0" i="0" lang="en" sz="1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wasted Value</a:t>
            </a:r>
            <a:endParaRPr b="0" i="0" sz="15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5"/>
          <p:cNvSpPr txBox="1"/>
          <p:nvPr/>
        </p:nvSpPr>
        <p:spPr>
          <a:xfrm>
            <a:off x="662812" y="855675"/>
            <a:ext cx="3658800" cy="6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125" lIns="89125" spcFirstLastPara="1" rIns="89125" wrap="square" tIns="8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CC4125"/>
                </a:solidFill>
                <a:highlight>
                  <a:schemeClr val="lt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Cancellation Value Centers </a:t>
            </a:r>
            <a:r>
              <a:rPr b="0" i="0" lang="en" sz="1900" u="none" cap="none" strike="noStrike">
                <a:solidFill>
                  <a:schemeClr val="lt1"/>
                </a:solidFill>
                <a:highlight>
                  <a:srgbClr val="CC4125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Symmetrically</a:t>
            </a:r>
            <a:r>
              <a:rPr b="0" i="0" lang="en" sz="1900" u="none" cap="none" strike="noStrike">
                <a:solidFill>
                  <a:srgbClr val="CC4125"/>
                </a:solidFill>
                <a:highlight>
                  <a:schemeClr val="lt1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 at ฿200 </a:t>
            </a:r>
            <a:endParaRPr b="0" i="0" sz="1900" u="none" cap="none" strike="noStrike">
              <a:solidFill>
                <a:srgbClr val="CC4125"/>
              </a:solidFill>
              <a:highlight>
                <a:schemeClr val="lt1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555" name="Google Shape;555;p15"/>
          <p:cNvSpPr txBox="1"/>
          <p:nvPr/>
        </p:nvSpPr>
        <p:spPr>
          <a:xfrm>
            <a:off x="662800" y="1661629"/>
            <a:ext cx="3658800" cy="26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125" lIns="89125" spcFirstLastPara="1" rIns="89125" wrap="square" tIns="89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72"/>
              <a:buFont typeface="Arial"/>
              <a:buNone/>
            </a:pPr>
            <a:r>
              <a:rPr b="0" i="0" lang="en" sz="107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Cancellation value closely tracks order </a:t>
            </a:r>
            <a:r>
              <a:rPr b="1" i="0" lang="en" sz="107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volume</a:t>
            </a:r>
            <a:r>
              <a:rPr b="0" i="0" lang="en" sz="107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peaking at </a:t>
            </a:r>
            <a:r>
              <a:rPr b="1" i="0" lang="en" sz="107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฿170 M within the ฿200 shipping fee tier</a:t>
            </a:r>
            <a:r>
              <a:rPr b="0" i="0" lang="en" sz="107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and remaining stable even above ฿400, suggesting </a:t>
            </a:r>
            <a:r>
              <a:rPr b="1" i="0" lang="en" sz="107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limited</a:t>
            </a:r>
            <a:r>
              <a:rPr b="0" i="0" lang="en" sz="107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sensitivity to delivery costs.”</a:t>
            </a:r>
            <a:endParaRPr b="0" i="0" sz="107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None/>
            </a:pPr>
            <a:r>
              <a:t/>
            </a:r>
            <a:endParaRPr b="0" i="0" sz="117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None/>
            </a:pPr>
            <a:r>
              <a:rPr b="0" i="0" lang="en" sz="117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 :</a:t>
            </a:r>
            <a:endParaRPr b="0" i="0" sz="117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0"/>
              <a:buFont typeface="Arial"/>
              <a:buNone/>
            </a:pPr>
            <a:r>
              <a:t/>
            </a:r>
            <a:endParaRPr b="0" i="0" sz="117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2"/>
              <a:buFont typeface="Arial"/>
              <a:buNone/>
            </a:pPr>
            <a:r>
              <a:rPr b="0" i="0" lang="en" sz="146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"Cancelation Value is baseline-driven, showing zero</a:t>
            </a:r>
            <a:r>
              <a:rPr b="0" i="0" lang="en" sz="1462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b="0" i="0" lang="en" sz="1462" u="none" cap="none" strike="noStrike">
                <a:solidFill>
                  <a:schemeClr val="lt1"/>
                </a:solidFill>
                <a:highlight>
                  <a:schemeClr val="dk1"/>
                </a:highlight>
                <a:latin typeface="Raleway"/>
                <a:ea typeface="Raleway"/>
                <a:cs typeface="Raleway"/>
                <a:sym typeface="Raleway"/>
              </a:rPr>
              <a:t>friction</a:t>
            </a:r>
            <a:r>
              <a:rPr b="0" i="0" lang="en" sz="146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from delivery costs."</a:t>
            </a:r>
            <a:endParaRPr b="0" i="0" sz="146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556" name="Google Shape;556;p15"/>
          <p:cNvGrpSpPr/>
          <p:nvPr/>
        </p:nvGrpSpPr>
        <p:grpSpPr>
          <a:xfrm>
            <a:off x="4321599" y="855675"/>
            <a:ext cx="4159674" cy="3432050"/>
            <a:chOff x="4321599" y="855675"/>
            <a:chExt cx="4159674" cy="3432050"/>
          </a:xfrm>
        </p:grpSpPr>
        <p:pic>
          <p:nvPicPr>
            <p:cNvPr id="557" name="Google Shape;557;p15" title="Screenshot 2026-06-07 221039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321599" y="855675"/>
              <a:ext cx="4159674" cy="3432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5" title="Screenshot 2026-06-07 221050.pn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662375" y="1131300"/>
              <a:ext cx="1447800" cy="371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6"/>
          <p:cNvSpPr/>
          <p:nvPr/>
        </p:nvSpPr>
        <p:spPr>
          <a:xfrm>
            <a:off x="2210988" y="1552738"/>
            <a:ext cx="636900" cy="636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6"/>
          <p:cNvSpPr/>
          <p:nvPr/>
        </p:nvSpPr>
        <p:spPr>
          <a:xfrm>
            <a:off x="4757713" y="1552738"/>
            <a:ext cx="636900" cy="636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rgbClr val="CC4125"/>
                </a:solidFill>
              </a:rPr>
              <a:t>What the Data</a:t>
            </a:r>
            <a:r>
              <a:rPr lang="en">
                <a:solidFill>
                  <a:srgbClr val="CC4125"/>
                </a:solidFill>
                <a:highlight>
                  <a:schemeClr val="lt1"/>
                </a:highlight>
              </a:rPr>
              <a:t> </a:t>
            </a:r>
            <a:r>
              <a:rPr lang="en">
                <a:solidFill>
                  <a:schemeClr val="lt1"/>
                </a:solidFill>
                <a:highlight>
                  <a:srgbClr val="CC4125"/>
                </a:highlight>
              </a:rPr>
              <a:t>Reveals</a:t>
            </a:r>
            <a:endParaRPr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sp>
        <p:nvSpPr>
          <p:cNvPr id="566" name="Google Shape;566;p16"/>
          <p:cNvSpPr txBox="1"/>
          <p:nvPr>
            <p:ph idx="1" type="subTitle"/>
          </p:nvPr>
        </p:nvSpPr>
        <p:spPr>
          <a:xfrm>
            <a:off x="2210988" y="2773452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“Cancellations Value simply track our revenue. The more we sell in a specific segment, the more money we lose there”</a:t>
            </a:r>
            <a:endParaRPr b="1"/>
          </a:p>
        </p:txBody>
      </p:sp>
      <p:sp>
        <p:nvSpPr>
          <p:cNvPr id="567" name="Google Shape;567;p16"/>
          <p:cNvSpPr txBox="1"/>
          <p:nvPr>
            <p:ph idx="2" type="subTitle"/>
          </p:nvPr>
        </p:nvSpPr>
        <p:spPr>
          <a:xfrm>
            <a:off x="4757712" y="2773452"/>
            <a:ext cx="2175300" cy="15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“The Cancellation Value is consistent at 20% across the board. It does not shift, no matter how we slice the data”</a:t>
            </a:r>
            <a:endParaRPr b="1"/>
          </a:p>
        </p:txBody>
      </p:sp>
      <p:sp>
        <p:nvSpPr>
          <p:cNvPr id="568" name="Google Shape;568;p16"/>
          <p:cNvSpPr txBox="1"/>
          <p:nvPr>
            <p:ph idx="4" type="subTitle"/>
          </p:nvPr>
        </p:nvSpPr>
        <p:spPr>
          <a:xfrm>
            <a:off x="2210988" y="2265841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Volume Driven</a:t>
            </a:r>
            <a:endParaRPr/>
          </a:p>
        </p:txBody>
      </p:sp>
      <p:sp>
        <p:nvSpPr>
          <p:cNvPr id="569" name="Google Shape;569;p16"/>
          <p:cNvSpPr txBox="1"/>
          <p:nvPr>
            <p:ph idx="5" type="subTitle"/>
          </p:nvPr>
        </p:nvSpPr>
        <p:spPr>
          <a:xfrm>
            <a:off x="4757713" y="2265841"/>
            <a:ext cx="21753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20% Baseline</a:t>
            </a:r>
            <a:endParaRPr/>
          </a:p>
        </p:txBody>
      </p:sp>
      <p:grpSp>
        <p:nvGrpSpPr>
          <p:cNvPr id="570" name="Google Shape;570;p16"/>
          <p:cNvGrpSpPr/>
          <p:nvPr/>
        </p:nvGrpSpPr>
        <p:grpSpPr>
          <a:xfrm>
            <a:off x="2306140" y="1647985"/>
            <a:ext cx="446621" cy="446429"/>
            <a:chOff x="2732990" y="1899748"/>
            <a:chExt cx="446621" cy="446429"/>
          </a:xfrm>
        </p:grpSpPr>
        <p:sp>
          <p:nvSpPr>
            <p:cNvPr id="571" name="Google Shape;571;p16"/>
            <p:cNvSpPr/>
            <p:nvPr/>
          </p:nvSpPr>
          <p:spPr>
            <a:xfrm>
              <a:off x="2733028" y="1934502"/>
              <a:ext cx="446583" cy="411675"/>
            </a:xfrm>
            <a:custGeom>
              <a:rect b="b" l="l" r="r" t="t"/>
              <a:pathLst>
                <a:path extrusionOk="0" h="10720" w="11629">
                  <a:moveTo>
                    <a:pt x="8380" y="6950"/>
                  </a:moveTo>
                  <a:lnTo>
                    <a:pt x="8380" y="10266"/>
                  </a:lnTo>
                  <a:lnTo>
                    <a:pt x="7471" y="10266"/>
                  </a:lnTo>
                  <a:lnTo>
                    <a:pt x="7471" y="6950"/>
                  </a:lnTo>
                  <a:close/>
                  <a:moveTo>
                    <a:pt x="11172" y="5135"/>
                  </a:moveTo>
                  <a:lnTo>
                    <a:pt x="11172" y="10266"/>
                  </a:lnTo>
                  <a:lnTo>
                    <a:pt x="10264" y="10266"/>
                  </a:lnTo>
                  <a:lnTo>
                    <a:pt x="10264" y="5135"/>
                  </a:lnTo>
                  <a:close/>
                  <a:moveTo>
                    <a:pt x="2793" y="8768"/>
                  </a:moveTo>
                  <a:lnTo>
                    <a:pt x="2793" y="10268"/>
                  </a:lnTo>
                  <a:lnTo>
                    <a:pt x="1884" y="10268"/>
                  </a:lnTo>
                  <a:lnTo>
                    <a:pt x="1884" y="8768"/>
                  </a:lnTo>
                  <a:close/>
                  <a:moveTo>
                    <a:pt x="5587" y="6043"/>
                  </a:moveTo>
                  <a:lnTo>
                    <a:pt x="5587" y="10268"/>
                  </a:lnTo>
                  <a:lnTo>
                    <a:pt x="4677" y="10268"/>
                  </a:lnTo>
                  <a:lnTo>
                    <a:pt x="4677" y="6043"/>
                  </a:lnTo>
                  <a:close/>
                  <a:moveTo>
                    <a:pt x="228" y="1"/>
                  </a:moveTo>
                  <a:cubicBezTo>
                    <a:pt x="102" y="1"/>
                    <a:pt x="1" y="103"/>
                    <a:pt x="1" y="228"/>
                  </a:cubicBezTo>
                  <a:lnTo>
                    <a:pt x="1" y="10492"/>
                  </a:lnTo>
                  <a:cubicBezTo>
                    <a:pt x="1" y="10619"/>
                    <a:pt x="104" y="10720"/>
                    <a:pt x="228" y="10720"/>
                  </a:cubicBezTo>
                  <a:lnTo>
                    <a:pt x="11401" y="10720"/>
                  </a:lnTo>
                  <a:cubicBezTo>
                    <a:pt x="11519" y="10720"/>
                    <a:pt x="11618" y="10627"/>
                    <a:pt x="11627" y="10510"/>
                  </a:cubicBezTo>
                  <a:cubicBezTo>
                    <a:pt x="11628" y="10501"/>
                    <a:pt x="11628" y="10491"/>
                    <a:pt x="11628" y="10482"/>
                  </a:cubicBezTo>
                  <a:lnTo>
                    <a:pt x="11628" y="4905"/>
                  </a:lnTo>
                  <a:cubicBezTo>
                    <a:pt x="11628" y="4780"/>
                    <a:pt x="11527" y="4678"/>
                    <a:pt x="11402" y="4678"/>
                  </a:cubicBezTo>
                  <a:lnTo>
                    <a:pt x="10039" y="4678"/>
                  </a:lnTo>
                  <a:cubicBezTo>
                    <a:pt x="9913" y="4678"/>
                    <a:pt x="9812" y="4781"/>
                    <a:pt x="9812" y="4905"/>
                  </a:cubicBezTo>
                  <a:lnTo>
                    <a:pt x="9812" y="10265"/>
                  </a:lnTo>
                  <a:lnTo>
                    <a:pt x="8835" y="10265"/>
                  </a:lnTo>
                  <a:lnTo>
                    <a:pt x="8835" y="6723"/>
                  </a:lnTo>
                  <a:cubicBezTo>
                    <a:pt x="8835" y="6597"/>
                    <a:pt x="8733" y="6496"/>
                    <a:pt x="8609" y="6496"/>
                  </a:cubicBezTo>
                  <a:lnTo>
                    <a:pt x="7245" y="6496"/>
                  </a:lnTo>
                  <a:cubicBezTo>
                    <a:pt x="7119" y="6496"/>
                    <a:pt x="7019" y="6598"/>
                    <a:pt x="7019" y="6723"/>
                  </a:cubicBezTo>
                  <a:lnTo>
                    <a:pt x="7019" y="10265"/>
                  </a:lnTo>
                  <a:lnTo>
                    <a:pt x="6042" y="10265"/>
                  </a:lnTo>
                  <a:lnTo>
                    <a:pt x="6042" y="5814"/>
                  </a:lnTo>
                  <a:cubicBezTo>
                    <a:pt x="6042" y="5688"/>
                    <a:pt x="5940" y="5587"/>
                    <a:pt x="5815" y="5587"/>
                  </a:cubicBezTo>
                  <a:lnTo>
                    <a:pt x="4451" y="5587"/>
                  </a:lnTo>
                  <a:cubicBezTo>
                    <a:pt x="4325" y="5587"/>
                    <a:pt x="4225" y="5690"/>
                    <a:pt x="4225" y="5814"/>
                  </a:cubicBezTo>
                  <a:lnTo>
                    <a:pt x="4225" y="10265"/>
                  </a:lnTo>
                  <a:lnTo>
                    <a:pt x="3246" y="10265"/>
                  </a:lnTo>
                  <a:lnTo>
                    <a:pt x="3246" y="8538"/>
                  </a:lnTo>
                  <a:cubicBezTo>
                    <a:pt x="3246" y="8413"/>
                    <a:pt x="3145" y="8312"/>
                    <a:pt x="3020" y="8312"/>
                  </a:cubicBezTo>
                  <a:lnTo>
                    <a:pt x="1656" y="8312"/>
                  </a:lnTo>
                  <a:cubicBezTo>
                    <a:pt x="1530" y="8312"/>
                    <a:pt x="1430" y="8415"/>
                    <a:pt x="1430" y="8538"/>
                  </a:cubicBezTo>
                  <a:lnTo>
                    <a:pt x="1430" y="10265"/>
                  </a:lnTo>
                  <a:lnTo>
                    <a:pt x="453" y="10265"/>
                  </a:lnTo>
                  <a:lnTo>
                    <a:pt x="453" y="7723"/>
                  </a:lnTo>
                  <a:lnTo>
                    <a:pt x="5351" y="3388"/>
                  </a:lnTo>
                  <a:lnTo>
                    <a:pt x="7538" y="5513"/>
                  </a:lnTo>
                  <a:cubicBezTo>
                    <a:pt x="7582" y="5555"/>
                    <a:pt x="7639" y="5576"/>
                    <a:pt x="7696" y="5576"/>
                  </a:cubicBezTo>
                  <a:cubicBezTo>
                    <a:pt x="7754" y="5576"/>
                    <a:pt x="7811" y="5555"/>
                    <a:pt x="7856" y="5511"/>
                  </a:cubicBezTo>
                  <a:lnTo>
                    <a:pt x="11171" y="2265"/>
                  </a:lnTo>
                  <a:lnTo>
                    <a:pt x="11171" y="2624"/>
                  </a:lnTo>
                  <a:cubicBezTo>
                    <a:pt x="11171" y="2749"/>
                    <a:pt x="11273" y="2850"/>
                    <a:pt x="11398" y="2850"/>
                  </a:cubicBezTo>
                  <a:cubicBezTo>
                    <a:pt x="11523" y="2850"/>
                    <a:pt x="11624" y="2748"/>
                    <a:pt x="11624" y="2624"/>
                  </a:cubicBezTo>
                  <a:lnTo>
                    <a:pt x="11624" y="1726"/>
                  </a:lnTo>
                  <a:cubicBezTo>
                    <a:pt x="11627" y="1604"/>
                    <a:pt x="11527" y="1502"/>
                    <a:pt x="11401" y="1501"/>
                  </a:cubicBezTo>
                  <a:lnTo>
                    <a:pt x="10491" y="1501"/>
                  </a:lnTo>
                  <a:cubicBezTo>
                    <a:pt x="10366" y="1501"/>
                    <a:pt x="10265" y="1602"/>
                    <a:pt x="10265" y="1727"/>
                  </a:cubicBezTo>
                  <a:cubicBezTo>
                    <a:pt x="10265" y="1853"/>
                    <a:pt x="10368" y="1953"/>
                    <a:pt x="10491" y="1953"/>
                  </a:cubicBezTo>
                  <a:lnTo>
                    <a:pt x="10845" y="1953"/>
                  </a:lnTo>
                  <a:lnTo>
                    <a:pt x="7699" y="5033"/>
                  </a:lnTo>
                  <a:lnTo>
                    <a:pt x="5519" y="2917"/>
                  </a:lnTo>
                  <a:cubicBezTo>
                    <a:pt x="5475" y="2875"/>
                    <a:pt x="5417" y="2853"/>
                    <a:pt x="5360" y="2853"/>
                  </a:cubicBezTo>
                  <a:cubicBezTo>
                    <a:pt x="5306" y="2853"/>
                    <a:pt x="5252" y="2872"/>
                    <a:pt x="5209" y="2910"/>
                  </a:cubicBezTo>
                  <a:lnTo>
                    <a:pt x="454" y="7117"/>
                  </a:lnTo>
                  <a:lnTo>
                    <a:pt x="454" y="228"/>
                  </a:lnTo>
                  <a:cubicBezTo>
                    <a:pt x="454" y="102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6"/>
            <p:cNvSpPr/>
            <p:nvPr/>
          </p:nvSpPr>
          <p:spPr>
            <a:xfrm>
              <a:off x="2732990" y="1899748"/>
              <a:ext cx="17473" cy="17396"/>
            </a:xfrm>
            <a:custGeom>
              <a:rect b="b" l="l" r="r" t="t"/>
              <a:pathLst>
                <a:path extrusionOk="0" h="453" w="455">
                  <a:moveTo>
                    <a:pt x="227" y="0"/>
                  </a:moveTo>
                  <a:cubicBezTo>
                    <a:pt x="101" y="0"/>
                    <a:pt x="1" y="102"/>
                    <a:pt x="1" y="227"/>
                  </a:cubicBezTo>
                  <a:cubicBezTo>
                    <a:pt x="1" y="351"/>
                    <a:pt x="102" y="453"/>
                    <a:pt x="227" y="453"/>
                  </a:cubicBezTo>
                  <a:cubicBezTo>
                    <a:pt x="354" y="453"/>
                    <a:pt x="454" y="351"/>
                    <a:pt x="454" y="227"/>
                  </a:cubicBezTo>
                  <a:cubicBezTo>
                    <a:pt x="454" y="101"/>
                    <a:pt x="352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16"/>
          <p:cNvGrpSpPr/>
          <p:nvPr/>
        </p:nvGrpSpPr>
        <p:grpSpPr>
          <a:xfrm>
            <a:off x="4852914" y="1647948"/>
            <a:ext cx="446506" cy="446506"/>
            <a:chOff x="6962539" y="3295448"/>
            <a:chExt cx="446506" cy="446506"/>
          </a:xfrm>
        </p:grpSpPr>
        <p:sp>
          <p:nvSpPr>
            <p:cNvPr id="574" name="Google Shape;574;p16"/>
            <p:cNvSpPr/>
            <p:nvPr/>
          </p:nvSpPr>
          <p:spPr>
            <a:xfrm>
              <a:off x="6962539" y="3295448"/>
              <a:ext cx="446506" cy="446506"/>
            </a:xfrm>
            <a:custGeom>
              <a:rect b="b" l="l" r="r" t="t"/>
              <a:pathLst>
                <a:path extrusionOk="0" h="11627" w="11627">
                  <a:moveTo>
                    <a:pt x="3088" y="1272"/>
                  </a:moveTo>
                  <a:cubicBezTo>
                    <a:pt x="3337" y="1272"/>
                    <a:pt x="3541" y="1477"/>
                    <a:pt x="3541" y="1727"/>
                  </a:cubicBezTo>
                  <a:cubicBezTo>
                    <a:pt x="3541" y="1978"/>
                    <a:pt x="3337" y="2182"/>
                    <a:pt x="3088" y="2182"/>
                  </a:cubicBezTo>
                  <a:cubicBezTo>
                    <a:pt x="2837" y="2182"/>
                    <a:pt x="2633" y="1978"/>
                    <a:pt x="2633" y="1727"/>
                  </a:cubicBezTo>
                  <a:cubicBezTo>
                    <a:pt x="2633" y="1477"/>
                    <a:pt x="2837" y="1272"/>
                    <a:pt x="3088" y="1272"/>
                  </a:cubicBezTo>
                  <a:close/>
                  <a:moveTo>
                    <a:pt x="4451" y="1272"/>
                  </a:moveTo>
                  <a:cubicBezTo>
                    <a:pt x="4701" y="1272"/>
                    <a:pt x="4905" y="1477"/>
                    <a:pt x="4905" y="1727"/>
                  </a:cubicBezTo>
                  <a:cubicBezTo>
                    <a:pt x="4905" y="1978"/>
                    <a:pt x="4701" y="2182"/>
                    <a:pt x="4451" y="2182"/>
                  </a:cubicBezTo>
                  <a:cubicBezTo>
                    <a:pt x="4200" y="2182"/>
                    <a:pt x="3996" y="1978"/>
                    <a:pt x="3996" y="1727"/>
                  </a:cubicBezTo>
                  <a:cubicBezTo>
                    <a:pt x="3996" y="1477"/>
                    <a:pt x="4199" y="1272"/>
                    <a:pt x="4451" y="1272"/>
                  </a:cubicBezTo>
                  <a:close/>
                  <a:moveTo>
                    <a:pt x="5813" y="1272"/>
                  </a:moveTo>
                  <a:cubicBezTo>
                    <a:pt x="6063" y="1272"/>
                    <a:pt x="6267" y="1477"/>
                    <a:pt x="6267" y="1727"/>
                  </a:cubicBezTo>
                  <a:cubicBezTo>
                    <a:pt x="6267" y="1978"/>
                    <a:pt x="6063" y="2182"/>
                    <a:pt x="5813" y="2182"/>
                  </a:cubicBezTo>
                  <a:cubicBezTo>
                    <a:pt x="5562" y="2182"/>
                    <a:pt x="5358" y="1978"/>
                    <a:pt x="5358" y="1727"/>
                  </a:cubicBezTo>
                  <a:cubicBezTo>
                    <a:pt x="5358" y="1477"/>
                    <a:pt x="5562" y="1272"/>
                    <a:pt x="5813" y="1272"/>
                  </a:cubicBezTo>
                  <a:close/>
                  <a:moveTo>
                    <a:pt x="10262" y="1954"/>
                  </a:moveTo>
                  <a:lnTo>
                    <a:pt x="10262" y="4226"/>
                  </a:lnTo>
                  <a:lnTo>
                    <a:pt x="9416" y="4226"/>
                  </a:lnTo>
                  <a:cubicBezTo>
                    <a:pt x="9316" y="3834"/>
                    <a:pt x="8960" y="3545"/>
                    <a:pt x="8536" y="3545"/>
                  </a:cubicBezTo>
                  <a:cubicBezTo>
                    <a:pt x="8113" y="3545"/>
                    <a:pt x="7757" y="3834"/>
                    <a:pt x="7656" y="4226"/>
                  </a:cubicBezTo>
                  <a:lnTo>
                    <a:pt x="6689" y="4226"/>
                  </a:lnTo>
                  <a:cubicBezTo>
                    <a:pt x="6589" y="3834"/>
                    <a:pt x="6233" y="3545"/>
                    <a:pt x="5809" y="3545"/>
                  </a:cubicBezTo>
                  <a:cubicBezTo>
                    <a:pt x="5539" y="3545"/>
                    <a:pt x="5295" y="3663"/>
                    <a:pt x="5129" y="3854"/>
                  </a:cubicBezTo>
                  <a:cubicBezTo>
                    <a:pt x="4963" y="3665"/>
                    <a:pt x="4719" y="3545"/>
                    <a:pt x="4448" y="3545"/>
                  </a:cubicBezTo>
                  <a:cubicBezTo>
                    <a:pt x="4025" y="3545"/>
                    <a:pt x="3669" y="3834"/>
                    <a:pt x="3568" y="4226"/>
                  </a:cubicBezTo>
                  <a:lnTo>
                    <a:pt x="1358" y="4226"/>
                  </a:lnTo>
                  <a:lnTo>
                    <a:pt x="1358" y="1954"/>
                  </a:lnTo>
                  <a:lnTo>
                    <a:pt x="2208" y="1954"/>
                  </a:lnTo>
                  <a:cubicBezTo>
                    <a:pt x="2308" y="2346"/>
                    <a:pt x="2665" y="2635"/>
                    <a:pt x="3088" y="2635"/>
                  </a:cubicBezTo>
                  <a:cubicBezTo>
                    <a:pt x="3358" y="2635"/>
                    <a:pt x="3602" y="2516"/>
                    <a:pt x="3769" y="2326"/>
                  </a:cubicBezTo>
                  <a:cubicBezTo>
                    <a:pt x="3934" y="2515"/>
                    <a:pt x="4178" y="2635"/>
                    <a:pt x="4450" y="2635"/>
                  </a:cubicBezTo>
                  <a:cubicBezTo>
                    <a:pt x="4720" y="2635"/>
                    <a:pt x="4964" y="2516"/>
                    <a:pt x="5131" y="2326"/>
                  </a:cubicBezTo>
                  <a:cubicBezTo>
                    <a:pt x="5296" y="2515"/>
                    <a:pt x="5540" y="2635"/>
                    <a:pt x="5812" y="2635"/>
                  </a:cubicBezTo>
                  <a:cubicBezTo>
                    <a:pt x="6234" y="2635"/>
                    <a:pt x="6590" y="2346"/>
                    <a:pt x="6692" y="1954"/>
                  </a:cubicBezTo>
                  <a:close/>
                  <a:moveTo>
                    <a:pt x="4451" y="3997"/>
                  </a:moveTo>
                  <a:cubicBezTo>
                    <a:pt x="4701" y="3997"/>
                    <a:pt x="4905" y="4202"/>
                    <a:pt x="4905" y="4452"/>
                  </a:cubicBezTo>
                  <a:cubicBezTo>
                    <a:pt x="4905" y="4702"/>
                    <a:pt x="4701" y="4907"/>
                    <a:pt x="4451" y="4907"/>
                  </a:cubicBezTo>
                  <a:cubicBezTo>
                    <a:pt x="4199" y="4907"/>
                    <a:pt x="3996" y="4702"/>
                    <a:pt x="3996" y="4452"/>
                  </a:cubicBezTo>
                  <a:cubicBezTo>
                    <a:pt x="3996" y="4202"/>
                    <a:pt x="4200" y="3997"/>
                    <a:pt x="4451" y="3997"/>
                  </a:cubicBezTo>
                  <a:close/>
                  <a:moveTo>
                    <a:pt x="5813" y="3997"/>
                  </a:moveTo>
                  <a:cubicBezTo>
                    <a:pt x="6063" y="3997"/>
                    <a:pt x="6267" y="4202"/>
                    <a:pt x="6267" y="4452"/>
                  </a:cubicBezTo>
                  <a:cubicBezTo>
                    <a:pt x="6267" y="4702"/>
                    <a:pt x="6063" y="4907"/>
                    <a:pt x="5813" y="4907"/>
                  </a:cubicBezTo>
                  <a:cubicBezTo>
                    <a:pt x="5562" y="4907"/>
                    <a:pt x="5358" y="4702"/>
                    <a:pt x="5358" y="4452"/>
                  </a:cubicBezTo>
                  <a:cubicBezTo>
                    <a:pt x="5358" y="4202"/>
                    <a:pt x="5562" y="3997"/>
                    <a:pt x="5813" y="3997"/>
                  </a:cubicBezTo>
                  <a:close/>
                  <a:moveTo>
                    <a:pt x="8537" y="3997"/>
                  </a:moveTo>
                  <a:cubicBezTo>
                    <a:pt x="8788" y="3997"/>
                    <a:pt x="8992" y="4202"/>
                    <a:pt x="8992" y="4452"/>
                  </a:cubicBezTo>
                  <a:cubicBezTo>
                    <a:pt x="8992" y="4702"/>
                    <a:pt x="8788" y="4907"/>
                    <a:pt x="8537" y="4907"/>
                  </a:cubicBezTo>
                  <a:cubicBezTo>
                    <a:pt x="8287" y="4907"/>
                    <a:pt x="8083" y="4702"/>
                    <a:pt x="8083" y="4452"/>
                  </a:cubicBezTo>
                  <a:cubicBezTo>
                    <a:pt x="8083" y="4202"/>
                    <a:pt x="8287" y="3997"/>
                    <a:pt x="8537" y="3997"/>
                  </a:cubicBezTo>
                  <a:close/>
                  <a:moveTo>
                    <a:pt x="10265" y="4680"/>
                  </a:moveTo>
                  <a:lnTo>
                    <a:pt x="10265" y="6950"/>
                  </a:lnTo>
                  <a:lnTo>
                    <a:pt x="8056" y="6950"/>
                  </a:lnTo>
                  <a:cubicBezTo>
                    <a:pt x="7955" y="6559"/>
                    <a:pt x="7599" y="6270"/>
                    <a:pt x="7176" y="6270"/>
                  </a:cubicBezTo>
                  <a:cubicBezTo>
                    <a:pt x="6904" y="6270"/>
                    <a:pt x="6661" y="6389"/>
                    <a:pt x="6495" y="6579"/>
                  </a:cubicBezTo>
                  <a:cubicBezTo>
                    <a:pt x="6328" y="6390"/>
                    <a:pt x="6085" y="6270"/>
                    <a:pt x="5814" y="6270"/>
                  </a:cubicBezTo>
                  <a:cubicBezTo>
                    <a:pt x="5542" y="6270"/>
                    <a:pt x="5299" y="6389"/>
                    <a:pt x="5133" y="6579"/>
                  </a:cubicBezTo>
                  <a:cubicBezTo>
                    <a:pt x="4966" y="6390"/>
                    <a:pt x="4723" y="6270"/>
                    <a:pt x="4452" y="6270"/>
                  </a:cubicBezTo>
                  <a:cubicBezTo>
                    <a:pt x="4029" y="6270"/>
                    <a:pt x="3672" y="6559"/>
                    <a:pt x="3572" y="6950"/>
                  </a:cubicBezTo>
                  <a:lnTo>
                    <a:pt x="1362" y="6950"/>
                  </a:lnTo>
                  <a:lnTo>
                    <a:pt x="1362" y="4680"/>
                  </a:lnTo>
                  <a:lnTo>
                    <a:pt x="3571" y="4680"/>
                  </a:lnTo>
                  <a:cubicBezTo>
                    <a:pt x="3671" y="5071"/>
                    <a:pt x="4028" y="5361"/>
                    <a:pt x="4451" y="5361"/>
                  </a:cubicBezTo>
                  <a:cubicBezTo>
                    <a:pt x="4722" y="5361"/>
                    <a:pt x="4965" y="5242"/>
                    <a:pt x="5132" y="5051"/>
                  </a:cubicBezTo>
                  <a:cubicBezTo>
                    <a:pt x="5298" y="5240"/>
                    <a:pt x="5541" y="5361"/>
                    <a:pt x="5813" y="5361"/>
                  </a:cubicBezTo>
                  <a:cubicBezTo>
                    <a:pt x="6236" y="5361"/>
                    <a:pt x="6592" y="5071"/>
                    <a:pt x="6693" y="4680"/>
                  </a:cubicBezTo>
                  <a:lnTo>
                    <a:pt x="7659" y="4680"/>
                  </a:lnTo>
                  <a:cubicBezTo>
                    <a:pt x="7760" y="5071"/>
                    <a:pt x="8116" y="5361"/>
                    <a:pt x="8538" y="5361"/>
                  </a:cubicBezTo>
                  <a:cubicBezTo>
                    <a:pt x="8962" y="5361"/>
                    <a:pt x="9318" y="5071"/>
                    <a:pt x="9418" y="4680"/>
                  </a:cubicBezTo>
                  <a:close/>
                  <a:moveTo>
                    <a:pt x="4450" y="6723"/>
                  </a:moveTo>
                  <a:cubicBezTo>
                    <a:pt x="4701" y="6723"/>
                    <a:pt x="4903" y="6927"/>
                    <a:pt x="4903" y="7177"/>
                  </a:cubicBezTo>
                  <a:cubicBezTo>
                    <a:pt x="4903" y="7427"/>
                    <a:pt x="4699" y="7631"/>
                    <a:pt x="4450" y="7631"/>
                  </a:cubicBezTo>
                  <a:cubicBezTo>
                    <a:pt x="4199" y="7631"/>
                    <a:pt x="3995" y="7427"/>
                    <a:pt x="3995" y="7177"/>
                  </a:cubicBezTo>
                  <a:cubicBezTo>
                    <a:pt x="3995" y="6927"/>
                    <a:pt x="4199" y="6723"/>
                    <a:pt x="4450" y="6723"/>
                  </a:cubicBezTo>
                  <a:close/>
                  <a:moveTo>
                    <a:pt x="5813" y="6723"/>
                  </a:moveTo>
                  <a:cubicBezTo>
                    <a:pt x="6063" y="6723"/>
                    <a:pt x="6267" y="6927"/>
                    <a:pt x="6267" y="7177"/>
                  </a:cubicBezTo>
                  <a:cubicBezTo>
                    <a:pt x="6267" y="7427"/>
                    <a:pt x="6063" y="7631"/>
                    <a:pt x="5813" y="7631"/>
                  </a:cubicBezTo>
                  <a:cubicBezTo>
                    <a:pt x="5562" y="7631"/>
                    <a:pt x="5358" y="7427"/>
                    <a:pt x="5358" y="7177"/>
                  </a:cubicBezTo>
                  <a:cubicBezTo>
                    <a:pt x="5358" y="6927"/>
                    <a:pt x="5562" y="6723"/>
                    <a:pt x="5813" y="6723"/>
                  </a:cubicBezTo>
                  <a:close/>
                  <a:moveTo>
                    <a:pt x="7175" y="6723"/>
                  </a:moveTo>
                  <a:cubicBezTo>
                    <a:pt x="7426" y="6723"/>
                    <a:pt x="7629" y="6927"/>
                    <a:pt x="7629" y="7177"/>
                  </a:cubicBezTo>
                  <a:cubicBezTo>
                    <a:pt x="7629" y="7427"/>
                    <a:pt x="7425" y="7631"/>
                    <a:pt x="7175" y="7631"/>
                  </a:cubicBezTo>
                  <a:cubicBezTo>
                    <a:pt x="6924" y="7631"/>
                    <a:pt x="6720" y="7427"/>
                    <a:pt x="6720" y="7177"/>
                  </a:cubicBezTo>
                  <a:cubicBezTo>
                    <a:pt x="6720" y="6927"/>
                    <a:pt x="6924" y="6723"/>
                    <a:pt x="7175" y="6723"/>
                  </a:cubicBezTo>
                  <a:close/>
                  <a:moveTo>
                    <a:pt x="907" y="455"/>
                  </a:moveTo>
                  <a:lnTo>
                    <a:pt x="907" y="9358"/>
                  </a:lnTo>
                  <a:lnTo>
                    <a:pt x="453" y="9358"/>
                  </a:lnTo>
                  <a:lnTo>
                    <a:pt x="453" y="455"/>
                  </a:lnTo>
                  <a:close/>
                  <a:moveTo>
                    <a:pt x="10264" y="7405"/>
                  </a:moveTo>
                  <a:lnTo>
                    <a:pt x="10264" y="9358"/>
                  </a:lnTo>
                  <a:lnTo>
                    <a:pt x="1361" y="9358"/>
                  </a:lnTo>
                  <a:lnTo>
                    <a:pt x="1361" y="7405"/>
                  </a:lnTo>
                  <a:lnTo>
                    <a:pt x="3571" y="7405"/>
                  </a:lnTo>
                  <a:cubicBezTo>
                    <a:pt x="3671" y="7797"/>
                    <a:pt x="4028" y="8086"/>
                    <a:pt x="4451" y="8086"/>
                  </a:cubicBezTo>
                  <a:cubicBezTo>
                    <a:pt x="4722" y="8086"/>
                    <a:pt x="4965" y="7967"/>
                    <a:pt x="5132" y="7777"/>
                  </a:cubicBezTo>
                  <a:cubicBezTo>
                    <a:pt x="5298" y="7966"/>
                    <a:pt x="5541" y="8086"/>
                    <a:pt x="5813" y="8086"/>
                  </a:cubicBezTo>
                  <a:cubicBezTo>
                    <a:pt x="6084" y="8086"/>
                    <a:pt x="6327" y="7967"/>
                    <a:pt x="6494" y="7777"/>
                  </a:cubicBezTo>
                  <a:cubicBezTo>
                    <a:pt x="6660" y="7966"/>
                    <a:pt x="6903" y="8086"/>
                    <a:pt x="7175" y="8086"/>
                  </a:cubicBezTo>
                  <a:cubicBezTo>
                    <a:pt x="7598" y="8086"/>
                    <a:pt x="7954" y="7797"/>
                    <a:pt x="8054" y="7405"/>
                  </a:cubicBezTo>
                  <a:close/>
                  <a:moveTo>
                    <a:pt x="11172" y="455"/>
                  </a:moveTo>
                  <a:lnTo>
                    <a:pt x="11172" y="9358"/>
                  </a:lnTo>
                  <a:lnTo>
                    <a:pt x="10717" y="9358"/>
                  </a:lnTo>
                  <a:lnTo>
                    <a:pt x="10717" y="455"/>
                  </a:lnTo>
                  <a:close/>
                  <a:moveTo>
                    <a:pt x="11172" y="9810"/>
                  </a:moveTo>
                  <a:lnTo>
                    <a:pt x="11172" y="11173"/>
                  </a:lnTo>
                  <a:lnTo>
                    <a:pt x="454" y="11173"/>
                  </a:lnTo>
                  <a:lnTo>
                    <a:pt x="454" y="9810"/>
                  </a:lnTo>
                  <a:close/>
                  <a:moveTo>
                    <a:pt x="228" y="1"/>
                  </a:moveTo>
                  <a:cubicBezTo>
                    <a:pt x="102" y="1"/>
                    <a:pt x="1" y="103"/>
                    <a:pt x="1" y="228"/>
                  </a:cubicBezTo>
                  <a:lnTo>
                    <a:pt x="1" y="11401"/>
                  </a:lnTo>
                  <a:cubicBezTo>
                    <a:pt x="1" y="11526"/>
                    <a:pt x="103" y="11627"/>
                    <a:pt x="228" y="11627"/>
                  </a:cubicBezTo>
                  <a:lnTo>
                    <a:pt x="11401" y="11627"/>
                  </a:lnTo>
                  <a:cubicBezTo>
                    <a:pt x="11526" y="11627"/>
                    <a:pt x="11627" y="11524"/>
                    <a:pt x="11627" y="11401"/>
                  </a:cubicBezTo>
                  <a:lnTo>
                    <a:pt x="11627" y="228"/>
                  </a:lnTo>
                  <a:cubicBezTo>
                    <a:pt x="11627" y="103"/>
                    <a:pt x="11524" y="1"/>
                    <a:pt x="11398" y="1"/>
                  </a:cubicBezTo>
                  <a:lnTo>
                    <a:pt x="10490" y="1"/>
                  </a:lnTo>
                  <a:cubicBezTo>
                    <a:pt x="10364" y="1"/>
                    <a:pt x="10264" y="103"/>
                    <a:pt x="10264" y="228"/>
                  </a:cubicBezTo>
                  <a:lnTo>
                    <a:pt x="10264" y="1499"/>
                  </a:lnTo>
                  <a:lnTo>
                    <a:pt x="6693" y="1499"/>
                  </a:lnTo>
                  <a:cubicBezTo>
                    <a:pt x="6592" y="1108"/>
                    <a:pt x="6236" y="818"/>
                    <a:pt x="5813" y="818"/>
                  </a:cubicBezTo>
                  <a:cubicBezTo>
                    <a:pt x="5541" y="818"/>
                    <a:pt x="5298" y="937"/>
                    <a:pt x="5132" y="1127"/>
                  </a:cubicBezTo>
                  <a:cubicBezTo>
                    <a:pt x="4965" y="938"/>
                    <a:pt x="4722" y="818"/>
                    <a:pt x="4451" y="818"/>
                  </a:cubicBezTo>
                  <a:cubicBezTo>
                    <a:pt x="4179" y="818"/>
                    <a:pt x="3936" y="937"/>
                    <a:pt x="3770" y="1127"/>
                  </a:cubicBezTo>
                  <a:cubicBezTo>
                    <a:pt x="3603" y="938"/>
                    <a:pt x="3360" y="818"/>
                    <a:pt x="3089" y="818"/>
                  </a:cubicBezTo>
                  <a:cubicBezTo>
                    <a:pt x="2666" y="818"/>
                    <a:pt x="2309" y="1108"/>
                    <a:pt x="2209" y="1499"/>
                  </a:cubicBezTo>
                  <a:lnTo>
                    <a:pt x="1362" y="1499"/>
                  </a:lnTo>
                  <a:lnTo>
                    <a:pt x="1362" y="228"/>
                  </a:lnTo>
                  <a:cubicBezTo>
                    <a:pt x="1362" y="102"/>
                    <a:pt x="1261" y="1"/>
                    <a:pt x="1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7279935" y="3689688"/>
              <a:ext cx="17435" cy="17396"/>
            </a:xfrm>
            <a:custGeom>
              <a:rect b="b" l="l" r="r" t="t"/>
              <a:pathLst>
                <a:path extrusionOk="0" h="453" w="454">
                  <a:moveTo>
                    <a:pt x="226" y="0"/>
                  </a:moveTo>
                  <a:cubicBezTo>
                    <a:pt x="101" y="0"/>
                    <a:pt x="0" y="102"/>
                    <a:pt x="0" y="226"/>
                  </a:cubicBezTo>
                  <a:cubicBezTo>
                    <a:pt x="0" y="351"/>
                    <a:pt x="103" y="453"/>
                    <a:pt x="226" y="453"/>
                  </a:cubicBezTo>
                  <a:cubicBezTo>
                    <a:pt x="351" y="453"/>
                    <a:pt x="454" y="351"/>
                    <a:pt x="454" y="226"/>
                  </a:cubicBezTo>
                  <a:cubicBezTo>
                    <a:pt x="454" y="102"/>
                    <a:pt x="352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7065457" y="3689688"/>
              <a:ext cx="197043" cy="17396"/>
            </a:xfrm>
            <a:custGeom>
              <a:rect b="b" l="l" r="r" t="t"/>
              <a:pathLst>
                <a:path extrusionOk="0" h="453" w="5131">
                  <a:moveTo>
                    <a:pt x="227" y="0"/>
                  </a:moveTo>
                  <a:cubicBezTo>
                    <a:pt x="101" y="0"/>
                    <a:pt x="0" y="102"/>
                    <a:pt x="0" y="226"/>
                  </a:cubicBezTo>
                  <a:cubicBezTo>
                    <a:pt x="0" y="351"/>
                    <a:pt x="102" y="453"/>
                    <a:pt x="227" y="453"/>
                  </a:cubicBezTo>
                  <a:lnTo>
                    <a:pt x="4904" y="453"/>
                  </a:lnTo>
                  <a:cubicBezTo>
                    <a:pt x="5030" y="453"/>
                    <a:pt x="5130" y="351"/>
                    <a:pt x="5130" y="226"/>
                  </a:cubicBezTo>
                  <a:cubicBezTo>
                    <a:pt x="5130" y="102"/>
                    <a:pt x="5030" y="0"/>
                    <a:pt x="4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7"/>
          <p:cNvSpPr txBox="1"/>
          <p:nvPr>
            <p:ph type="title"/>
          </p:nvPr>
        </p:nvSpPr>
        <p:spPr>
          <a:xfrm>
            <a:off x="1291500" y="1653775"/>
            <a:ext cx="56388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582" name="Google Shape;582;p17"/>
          <p:cNvSpPr txBox="1"/>
          <p:nvPr>
            <p:ph idx="1" type="subTitle"/>
          </p:nvPr>
        </p:nvSpPr>
        <p:spPr>
          <a:xfrm>
            <a:off x="1291500" y="3254325"/>
            <a:ext cx="38730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Systematic Approach to Solutions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8"/>
          <p:cNvSpPr/>
          <p:nvPr/>
        </p:nvSpPr>
        <p:spPr>
          <a:xfrm>
            <a:off x="1100150" y="1621627"/>
            <a:ext cx="646800" cy="646800"/>
          </a:xfrm>
          <a:prstGeom prst="rect">
            <a:avLst/>
          </a:prstGeom>
          <a:noFill/>
          <a:ln cap="flat" cmpd="sng" w="193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825" lIns="92825" spcFirstLastPara="1" rIns="92825" wrap="square" tIns="9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8"/>
          <p:cNvSpPr/>
          <p:nvPr/>
        </p:nvSpPr>
        <p:spPr>
          <a:xfrm>
            <a:off x="1100150" y="3034656"/>
            <a:ext cx="646800" cy="646800"/>
          </a:xfrm>
          <a:prstGeom prst="rect">
            <a:avLst/>
          </a:prstGeom>
          <a:noFill/>
          <a:ln cap="flat" cmpd="sng" w="193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825" lIns="92825" spcFirstLastPara="1" rIns="92825" wrap="square" tIns="928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rgbClr val="CC4125"/>
                </a:solidFill>
                <a:highlight>
                  <a:schemeClr val="lt1"/>
                </a:highlight>
              </a:rPr>
              <a:t>Proposed </a:t>
            </a:r>
            <a:r>
              <a:rPr lang="en">
                <a:solidFill>
                  <a:schemeClr val="lt1"/>
                </a:solidFill>
                <a:highlight>
                  <a:srgbClr val="CC4125"/>
                </a:highlight>
              </a:rPr>
              <a:t>Recommendation</a:t>
            </a:r>
            <a:endParaRPr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sp>
        <p:nvSpPr>
          <p:cNvPr id="590" name="Google Shape;590;p18"/>
          <p:cNvSpPr txBox="1"/>
          <p:nvPr>
            <p:ph idx="4" type="subTitle"/>
          </p:nvPr>
        </p:nvSpPr>
        <p:spPr>
          <a:xfrm>
            <a:off x="1746775" y="1621638"/>
            <a:ext cx="2208600" cy="64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2825" lIns="92825" spcFirstLastPara="1" rIns="92825" wrap="square" tIns="92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31"/>
              <a:t>Volume Driven</a:t>
            </a:r>
            <a:endParaRPr sz="2031"/>
          </a:p>
        </p:txBody>
      </p:sp>
      <p:sp>
        <p:nvSpPr>
          <p:cNvPr id="591" name="Google Shape;591;p18"/>
          <p:cNvSpPr txBox="1"/>
          <p:nvPr>
            <p:ph idx="5" type="subTitle"/>
          </p:nvPr>
        </p:nvSpPr>
        <p:spPr>
          <a:xfrm>
            <a:off x="1746775" y="3034676"/>
            <a:ext cx="2208600" cy="64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2825" lIns="92825" spcFirstLastPara="1" rIns="92825" wrap="square" tIns="928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031"/>
              <a:t>20% Baseline</a:t>
            </a:r>
            <a:endParaRPr sz="2031"/>
          </a:p>
        </p:txBody>
      </p:sp>
      <p:grpSp>
        <p:nvGrpSpPr>
          <p:cNvPr id="592" name="Google Shape;592;p18"/>
          <p:cNvGrpSpPr/>
          <p:nvPr/>
        </p:nvGrpSpPr>
        <p:grpSpPr>
          <a:xfrm>
            <a:off x="1196842" y="1718406"/>
            <a:ext cx="453454" cy="453259"/>
            <a:chOff x="2732990" y="1899748"/>
            <a:chExt cx="446621" cy="446429"/>
          </a:xfrm>
        </p:grpSpPr>
        <p:sp>
          <p:nvSpPr>
            <p:cNvPr id="593" name="Google Shape;593;p18"/>
            <p:cNvSpPr/>
            <p:nvPr/>
          </p:nvSpPr>
          <p:spPr>
            <a:xfrm>
              <a:off x="2733028" y="1934502"/>
              <a:ext cx="446583" cy="411675"/>
            </a:xfrm>
            <a:custGeom>
              <a:rect b="b" l="l" r="r" t="t"/>
              <a:pathLst>
                <a:path extrusionOk="0" h="10720" w="11629">
                  <a:moveTo>
                    <a:pt x="8380" y="6950"/>
                  </a:moveTo>
                  <a:lnTo>
                    <a:pt x="8380" y="10266"/>
                  </a:lnTo>
                  <a:lnTo>
                    <a:pt x="7471" y="10266"/>
                  </a:lnTo>
                  <a:lnTo>
                    <a:pt x="7471" y="6950"/>
                  </a:lnTo>
                  <a:close/>
                  <a:moveTo>
                    <a:pt x="11172" y="5135"/>
                  </a:moveTo>
                  <a:lnTo>
                    <a:pt x="11172" y="10266"/>
                  </a:lnTo>
                  <a:lnTo>
                    <a:pt x="10264" y="10266"/>
                  </a:lnTo>
                  <a:lnTo>
                    <a:pt x="10264" y="5135"/>
                  </a:lnTo>
                  <a:close/>
                  <a:moveTo>
                    <a:pt x="2793" y="8768"/>
                  </a:moveTo>
                  <a:lnTo>
                    <a:pt x="2793" y="10268"/>
                  </a:lnTo>
                  <a:lnTo>
                    <a:pt x="1884" y="10268"/>
                  </a:lnTo>
                  <a:lnTo>
                    <a:pt x="1884" y="8768"/>
                  </a:lnTo>
                  <a:close/>
                  <a:moveTo>
                    <a:pt x="5587" y="6043"/>
                  </a:moveTo>
                  <a:lnTo>
                    <a:pt x="5587" y="10268"/>
                  </a:lnTo>
                  <a:lnTo>
                    <a:pt x="4677" y="10268"/>
                  </a:lnTo>
                  <a:lnTo>
                    <a:pt x="4677" y="6043"/>
                  </a:lnTo>
                  <a:close/>
                  <a:moveTo>
                    <a:pt x="228" y="1"/>
                  </a:moveTo>
                  <a:cubicBezTo>
                    <a:pt x="102" y="1"/>
                    <a:pt x="1" y="103"/>
                    <a:pt x="1" y="228"/>
                  </a:cubicBezTo>
                  <a:lnTo>
                    <a:pt x="1" y="10492"/>
                  </a:lnTo>
                  <a:cubicBezTo>
                    <a:pt x="1" y="10619"/>
                    <a:pt x="104" y="10720"/>
                    <a:pt x="228" y="10720"/>
                  </a:cubicBezTo>
                  <a:lnTo>
                    <a:pt x="11401" y="10720"/>
                  </a:lnTo>
                  <a:cubicBezTo>
                    <a:pt x="11519" y="10720"/>
                    <a:pt x="11618" y="10627"/>
                    <a:pt x="11627" y="10510"/>
                  </a:cubicBezTo>
                  <a:cubicBezTo>
                    <a:pt x="11628" y="10501"/>
                    <a:pt x="11628" y="10491"/>
                    <a:pt x="11628" y="10482"/>
                  </a:cubicBezTo>
                  <a:lnTo>
                    <a:pt x="11628" y="4905"/>
                  </a:lnTo>
                  <a:cubicBezTo>
                    <a:pt x="11628" y="4780"/>
                    <a:pt x="11527" y="4678"/>
                    <a:pt x="11402" y="4678"/>
                  </a:cubicBezTo>
                  <a:lnTo>
                    <a:pt x="10039" y="4678"/>
                  </a:lnTo>
                  <a:cubicBezTo>
                    <a:pt x="9913" y="4678"/>
                    <a:pt x="9812" y="4781"/>
                    <a:pt x="9812" y="4905"/>
                  </a:cubicBezTo>
                  <a:lnTo>
                    <a:pt x="9812" y="10265"/>
                  </a:lnTo>
                  <a:lnTo>
                    <a:pt x="8835" y="10265"/>
                  </a:lnTo>
                  <a:lnTo>
                    <a:pt x="8835" y="6723"/>
                  </a:lnTo>
                  <a:cubicBezTo>
                    <a:pt x="8835" y="6597"/>
                    <a:pt x="8733" y="6496"/>
                    <a:pt x="8609" y="6496"/>
                  </a:cubicBezTo>
                  <a:lnTo>
                    <a:pt x="7245" y="6496"/>
                  </a:lnTo>
                  <a:cubicBezTo>
                    <a:pt x="7119" y="6496"/>
                    <a:pt x="7019" y="6598"/>
                    <a:pt x="7019" y="6723"/>
                  </a:cubicBezTo>
                  <a:lnTo>
                    <a:pt x="7019" y="10265"/>
                  </a:lnTo>
                  <a:lnTo>
                    <a:pt x="6042" y="10265"/>
                  </a:lnTo>
                  <a:lnTo>
                    <a:pt x="6042" y="5814"/>
                  </a:lnTo>
                  <a:cubicBezTo>
                    <a:pt x="6042" y="5688"/>
                    <a:pt x="5940" y="5587"/>
                    <a:pt x="5815" y="5587"/>
                  </a:cubicBezTo>
                  <a:lnTo>
                    <a:pt x="4451" y="5587"/>
                  </a:lnTo>
                  <a:cubicBezTo>
                    <a:pt x="4325" y="5587"/>
                    <a:pt x="4225" y="5690"/>
                    <a:pt x="4225" y="5814"/>
                  </a:cubicBezTo>
                  <a:lnTo>
                    <a:pt x="4225" y="10265"/>
                  </a:lnTo>
                  <a:lnTo>
                    <a:pt x="3246" y="10265"/>
                  </a:lnTo>
                  <a:lnTo>
                    <a:pt x="3246" y="8538"/>
                  </a:lnTo>
                  <a:cubicBezTo>
                    <a:pt x="3246" y="8413"/>
                    <a:pt x="3145" y="8312"/>
                    <a:pt x="3020" y="8312"/>
                  </a:cubicBezTo>
                  <a:lnTo>
                    <a:pt x="1656" y="8312"/>
                  </a:lnTo>
                  <a:cubicBezTo>
                    <a:pt x="1530" y="8312"/>
                    <a:pt x="1430" y="8415"/>
                    <a:pt x="1430" y="8538"/>
                  </a:cubicBezTo>
                  <a:lnTo>
                    <a:pt x="1430" y="10265"/>
                  </a:lnTo>
                  <a:lnTo>
                    <a:pt x="453" y="10265"/>
                  </a:lnTo>
                  <a:lnTo>
                    <a:pt x="453" y="7723"/>
                  </a:lnTo>
                  <a:lnTo>
                    <a:pt x="5351" y="3388"/>
                  </a:lnTo>
                  <a:lnTo>
                    <a:pt x="7538" y="5513"/>
                  </a:lnTo>
                  <a:cubicBezTo>
                    <a:pt x="7582" y="5555"/>
                    <a:pt x="7639" y="5576"/>
                    <a:pt x="7696" y="5576"/>
                  </a:cubicBezTo>
                  <a:cubicBezTo>
                    <a:pt x="7754" y="5576"/>
                    <a:pt x="7811" y="5555"/>
                    <a:pt x="7856" y="5511"/>
                  </a:cubicBezTo>
                  <a:lnTo>
                    <a:pt x="11171" y="2265"/>
                  </a:lnTo>
                  <a:lnTo>
                    <a:pt x="11171" y="2624"/>
                  </a:lnTo>
                  <a:cubicBezTo>
                    <a:pt x="11171" y="2749"/>
                    <a:pt x="11273" y="2850"/>
                    <a:pt x="11398" y="2850"/>
                  </a:cubicBezTo>
                  <a:cubicBezTo>
                    <a:pt x="11523" y="2850"/>
                    <a:pt x="11624" y="2748"/>
                    <a:pt x="11624" y="2624"/>
                  </a:cubicBezTo>
                  <a:lnTo>
                    <a:pt x="11624" y="1726"/>
                  </a:lnTo>
                  <a:cubicBezTo>
                    <a:pt x="11627" y="1604"/>
                    <a:pt x="11527" y="1502"/>
                    <a:pt x="11401" y="1501"/>
                  </a:cubicBezTo>
                  <a:lnTo>
                    <a:pt x="10491" y="1501"/>
                  </a:lnTo>
                  <a:cubicBezTo>
                    <a:pt x="10366" y="1501"/>
                    <a:pt x="10265" y="1602"/>
                    <a:pt x="10265" y="1727"/>
                  </a:cubicBezTo>
                  <a:cubicBezTo>
                    <a:pt x="10265" y="1853"/>
                    <a:pt x="10368" y="1953"/>
                    <a:pt x="10491" y="1953"/>
                  </a:cubicBezTo>
                  <a:lnTo>
                    <a:pt x="10845" y="1953"/>
                  </a:lnTo>
                  <a:lnTo>
                    <a:pt x="7699" y="5033"/>
                  </a:lnTo>
                  <a:lnTo>
                    <a:pt x="5519" y="2917"/>
                  </a:lnTo>
                  <a:cubicBezTo>
                    <a:pt x="5475" y="2875"/>
                    <a:pt x="5417" y="2853"/>
                    <a:pt x="5360" y="2853"/>
                  </a:cubicBezTo>
                  <a:cubicBezTo>
                    <a:pt x="5306" y="2853"/>
                    <a:pt x="5252" y="2872"/>
                    <a:pt x="5209" y="2910"/>
                  </a:cubicBezTo>
                  <a:lnTo>
                    <a:pt x="454" y="7117"/>
                  </a:lnTo>
                  <a:lnTo>
                    <a:pt x="454" y="228"/>
                  </a:lnTo>
                  <a:cubicBezTo>
                    <a:pt x="454" y="102"/>
                    <a:pt x="352" y="1"/>
                    <a:pt x="2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825" lIns="92825" spcFirstLastPara="1" rIns="92825" wrap="square" tIns="9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8"/>
            <p:cNvSpPr/>
            <p:nvPr/>
          </p:nvSpPr>
          <p:spPr>
            <a:xfrm>
              <a:off x="2732990" y="1899748"/>
              <a:ext cx="17473" cy="17396"/>
            </a:xfrm>
            <a:custGeom>
              <a:rect b="b" l="l" r="r" t="t"/>
              <a:pathLst>
                <a:path extrusionOk="0" h="453" w="455">
                  <a:moveTo>
                    <a:pt x="227" y="0"/>
                  </a:moveTo>
                  <a:cubicBezTo>
                    <a:pt x="101" y="0"/>
                    <a:pt x="1" y="102"/>
                    <a:pt x="1" y="227"/>
                  </a:cubicBezTo>
                  <a:cubicBezTo>
                    <a:pt x="1" y="351"/>
                    <a:pt x="102" y="453"/>
                    <a:pt x="227" y="453"/>
                  </a:cubicBezTo>
                  <a:cubicBezTo>
                    <a:pt x="354" y="453"/>
                    <a:pt x="454" y="351"/>
                    <a:pt x="454" y="227"/>
                  </a:cubicBezTo>
                  <a:cubicBezTo>
                    <a:pt x="454" y="101"/>
                    <a:pt x="352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825" lIns="92825" spcFirstLastPara="1" rIns="92825" wrap="square" tIns="9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18"/>
          <p:cNvGrpSpPr/>
          <p:nvPr/>
        </p:nvGrpSpPr>
        <p:grpSpPr>
          <a:xfrm>
            <a:off x="1197025" y="3131456"/>
            <a:ext cx="453337" cy="453337"/>
            <a:chOff x="6962539" y="3295448"/>
            <a:chExt cx="446506" cy="446506"/>
          </a:xfrm>
        </p:grpSpPr>
        <p:sp>
          <p:nvSpPr>
            <p:cNvPr id="596" name="Google Shape;596;p18"/>
            <p:cNvSpPr/>
            <p:nvPr/>
          </p:nvSpPr>
          <p:spPr>
            <a:xfrm>
              <a:off x="6962539" y="3295448"/>
              <a:ext cx="446506" cy="446506"/>
            </a:xfrm>
            <a:custGeom>
              <a:rect b="b" l="l" r="r" t="t"/>
              <a:pathLst>
                <a:path extrusionOk="0" h="11627" w="11627">
                  <a:moveTo>
                    <a:pt x="3088" y="1272"/>
                  </a:moveTo>
                  <a:cubicBezTo>
                    <a:pt x="3337" y="1272"/>
                    <a:pt x="3541" y="1477"/>
                    <a:pt x="3541" y="1727"/>
                  </a:cubicBezTo>
                  <a:cubicBezTo>
                    <a:pt x="3541" y="1978"/>
                    <a:pt x="3337" y="2182"/>
                    <a:pt x="3088" y="2182"/>
                  </a:cubicBezTo>
                  <a:cubicBezTo>
                    <a:pt x="2837" y="2182"/>
                    <a:pt x="2633" y="1978"/>
                    <a:pt x="2633" y="1727"/>
                  </a:cubicBezTo>
                  <a:cubicBezTo>
                    <a:pt x="2633" y="1477"/>
                    <a:pt x="2837" y="1272"/>
                    <a:pt x="3088" y="1272"/>
                  </a:cubicBezTo>
                  <a:close/>
                  <a:moveTo>
                    <a:pt x="4451" y="1272"/>
                  </a:moveTo>
                  <a:cubicBezTo>
                    <a:pt x="4701" y="1272"/>
                    <a:pt x="4905" y="1477"/>
                    <a:pt x="4905" y="1727"/>
                  </a:cubicBezTo>
                  <a:cubicBezTo>
                    <a:pt x="4905" y="1978"/>
                    <a:pt x="4701" y="2182"/>
                    <a:pt x="4451" y="2182"/>
                  </a:cubicBezTo>
                  <a:cubicBezTo>
                    <a:pt x="4200" y="2182"/>
                    <a:pt x="3996" y="1978"/>
                    <a:pt x="3996" y="1727"/>
                  </a:cubicBezTo>
                  <a:cubicBezTo>
                    <a:pt x="3996" y="1477"/>
                    <a:pt x="4199" y="1272"/>
                    <a:pt x="4451" y="1272"/>
                  </a:cubicBezTo>
                  <a:close/>
                  <a:moveTo>
                    <a:pt x="5813" y="1272"/>
                  </a:moveTo>
                  <a:cubicBezTo>
                    <a:pt x="6063" y="1272"/>
                    <a:pt x="6267" y="1477"/>
                    <a:pt x="6267" y="1727"/>
                  </a:cubicBezTo>
                  <a:cubicBezTo>
                    <a:pt x="6267" y="1978"/>
                    <a:pt x="6063" y="2182"/>
                    <a:pt x="5813" y="2182"/>
                  </a:cubicBezTo>
                  <a:cubicBezTo>
                    <a:pt x="5562" y="2182"/>
                    <a:pt x="5358" y="1978"/>
                    <a:pt x="5358" y="1727"/>
                  </a:cubicBezTo>
                  <a:cubicBezTo>
                    <a:pt x="5358" y="1477"/>
                    <a:pt x="5562" y="1272"/>
                    <a:pt x="5813" y="1272"/>
                  </a:cubicBezTo>
                  <a:close/>
                  <a:moveTo>
                    <a:pt x="10262" y="1954"/>
                  </a:moveTo>
                  <a:lnTo>
                    <a:pt x="10262" y="4226"/>
                  </a:lnTo>
                  <a:lnTo>
                    <a:pt x="9416" y="4226"/>
                  </a:lnTo>
                  <a:cubicBezTo>
                    <a:pt x="9316" y="3834"/>
                    <a:pt x="8960" y="3545"/>
                    <a:pt x="8536" y="3545"/>
                  </a:cubicBezTo>
                  <a:cubicBezTo>
                    <a:pt x="8113" y="3545"/>
                    <a:pt x="7757" y="3834"/>
                    <a:pt x="7656" y="4226"/>
                  </a:cubicBezTo>
                  <a:lnTo>
                    <a:pt x="6689" y="4226"/>
                  </a:lnTo>
                  <a:cubicBezTo>
                    <a:pt x="6589" y="3834"/>
                    <a:pt x="6233" y="3545"/>
                    <a:pt x="5809" y="3545"/>
                  </a:cubicBezTo>
                  <a:cubicBezTo>
                    <a:pt x="5539" y="3545"/>
                    <a:pt x="5295" y="3663"/>
                    <a:pt x="5129" y="3854"/>
                  </a:cubicBezTo>
                  <a:cubicBezTo>
                    <a:pt x="4963" y="3665"/>
                    <a:pt x="4719" y="3545"/>
                    <a:pt x="4448" y="3545"/>
                  </a:cubicBezTo>
                  <a:cubicBezTo>
                    <a:pt x="4025" y="3545"/>
                    <a:pt x="3669" y="3834"/>
                    <a:pt x="3568" y="4226"/>
                  </a:cubicBezTo>
                  <a:lnTo>
                    <a:pt x="1358" y="4226"/>
                  </a:lnTo>
                  <a:lnTo>
                    <a:pt x="1358" y="1954"/>
                  </a:lnTo>
                  <a:lnTo>
                    <a:pt x="2208" y="1954"/>
                  </a:lnTo>
                  <a:cubicBezTo>
                    <a:pt x="2308" y="2346"/>
                    <a:pt x="2665" y="2635"/>
                    <a:pt x="3088" y="2635"/>
                  </a:cubicBezTo>
                  <a:cubicBezTo>
                    <a:pt x="3358" y="2635"/>
                    <a:pt x="3602" y="2516"/>
                    <a:pt x="3769" y="2326"/>
                  </a:cubicBezTo>
                  <a:cubicBezTo>
                    <a:pt x="3934" y="2515"/>
                    <a:pt x="4178" y="2635"/>
                    <a:pt x="4450" y="2635"/>
                  </a:cubicBezTo>
                  <a:cubicBezTo>
                    <a:pt x="4720" y="2635"/>
                    <a:pt x="4964" y="2516"/>
                    <a:pt x="5131" y="2326"/>
                  </a:cubicBezTo>
                  <a:cubicBezTo>
                    <a:pt x="5296" y="2515"/>
                    <a:pt x="5540" y="2635"/>
                    <a:pt x="5812" y="2635"/>
                  </a:cubicBezTo>
                  <a:cubicBezTo>
                    <a:pt x="6234" y="2635"/>
                    <a:pt x="6590" y="2346"/>
                    <a:pt x="6692" y="1954"/>
                  </a:cubicBezTo>
                  <a:close/>
                  <a:moveTo>
                    <a:pt x="4451" y="3997"/>
                  </a:moveTo>
                  <a:cubicBezTo>
                    <a:pt x="4701" y="3997"/>
                    <a:pt x="4905" y="4202"/>
                    <a:pt x="4905" y="4452"/>
                  </a:cubicBezTo>
                  <a:cubicBezTo>
                    <a:pt x="4905" y="4702"/>
                    <a:pt x="4701" y="4907"/>
                    <a:pt x="4451" y="4907"/>
                  </a:cubicBezTo>
                  <a:cubicBezTo>
                    <a:pt x="4199" y="4907"/>
                    <a:pt x="3996" y="4702"/>
                    <a:pt x="3996" y="4452"/>
                  </a:cubicBezTo>
                  <a:cubicBezTo>
                    <a:pt x="3996" y="4202"/>
                    <a:pt x="4200" y="3997"/>
                    <a:pt x="4451" y="3997"/>
                  </a:cubicBezTo>
                  <a:close/>
                  <a:moveTo>
                    <a:pt x="5813" y="3997"/>
                  </a:moveTo>
                  <a:cubicBezTo>
                    <a:pt x="6063" y="3997"/>
                    <a:pt x="6267" y="4202"/>
                    <a:pt x="6267" y="4452"/>
                  </a:cubicBezTo>
                  <a:cubicBezTo>
                    <a:pt x="6267" y="4702"/>
                    <a:pt x="6063" y="4907"/>
                    <a:pt x="5813" y="4907"/>
                  </a:cubicBezTo>
                  <a:cubicBezTo>
                    <a:pt x="5562" y="4907"/>
                    <a:pt x="5358" y="4702"/>
                    <a:pt x="5358" y="4452"/>
                  </a:cubicBezTo>
                  <a:cubicBezTo>
                    <a:pt x="5358" y="4202"/>
                    <a:pt x="5562" y="3997"/>
                    <a:pt x="5813" y="3997"/>
                  </a:cubicBezTo>
                  <a:close/>
                  <a:moveTo>
                    <a:pt x="8537" y="3997"/>
                  </a:moveTo>
                  <a:cubicBezTo>
                    <a:pt x="8788" y="3997"/>
                    <a:pt x="8992" y="4202"/>
                    <a:pt x="8992" y="4452"/>
                  </a:cubicBezTo>
                  <a:cubicBezTo>
                    <a:pt x="8992" y="4702"/>
                    <a:pt x="8788" y="4907"/>
                    <a:pt x="8537" y="4907"/>
                  </a:cubicBezTo>
                  <a:cubicBezTo>
                    <a:pt x="8287" y="4907"/>
                    <a:pt x="8083" y="4702"/>
                    <a:pt x="8083" y="4452"/>
                  </a:cubicBezTo>
                  <a:cubicBezTo>
                    <a:pt x="8083" y="4202"/>
                    <a:pt x="8287" y="3997"/>
                    <a:pt x="8537" y="3997"/>
                  </a:cubicBezTo>
                  <a:close/>
                  <a:moveTo>
                    <a:pt x="10265" y="4680"/>
                  </a:moveTo>
                  <a:lnTo>
                    <a:pt x="10265" y="6950"/>
                  </a:lnTo>
                  <a:lnTo>
                    <a:pt x="8056" y="6950"/>
                  </a:lnTo>
                  <a:cubicBezTo>
                    <a:pt x="7955" y="6559"/>
                    <a:pt x="7599" y="6270"/>
                    <a:pt x="7176" y="6270"/>
                  </a:cubicBezTo>
                  <a:cubicBezTo>
                    <a:pt x="6904" y="6270"/>
                    <a:pt x="6661" y="6389"/>
                    <a:pt x="6495" y="6579"/>
                  </a:cubicBezTo>
                  <a:cubicBezTo>
                    <a:pt x="6328" y="6390"/>
                    <a:pt x="6085" y="6270"/>
                    <a:pt x="5814" y="6270"/>
                  </a:cubicBezTo>
                  <a:cubicBezTo>
                    <a:pt x="5542" y="6270"/>
                    <a:pt x="5299" y="6389"/>
                    <a:pt x="5133" y="6579"/>
                  </a:cubicBezTo>
                  <a:cubicBezTo>
                    <a:pt x="4966" y="6390"/>
                    <a:pt x="4723" y="6270"/>
                    <a:pt x="4452" y="6270"/>
                  </a:cubicBezTo>
                  <a:cubicBezTo>
                    <a:pt x="4029" y="6270"/>
                    <a:pt x="3672" y="6559"/>
                    <a:pt x="3572" y="6950"/>
                  </a:cubicBezTo>
                  <a:lnTo>
                    <a:pt x="1362" y="6950"/>
                  </a:lnTo>
                  <a:lnTo>
                    <a:pt x="1362" y="4680"/>
                  </a:lnTo>
                  <a:lnTo>
                    <a:pt x="3571" y="4680"/>
                  </a:lnTo>
                  <a:cubicBezTo>
                    <a:pt x="3671" y="5071"/>
                    <a:pt x="4028" y="5361"/>
                    <a:pt x="4451" y="5361"/>
                  </a:cubicBezTo>
                  <a:cubicBezTo>
                    <a:pt x="4722" y="5361"/>
                    <a:pt x="4965" y="5242"/>
                    <a:pt x="5132" y="5051"/>
                  </a:cubicBezTo>
                  <a:cubicBezTo>
                    <a:pt x="5298" y="5240"/>
                    <a:pt x="5541" y="5361"/>
                    <a:pt x="5813" y="5361"/>
                  </a:cubicBezTo>
                  <a:cubicBezTo>
                    <a:pt x="6236" y="5361"/>
                    <a:pt x="6592" y="5071"/>
                    <a:pt x="6693" y="4680"/>
                  </a:cubicBezTo>
                  <a:lnTo>
                    <a:pt x="7659" y="4680"/>
                  </a:lnTo>
                  <a:cubicBezTo>
                    <a:pt x="7760" y="5071"/>
                    <a:pt x="8116" y="5361"/>
                    <a:pt x="8538" y="5361"/>
                  </a:cubicBezTo>
                  <a:cubicBezTo>
                    <a:pt x="8962" y="5361"/>
                    <a:pt x="9318" y="5071"/>
                    <a:pt x="9418" y="4680"/>
                  </a:cubicBezTo>
                  <a:close/>
                  <a:moveTo>
                    <a:pt x="4450" y="6723"/>
                  </a:moveTo>
                  <a:cubicBezTo>
                    <a:pt x="4701" y="6723"/>
                    <a:pt x="4903" y="6927"/>
                    <a:pt x="4903" y="7177"/>
                  </a:cubicBezTo>
                  <a:cubicBezTo>
                    <a:pt x="4903" y="7427"/>
                    <a:pt x="4699" y="7631"/>
                    <a:pt x="4450" y="7631"/>
                  </a:cubicBezTo>
                  <a:cubicBezTo>
                    <a:pt x="4199" y="7631"/>
                    <a:pt x="3995" y="7427"/>
                    <a:pt x="3995" y="7177"/>
                  </a:cubicBezTo>
                  <a:cubicBezTo>
                    <a:pt x="3995" y="6927"/>
                    <a:pt x="4199" y="6723"/>
                    <a:pt x="4450" y="6723"/>
                  </a:cubicBezTo>
                  <a:close/>
                  <a:moveTo>
                    <a:pt x="5813" y="6723"/>
                  </a:moveTo>
                  <a:cubicBezTo>
                    <a:pt x="6063" y="6723"/>
                    <a:pt x="6267" y="6927"/>
                    <a:pt x="6267" y="7177"/>
                  </a:cubicBezTo>
                  <a:cubicBezTo>
                    <a:pt x="6267" y="7427"/>
                    <a:pt x="6063" y="7631"/>
                    <a:pt x="5813" y="7631"/>
                  </a:cubicBezTo>
                  <a:cubicBezTo>
                    <a:pt x="5562" y="7631"/>
                    <a:pt x="5358" y="7427"/>
                    <a:pt x="5358" y="7177"/>
                  </a:cubicBezTo>
                  <a:cubicBezTo>
                    <a:pt x="5358" y="6927"/>
                    <a:pt x="5562" y="6723"/>
                    <a:pt x="5813" y="6723"/>
                  </a:cubicBezTo>
                  <a:close/>
                  <a:moveTo>
                    <a:pt x="7175" y="6723"/>
                  </a:moveTo>
                  <a:cubicBezTo>
                    <a:pt x="7426" y="6723"/>
                    <a:pt x="7629" y="6927"/>
                    <a:pt x="7629" y="7177"/>
                  </a:cubicBezTo>
                  <a:cubicBezTo>
                    <a:pt x="7629" y="7427"/>
                    <a:pt x="7425" y="7631"/>
                    <a:pt x="7175" y="7631"/>
                  </a:cubicBezTo>
                  <a:cubicBezTo>
                    <a:pt x="6924" y="7631"/>
                    <a:pt x="6720" y="7427"/>
                    <a:pt x="6720" y="7177"/>
                  </a:cubicBezTo>
                  <a:cubicBezTo>
                    <a:pt x="6720" y="6927"/>
                    <a:pt x="6924" y="6723"/>
                    <a:pt x="7175" y="6723"/>
                  </a:cubicBezTo>
                  <a:close/>
                  <a:moveTo>
                    <a:pt x="907" y="455"/>
                  </a:moveTo>
                  <a:lnTo>
                    <a:pt x="907" y="9358"/>
                  </a:lnTo>
                  <a:lnTo>
                    <a:pt x="453" y="9358"/>
                  </a:lnTo>
                  <a:lnTo>
                    <a:pt x="453" y="455"/>
                  </a:lnTo>
                  <a:close/>
                  <a:moveTo>
                    <a:pt x="10264" y="7405"/>
                  </a:moveTo>
                  <a:lnTo>
                    <a:pt x="10264" y="9358"/>
                  </a:lnTo>
                  <a:lnTo>
                    <a:pt x="1361" y="9358"/>
                  </a:lnTo>
                  <a:lnTo>
                    <a:pt x="1361" y="7405"/>
                  </a:lnTo>
                  <a:lnTo>
                    <a:pt x="3571" y="7405"/>
                  </a:lnTo>
                  <a:cubicBezTo>
                    <a:pt x="3671" y="7797"/>
                    <a:pt x="4028" y="8086"/>
                    <a:pt x="4451" y="8086"/>
                  </a:cubicBezTo>
                  <a:cubicBezTo>
                    <a:pt x="4722" y="8086"/>
                    <a:pt x="4965" y="7967"/>
                    <a:pt x="5132" y="7777"/>
                  </a:cubicBezTo>
                  <a:cubicBezTo>
                    <a:pt x="5298" y="7966"/>
                    <a:pt x="5541" y="8086"/>
                    <a:pt x="5813" y="8086"/>
                  </a:cubicBezTo>
                  <a:cubicBezTo>
                    <a:pt x="6084" y="8086"/>
                    <a:pt x="6327" y="7967"/>
                    <a:pt x="6494" y="7777"/>
                  </a:cubicBezTo>
                  <a:cubicBezTo>
                    <a:pt x="6660" y="7966"/>
                    <a:pt x="6903" y="8086"/>
                    <a:pt x="7175" y="8086"/>
                  </a:cubicBezTo>
                  <a:cubicBezTo>
                    <a:pt x="7598" y="8086"/>
                    <a:pt x="7954" y="7797"/>
                    <a:pt x="8054" y="7405"/>
                  </a:cubicBezTo>
                  <a:close/>
                  <a:moveTo>
                    <a:pt x="11172" y="455"/>
                  </a:moveTo>
                  <a:lnTo>
                    <a:pt x="11172" y="9358"/>
                  </a:lnTo>
                  <a:lnTo>
                    <a:pt x="10717" y="9358"/>
                  </a:lnTo>
                  <a:lnTo>
                    <a:pt x="10717" y="455"/>
                  </a:lnTo>
                  <a:close/>
                  <a:moveTo>
                    <a:pt x="11172" y="9810"/>
                  </a:moveTo>
                  <a:lnTo>
                    <a:pt x="11172" y="11173"/>
                  </a:lnTo>
                  <a:lnTo>
                    <a:pt x="454" y="11173"/>
                  </a:lnTo>
                  <a:lnTo>
                    <a:pt x="454" y="9810"/>
                  </a:lnTo>
                  <a:close/>
                  <a:moveTo>
                    <a:pt x="228" y="1"/>
                  </a:moveTo>
                  <a:cubicBezTo>
                    <a:pt x="102" y="1"/>
                    <a:pt x="1" y="103"/>
                    <a:pt x="1" y="228"/>
                  </a:cubicBezTo>
                  <a:lnTo>
                    <a:pt x="1" y="11401"/>
                  </a:lnTo>
                  <a:cubicBezTo>
                    <a:pt x="1" y="11526"/>
                    <a:pt x="103" y="11627"/>
                    <a:pt x="228" y="11627"/>
                  </a:cubicBezTo>
                  <a:lnTo>
                    <a:pt x="11401" y="11627"/>
                  </a:lnTo>
                  <a:cubicBezTo>
                    <a:pt x="11526" y="11627"/>
                    <a:pt x="11627" y="11524"/>
                    <a:pt x="11627" y="11401"/>
                  </a:cubicBezTo>
                  <a:lnTo>
                    <a:pt x="11627" y="228"/>
                  </a:lnTo>
                  <a:cubicBezTo>
                    <a:pt x="11627" y="103"/>
                    <a:pt x="11524" y="1"/>
                    <a:pt x="11398" y="1"/>
                  </a:cubicBezTo>
                  <a:lnTo>
                    <a:pt x="10490" y="1"/>
                  </a:lnTo>
                  <a:cubicBezTo>
                    <a:pt x="10364" y="1"/>
                    <a:pt x="10264" y="103"/>
                    <a:pt x="10264" y="228"/>
                  </a:cubicBezTo>
                  <a:lnTo>
                    <a:pt x="10264" y="1499"/>
                  </a:lnTo>
                  <a:lnTo>
                    <a:pt x="6693" y="1499"/>
                  </a:lnTo>
                  <a:cubicBezTo>
                    <a:pt x="6592" y="1108"/>
                    <a:pt x="6236" y="818"/>
                    <a:pt x="5813" y="818"/>
                  </a:cubicBezTo>
                  <a:cubicBezTo>
                    <a:pt x="5541" y="818"/>
                    <a:pt x="5298" y="937"/>
                    <a:pt x="5132" y="1127"/>
                  </a:cubicBezTo>
                  <a:cubicBezTo>
                    <a:pt x="4965" y="938"/>
                    <a:pt x="4722" y="818"/>
                    <a:pt x="4451" y="818"/>
                  </a:cubicBezTo>
                  <a:cubicBezTo>
                    <a:pt x="4179" y="818"/>
                    <a:pt x="3936" y="937"/>
                    <a:pt x="3770" y="1127"/>
                  </a:cubicBezTo>
                  <a:cubicBezTo>
                    <a:pt x="3603" y="938"/>
                    <a:pt x="3360" y="818"/>
                    <a:pt x="3089" y="818"/>
                  </a:cubicBezTo>
                  <a:cubicBezTo>
                    <a:pt x="2666" y="818"/>
                    <a:pt x="2309" y="1108"/>
                    <a:pt x="2209" y="1499"/>
                  </a:cubicBezTo>
                  <a:lnTo>
                    <a:pt x="1362" y="1499"/>
                  </a:lnTo>
                  <a:lnTo>
                    <a:pt x="1362" y="228"/>
                  </a:lnTo>
                  <a:cubicBezTo>
                    <a:pt x="1362" y="102"/>
                    <a:pt x="1261" y="1"/>
                    <a:pt x="11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825" lIns="92825" spcFirstLastPara="1" rIns="92825" wrap="square" tIns="9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8"/>
            <p:cNvSpPr/>
            <p:nvPr/>
          </p:nvSpPr>
          <p:spPr>
            <a:xfrm>
              <a:off x="7279935" y="3689688"/>
              <a:ext cx="17435" cy="17396"/>
            </a:xfrm>
            <a:custGeom>
              <a:rect b="b" l="l" r="r" t="t"/>
              <a:pathLst>
                <a:path extrusionOk="0" h="453" w="454">
                  <a:moveTo>
                    <a:pt x="226" y="0"/>
                  </a:moveTo>
                  <a:cubicBezTo>
                    <a:pt x="101" y="0"/>
                    <a:pt x="0" y="102"/>
                    <a:pt x="0" y="226"/>
                  </a:cubicBezTo>
                  <a:cubicBezTo>
                    <a:pt x="0" y="351"/>
                    <a:pt x="103" y="453"/>
                    <a:pt x="226" y="453"/>
                  </a:cubicBezTo>
                  <a:cubicBezTo>
                    <a:pt x="351" y="453"/>
                    <a:pt x="454" y="351"/>
                    <a:pt x="454" y="226"/>
                  </a:cubicBezTo>
                  <a:cubicBezTo>
                    <a:pt x="454" y="102"/>
                    <a:pt x="352" y="0"/>
                    <a:pt x="2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825" lIns="92825" spcFirstLastPara="1" rIns="92825" wrap="square" tIns="9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8"/>
            <p:cNvSpPr/>
            <p:nvPr/>
          </p:nvSpPr>
          <p:spPr>
            <a:xfrm>
              <a:off x="7065457" y="3689688"/>
              <a:ext cx="197043" cy="17396"/>
            </a:xfrm>
            <a:custGeom>
              <a:rect b="b" l="l" r="r" t="t"/>
              <a:pathLst>
                <a:path extrusionOk="0" h="453" w="5131">
                  <a:moveTo>
                    <a:pt x="227" y="0"/>
                  </a:moveTo>
                  <a:cubicBezTo>
                    <a:pt x="101" y="0"/>
                    <a:pt x="0" y="102"/>
                    <a:pt x="0" y="226"/>
                  </a:cubicBezTo>
                  <a:cubicBezTo>
                    <a:pt x="0" y="351"/>
                    <a:pt x="102" y="453"/>
                    <a:pt x="227" y="453"/>
                  </a:cubicBezTo>
                  <a:lnTo>
                    <a:pt x="4904" y="453"/>
                  </a:lnTo>
                  <a:cubicBezTo>
                    <a:pt x="5030" y="453"/>
                    <a:pt x="5130" y="351"/>
                    <a:pt x="5130" y="226"/>
                  </a:cubicBezTo>
                  <a:cubicBezTo>
                    <a:pt x="5130" y="102"/>
                    <a:pt x="5030" y="0"/>
                    <a:pt x="4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825" lIns="92825" spcFirstLastPara="1" rIns="92825" wrap="square" tIns="928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9" name="Google Shape;599;p18"/>
          <p:cNvSpPr txBox="1"/>
          <p:nvPr/>
        </p:nvSpPr>
        <p:spPr>
          <a:xfrm>
            <a:off x="4814150" y="1621625"/>
            <a:ext cx="34686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85200C"/>
                </a:solidFill>
                <a:latin typeface="Raleway"/>
                <a:ea typeface="Raleway"/>
                <a:cs typeface="Raleway"/>
                <a:sym typeface="Raleway"/>
              </a:rPr>
              <a:t>Focus Interventions Directly on High-Density Sales Segments</a:t>
            </a:r>
            <a:endParaRPr b="1" i="0" sz="1200" u="none" cap="none" strike="noStrike">
              <a:solidFill>
                <a:srgbClr val="85200C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0" name="Google Shape;600;p18"/>
          <p:cNvSpPr txBox="1"/>
          <p:nvPr/>
        </p:nvSpPr>
        <p:spPr>
          <a:xfrm>
            <a:off x="4814150" y="2544125"/>
            <a:ext cx="34686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BF9000"/>
                </a:solidFill>
                <a:latin typeface="Raleway"/>
                <a:ea typeface="Raleway"/>
                <a:cs typeface="Raleway"/>
                <a:sym typeface="Raleway"/>
              </a:rPr>
              <a:t>Deploy Value-Based Retaining Triggers at Checkout </a:t>
            </a:r>
            <a:endParaRPr b="1" i="0" sz="1200" u="none" cap="none" strike="noStrike">
              <a:solidFill>
                <a:srgbClr val="BF9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1" name="Google Shape;601;p18"/>
          <p:cNvSpPr txBox="1"/>
          <p:nvPr/>
        </p:nvSpPr>
        <p:spPr>
          <a:xfrm>
            <a:off x="4814150" y="3466625"/>
            <a:ext cx="34686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38761D"/>
                </a:solidFill>
                <a:latin typeface="Raleway"/>
                <a:ea typeface="Raleway"/>
                <a:cs typeface="Raleway"/>
                <a:sym typeface="Raleway"/>
              </a:rPr>
              <a:t>Standardize Cancellation Monitoring Across All Dashboards</a:t>
            </a:r>
            <a:endParaRPr b="1" i="0" sz="1200" u="none" cap="none" strike="noStrike">
              <a:solidFill>
                <a:srgbClr val="38761D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602" name="Google Shape;602;p18"/>
          <p:cNvCxnSpPr>
            <a:stCxn id="590" idx="3"/>
            <a:endCxn id="599" idx="1"/>
          </p:cNvCxnSpPr>
          <p:nvPr/>
        </p:nvCxnSpPr>
        <p:spPr>
          <a:xfrm>
            <a:off x="3955375" y="1945038"/>
            <a:ext cx="858900" cy="6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rgbClr val="85200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8"/>
          <p:cNvCxnSpPr>
            <a:stCxn id="591" idx="3"/>
            <a:endCxn id="600" idx="1"/>
          </p:cNvCxnSpPr>
          <p:nvPr/>
        </p:nvCxnSpPr>
        <p:spPr>
          <a:xfrm flipH="1" rot="10800000">
            <a:off x="3955375" y="2867576"/>
            <a:ext cx="858900" cy="4905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8"/>
          <p:cNvCxnSpPr>
            <a:stCxn id="591" idx="3"/>
            <a:endCxn id="601" idx="1"/>
          </p:cNvCxnSpPr>
          <p:nvPr/>
        </p:nvCxnSpPr>
        <p:spPr>
          <a:xfrm>
            <a:off x="3955375" y="3358076"/>
            <a:ext cx="858900" cy="432000"/>
          </a:xfrm>
          <a:prstGeom prst="curvedConnector3">
            <a:avLst>
              <a:gd fmla="val 49993" name="adj1"/>
            </a:avLst>
          </a:prstGeom>
          <a:noFill/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9"/>
          <p:cNvSpPr txBox="1"/>
          <p:nvPr/>
        </p:nvSpPr>
        <p:spPr>
          <a:xfrm flipH="1">
            <a:off x="6067600" y="1661750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Apply localized promo or partner courier in these high-volume sectors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Goal is to secure the largest pools of revenue from minor friction points.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0" name="Google Shape;610;p19"/>
          <p:cNvSpPr txBox="1"/>
          <p:nvPr/>
        </p:nvSpPr>
        <p:spPr>
          <a:xfrm flipH="1">
            <a:off x="3272550" y="1644500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Automatically prioritizes the resources for these segment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Allocate targeted operational buffers during peak traffic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1" name="Google Shape;611;p19"/>
          <p:cNvSpPr txBox="1"/>
          <p:nvPr/>
        </p:nvSpPr>
        <p:spPr>
          <a:xfrm flipH="1">
            <a:off x="477500" y="1661775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Identify top-tier revenue segments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Flag high-density zones where total transaction volume peaks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12" name="Google Shape;612;p19"/>
          <p:cNvSpPr/>
          <p:nvPr/>
        </p:nvSpPr>
        <p:spPr>
          <a:xfrm>
            <a:off x="477625" y="166177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9"/>
          <p:cNvSpPr txBox="1"/>
          <p:nvPr>
            <p:ph type="title"/>
          </p:nvPr>
        </p:nvSpPr>
        <p:spPr>
          <a:xfrm>
            <a:off x="720000" y="3899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>
                <a:solidFill>
                  <a:srgbClr val="85200C"/>
                </a:solidFill>
              </a:rPr>
              <a:t>Focus</a:t>
            </a:r>
            <a:r>
              <a:rPr lang="en" sz="2000">
                <a:solidFill>
                  <a:srgbClr val="CC4125"/>
                </a:solidFill>
              </a:rPr>
              <a:t> </a:t>
            </a:r>
            <a:r>
              <a:rPr lang="en" sz="2000">
                <a:solidFill>
                  <a:schemeClr val="lt1"/>
                </a:solidFill>
                <a:highlight>
                  <a:srgbClr val="85200C"/>
                </a:highlight>
              </a:rPr>
              <a:t>Interventions</a:t>
            </a:r>
            <a:r>
              <a:rPr lang="en" sz="2000">
                <a:solidFill>
                  <a:srgbClr val="85200C"/>
                </a:solidFill>
              </a:rPr>
              <a:t> Directly on </a:t>
            </a:r>
            <a:r>
              <a:rPr lang="en" sz="2000">
                <a:solidFill>
                  <a:srgbClr val="85200C"/>
                </a:solidFill>
                <a:highlight>
                  <a:schemeClr val="lt1"/>
                </a:highlight>
              </a:rPr>
              <a:t>High-Density</a:t>
            </a:r>
            <a:r>
              <a:rPr lang="en" sz="2000">
                <a:solidFill>
                  <a:srgbClr val="85200C"/>
                </a:solidFill>
              </a:rPr>
              <a:t> Sales Segments</a:t>
            </a:r>
            <a:endParaRPr sz="2000">
              <a:solidFill>
                <a:srgbClr val="85200C"/>
              </a:solidFill>
            </a:endParaRPr>
          </a:p>
        </p:txBody>
      </p:sp>
      <p:sp>
        <p:nvSpPr>
          <p:cNvPr id="614" name="Google Shape;614;p19"/>
          <p:cNvSpPr txBox="1"/>
          <p:nvPr/>
        </p:nvSpPr>
        <p:spPr>
          <a:xfrm flipH="1">
            <a:off x="1054375" y="1661781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Segment Identification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615" name="Google Shape;615;p19"/>
          <p:cNvGrpSpPr/>
          <p:nvPr/>
        </p:nvGrpSpPr>
        <p:grpSpPr>
          <a:xfrm>
            <a:off x="517008" y="1735613"/>
            <a:ext cx="498427" cy="424788"/>
            <a:chOff x="2732951" y="1189532"/>
            <a:chExt cx="446659" cy="383833"/>
          </a:xfrm>
        </p:grpSpPr>
        <p:sp>
          <p:nvSpPr>
            <p:cNvPr id="616" name="Google Shape;616;p19"/>
            <p:cNvSpPr/>
            <p:nvPr/>
          </p:nvSpPr>
          <p:spPr>
            <a:xfrm>
              <a:off x="3074887" y="1416298"/>
              <a:ext cx="17396" cy="17473"/>
            </a:xfrm>
            <a:custGeom>
              <a:rect b="b" l="l" r="r" t="t"/>
              <a:pathLst>
                <a:path extrusionOk="0" h="455" w="453">
                  <a:moveTo>
                    <a:pt x="227" y="0"/>
                  </a:moveTo>
                  <a:cubicBezTo>
                    <a:pt x="101" y="0"/>
                    <a:pt x="0" y="103"/>
                    <a:pt x="0" y="227"/>
                  </a:cubicBezTo>
                  <a:cubicBezTo>
                    <a:pt x="0" y="351"/>
                    <a:pt x="101" y="454"/>
                    <a:pt x="227" y="454"/>
                  </a:cubicBezTo>
                  <a:cubicBezTo>
                    <a:pt x="352" y="454"/>
                    <a:pt x="453" y="351"/>
                    <a:pt x="453" y="227"/>
                  </a:cubicBezTo>
                  <a:cubicBezTo>
                    <a:pt x="453" y="103"/>
                    <a:pt x="351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325" lIns="115325" spcFirstLastPara="1" rIns="115325" wrap="square" tIns="115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9"/>
            <p:cNvSpPr/>
            <p:nvPr/>
          </p:nvSpPr>
          <p:spPr>
            <a:xfrm>
              <a:off x="2820202" y="1416298"/>
              <a:ext cx="17435" cy="17473"/>
            </a:xfrm>
            <a:custGeom>
              <a:rect b="b" l="l" r="r" t="t"/>
              <a:pathLst>
                <a:path extrusionOk="0" h="455" w="454">
                  <a:moveTo>
                    <a:pt x="227" y="0"/>
                  </a:moveTo>
                  <a:cubicBezTo>
                    <a:pt x="102" y="0"/>
                    <a:pt x="1" y="103"/>
                    <a:pt x="1" y="227"/>
                  </a:cubicBezTo>
                  <a:cubicBezTo>
                    <a:pt x="1" y="351"/>
                    <a:pt x="102" y="454"/>
                    <a:pt x="227" y="454"/>
                  </a:cubicBezTo>
                  <a:cubicBezTo>
                    <a:pt x="353" y="454"/>
                    <a:pt x="454" y="351"/>
                    <a:pt x="454" y="227"/>
                  </a:cubicBezTo>
                  <a:cubicBezTo>
                    <a:pt x="454" y="103"/>
                    <a:pt x="352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325" lIns="115325" spcFirstLastPara="1" rIns="115325" wrap="square" tIns="115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9"/>
            <p:cNvSpPr/>
            <p:nvPr/>
          </p:nvSpPr>
          <p:spPr>
            <a:xfrm>
              <a:off x="2820163" y="1427973"/>
              <a:ext cx="69854" cy="110407"/>
            </a:xfrm>
            <a:custGeom>
              <a:rect b="b" l="l" r="r" t="t"/>
              <a:pathLst>
                <a:path extrusionOk="0" h="2875" w="1819">
                  <a:moveTo>
                    <a:pt x="1085" y="0"/>
                  </a:moveTo>
                  <a:cubicBezTo>
                    <a:pt x="1018" y="0"/>
                    <a:pt x="953" y="29"/>
                    <a:pt x="908" y="84"/>
                  </a:cubicBezTo>
                  <a:cubicBezTo>
                    <a:pt x="830" y="181"/>
                    <a:pt x="844" y="325"/>
                    <a:pt x="941" y="404"/>
                  </a:cubicBezTo>
                  <a:cubicBezTo>
                    <a:pt x="1209" y="621"/>
                    <a:pt x="1363" y="943"/>
                    <a:pt x="1363" y="1287"/>
                  </a:cubicBezTo>
                  <a:cubicBezTo>
                    <a:pt x="1363" y="1912"/>
                    <a:pt x="853" y="2421"/>
                    <a:pt x="227" y="2421"/>
                  </a:cubicBezTo>
                  <a:cubicBezTo>
                    <a:pt x="102" y="2421"/>
                    <a:pt x="1" y="2524"/>
                    <a:pt x="1" y="2649"/>
                  </a:cubicBezTo>
                  <a:cubicBezTo>
                    <a:pt x="1" y="2774"/>
                    <a:pt x="103" y="2875"/>
                    <a:pt x="227" y="2875"/>
                  </a:cubicBezTo>
                  <a:cubicBezTo>
                    <a:pt x="1103" y="2875"/>
                    <a:pt x="1816" y="2161"/>
                    <a:pt x="1816" y="1286"/>
                  </a:cubicBezTo>
                  <a:cubicBezTo>
                    <a:pt x="1819" y="805"/>
                    <a:pt x="1604" y="354"/>
                    <a:pt x="1228" y="50"/>
                  </a:cubicBezTo>
                  <a:cubicBezTo>
                    <a:pt x="1186" y="17"/>
                    <a:pt x="1135" y="0"/>
                    <a:pt x="10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325" lIns="115325" spcFirstLastPara="1" rIns="115325" wrap="square" tIns="115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9"/>
            <p:cNvSpPr/>
            <p:nvPr/>
          </p:nvSpPr>
          <p:spPr>
            <a:xfrm>
              <a:off x="2732951" y="1189532"/>
              <a:ext cx="446659" cy="383833"/>
            </a:xfrm>
            <a:custGeom>
              <a:rect b="b" l="l" r="r" t="t"/>
              <a:pathLst>
                <a:path extrusionOk="0" h="9995" w="11631">
                  <a:moveTo>
                    <a:pt x="4090" y="455"/>
                  </a:moveTo>
                  <a:cubicBezTo>
                    <a:pt x="4339" y="455"/>
                    <a:pt x="4543" y="659"/>
                    <a:pt x="4543" y="908"/>
                  </a:cubicBezTo>
                  <a:lnTo>
                    <a:pt x="4543" y="1257"/>
                  </a:lnTo>
                  <a:cubicBezTo>
                    <a:pt x="4302" y="1041"/>
                    <a:pt x="3985" y="908"/>
                    <a:pt x="3635" y="908"/>
                  </a:cubicBezTo>
                  <a:cubicBezTo>
                    <a:pt x="3635" y="659"/>
                    <a:pt x="3839" y="455"/>
                    <a:pt x="4090" y="455"/>
                  </a:cubicBezTo>
                  <a:close/>
                  <a:moveTo>
                    <a:pt x="7541" y="455"/>
                  </a:moveTo>
                  <a:cubicBezTo>
                    <a:pt x="7791" y="455"/>
                    <a:pt x="7995" y="659"/>
                    <a:pt x="7995" y="908"/>
                  </a:cubicBezTo>
                  <a:cubicBezTo>
                    <a:pt x="7647" y="908"/>
                    <a:pt x="7329" y="1041"/>
                    <a:pt x="7087" y="1257"/>
                  </a:cubicBezTo>
                  <a:lnTo>
                    <a:pt x="7087" y="908"/>
                  </a:lnTo>
                  <a:cubicBezTo>
                    <a:pt x="7087" y="659"/>
                    <a:pt x="7291" y="455"/>
                    <a:pt x="7541" y="455"/>
                  </a:cubicBezTo>
                  <a:close/>
                  <a:moveTo>
                    <a:pt x="3635" y="1363"/>
                  </a:moveTo>
                  <a:cubicBezTo>
                    <a:pt x="4137" y="1363"/>
                    <a:pt x="4543" y="1771"/>
                    <a:pt x="4543" y="2272"/>
                  </a:cubicBezTo>
                  <a:lnTo>
                    <a:pt x="4543" y="2888"/>
                  </a:lnTo>
                  <a:cubicBezTo>
                    <a:pt x="4211" y="2510"/>
                    <a:pt x="3724" y="2272"/>
                    <a:pt x="3180" y="2272"/>
                  </a:cubicBezTo>
                  <a:cubicBezTo>
                    <a:pt x="2983" y="2272"/>
                    <a:pt x="2792" y="2304"/>
                    <a:pt x="2608" y="2363"/>
                  </a:cubicBezTo>
                  <a:lnTo>
                    <a:pt x="2880" y="1767"/>
                  </a:lnTo>
                  <a:cubicBezTo>
                    <a:pt x="3045" y="1519"/>
                    <a:pt x="3328" y="1363"/>
                    <a:pt x="3635" y="1363"/>
                  </a:cubicBezTo>
                  <a:close/>
                  <a:moveTo>
                    <a:pt x="7995" y="1363"/>
                  </a:moveTo>
                  <a:cubicBezTo>
                    <a:pt x="8302" y="1363"/>
                    <a:pt x="8585" y="1518"/>
                    <a:pt x="8751" y="1767"/>
                  </a:cubicBezTo>
                  <a:lnTo>
                    <a:pt x="9022" y="2363"/>
                  </a:lnTo>
                  <a:cubicBezTo>
                    <a:pt x="8838" y="2304"/>
                    <a:pt x="8647" y="2272"/>
                    <a:pt x="8450" y="2272"/>
                  </a:cubicBezTo>
                  <a:cubicBezTo>
                    <a:pt x="7908" y="2272"/>
                    <a:pt x="7420" y="2511"/>
                    <a:pt x="7087" y="2888"/>
                  </a:cubicBezTo>
                  <a:lnTo>
                    <a:pt x="7087" y="2272"/>
                  </a:lnTo>
                  <a:cubicBezTo>
                    <a:pt x="7087" y="1771"/>
                    <a:pt x="7494" y="1363"/>
                    <a:pt x="7995" y="1363"/>
                  </a:cubicBezTo>
                  <a:close/>
                  <a:moveTo>
                    <a:pt x="6632" y="3180"/>
                  </a:moveTo>
                  <a:lnTo>
                    <a:pt x="6632" y="5450"/>
                  </a:lnTo>
                  <a:lnTo>
                    <a:pt x="4997" y="5450"/>
                  </a:lnTo>
                  <a:lnTo>
                    <a:pt x="4997" y="3180"/>
                  </a:lnTo>
                  <a:close/>
                  <a:moveTo>
                    <a:pt x="8450" y="2725"/>
                  </a:moveTo>
                  <a:cubicBezTo>
                    <a:pt x="8775" y="2725"/>
                    <a:pt x="9088" y="2840"/>
                    <a:pt x="9334" y="3051"/>
                  </a:cubicBezTo>
                  <a:lnTo>
                    <a:pt x="10363" y="5319"/>
                  </a:lnTo>
                  <a:cubicBezTo>
                    <a:pt x="9994" y="5109"/>
                    <a:pt x="9571" y="4996"/>
                    <a:pt x="9131" y="4996"/>
                  </a:cubicBezTo>
                  <a:cubicBezTo>
                    <a:pt x="8287" y="4996"/>
                    <a:pt x="7539" y="5416"/>
                    <a:pt x="7087" y="6059"/>
                  </a:cubicBezTo>
                  <a:lnTo>
                    <a:pt x="7087" y="4088"/>
                  </a:lnTo>
                  <a:cubicBezTo>
                    <a:pt x="7087" y="3337"/>
                    <a:pt x="7698" y="2725"/>
                    <a:pt x="8450" y="2725"/>
                  </a:cubicBezTo>
                  <a:close/>
                  <a:moveTo>
                    <a:pt x="3180" y="2726"/>
                  </a:moveTo>
                  <a:cubicBezTo>
                    <a:pt x="3932" y="2726"/>
                    <a:pt x="4543" y="3338"/>
                    <a:pt x="4543" y="4090"/>
                  </a:cubicBezTo>
                  <a:lnTo>
                    <a:pt x="4543" y="6061"/>
                  </a:lnTo>
                  <a:cubicBezTo>
                    <a:pt x="4091" y="5418"/>
                    <a:pt x="3344" y="4998"/>
                    <a:pt x="2499" y="4998"/>
                  </a:cubicBezTo>
                  <a:cubicBezTo>
                    <a:pt x="2059" y="4998"/>
                    <a:pt x="1636" y="5113"/>
                    <a:pt x="1267" y="5322"/>
                  </a:cubicBezTo>
                  <a:lnTo>
                    <a:pt x="2296" y="3053"/>
                  </a:lnTo>
                  <a:cubicBezTo>
                    <a:pt x="2542" y="2841"/>
                    <a:pt x="2855" y="2726"/>
                    <a:pt x="3180" y="2726"/>
                  </a:cubicBezTo>
                  <a:close/>
                  <a:moveTo>
                    <a:pt x="6633" y="5904"/>
                  </a:moveTo>
                  <a:lnTo>
                    <a:pt x="6633" y="6359"/>
                  </a:lnTo>
                  <a:lnTo>
                    <a:pt x="4998" y="6359"/>
                  </a:lnTo>
                  <a:lnTo>
                    <a:pt x="4998" y="5904"/>
                  </a:lnTo>
                  <a:close/>
                  <a:moveTo>
                    <a:pt x="2498" y="5451"/>
                  </a:moveTo>
                  <a:cubicBezTo>
                    <a:pt x="3625" y="5451"/>
                    <a:pt x="4542" y="6367"/>
                    <a:pt x="4542" y="7496"/>
                  </a:cubicBezTo>
                  <a:cubicBezTo>
                    <a:pt x="4543" y="8622"/>
                    <a:pt x="3626" y="9538"/>
                    <a:pt x="2499" y="9538"/>
                  </a:cubicBezTo>
                  <a:cubicBezTo>
                    <a:pt x="1372" y="9538"/>
                    <a:pt x="455" y="8622"/>
                    <a:pt x="455" y="7494"/>
                  </a:cubicBezTo>
                  <a:cubicBezTo>
                    <a:pt x="455" y="7100"/>
                    <a:pt x="566" y="6720"/>
                    <a:pt x="778" y="6390"/>
                  </a:cubicBezTo>
                  <a:cubicBezTo>
                    <a:pt x="1157" y="5802"/>
                    <a:pt x="1799" y="5451"/>
                    <a:pt x="2498" y="5451"/>
                  </a:cubicBezTo>
                  <a:close/>
                  <a:moveTo>
                    <a:pt x="9131" y="5450"/>
                  </a:moveTo>
                  <a:cubicBezTo>
                    <a:pt x="9828" y="5450"/>
                    <a:pt x="10471" y="5801"/>
                    <a:pt x="10850" y="6388"/>
                  </a:cubicBezTo>
                  <a:cubicBezTo>
                    <a:pt x="11062" y="6718"/>
                    <a:pt x="11173" y="7099"/>
                    <a:pt x="11173" y="7493"/>
                  </a:cubicBezTo>
                  <a:cubicBezTo>
                    <a:pt x="11174" y="8622"/>
                    <a:pt x="10258" y="9538"/>
                    <a:pt x="9131" y="9538"/>
                  </a:cubicBezTo>
                  <a:cubicBezTo>
                    <a:pt x="8003" y="9538"/>
                    <a:pt x="7087" y="8622"/>
                    <a:pt x="7087" y="7494"/>
                  </a:cubicBezTo>
                  <a:cubicBezTo>
                    <a:pt x="7087" y="6366"/>
                    <a:pt x="8003" y="5450"/>
                    <a:pt x="9131" y="5450"/>
                  </a:cubicBezTo>
                  <a:close/>
                  <a:moveTo>
                    <a:pt x="4087" y="0"/>
                  </a:moveTo>
                  <a:cubicBezTo>
                    <a:pt x="3587" y="0"/>
                    <a:pt x="3179" y="407"/>
                    <a:pt x="3179" y="908"/>
                  </a:cubicBezTo>
                  <a:lnTo>
                    <a:pt x="3179" y="987"/>
                  </a:lnTo>
                  <a:cubicBezTo>
                    <a:pt x="2897" y="1087"/>
                    <a:pt x="2651" y="1280"/>
                    <a:pt x="2488" y="1535"/>
                  </a:cubicBezTo>
                  <a:cubicBezTo>
                    <a:pt x="2471" y="1561"/>
                    <a:pt x="2572" y="1346"/>
                    <a:pt x="387" y="6160"/>
                  </a:cubicBezTo>
                  <a:cubicBezTo>
                    <a:pt x="133" y="6561"/>
                    <a:pt x="1" y="7019"/>
                    <a:pt x="1" y="7496"/>
                  </a:cubicBezTo>
                  <a:cubicBezTo>
                    <a:pt x="1" y="8873"/>
                    <a:pt x="1122" y="9994"/>
                    <a:pt x="2499" y="9994"/>
                  </a:cubicBezTo>
                  <a:cubicBezTo>
                    <a:pt x="3877" y="9994"/>
                    <a:pt x="4998" y="8873"/>
                    <a:pt x="4998" y="7496"/>
                  </a:cubicBezTo>
                  <a:lnTo>
                    <a:pt x="4998" y="6815"/>
                  </a:lnTo>
                  <a:lnTo>
                    <a:pt x="6633" y="6815"/>
                  </a:lnTo>
                  <a:lnTo>
                    <a:pt x="6633" y="7496"/>
                  </a:lnTo>
                  <a:cubicBezTo>
                    <a:pt x="6633" y="8873"/>
                    <a:pt x="7754" y="9994"/>
                    <a:pt x="9132" y="9994"/>
                  </a:cubicBezTo>
                  <a:cubicBezTo>
                    <a:pt x="10509" y="9994"/>
                    <a:pt x="11630" y="8873"/>
                    <a:pt x="11630" y="7496"/>
                  </a:cubicBezTo>
                  <a:cubicBezTo>
                    <a:pt x="11629" y="7020"/>
                    <a:pt x="11497" y="6561"/>
                    <a:pt x="11241" y="6160"/>
                  </a:cubicBezTo>
                  <a:cubicBezTo>
                    <a:pt x="9057" y="1347"/>
                    <a:pt x="9158" y="1562"/>
                    <a:pt x="9141" y="1535"/>
                  </a:cubicBezTo>
                  <a:cubicBezTo>
                    <a:pt x="8978" y="1280"/>
                    <a:pt x="8731" y="1089"/>
                    <a:pt x="8450" y="987"/>
                  </a:cubicBezTo>
                  <a:lnTo>
                    <a:pt x="8450" y="908"/>
                  </a:lnTo>
                  <a:cubicBezTo>
                    <a:pt x="8450" y="407"/>
                    <a:pt x="8042" y="0"/>
                    <a:pt x="7541" y="0"/>
                  </a:cubicBezTo>
                  <a:cubicBezTo>
                    <a:pt x="7040" y="0"/>
                    <a:pt x="6632" y="407"/>
                    <a:pt x="6632" y="908"/>
                  </a:cubicBezTo>
                  <a:lnTo>
                    <a:pt x="6632" y="2725"/>
                  </a:lnTo>
                  <a:lnTo>
                    <a:pt x="4997" y="2725"/>
                  </a:lnTo>
                  <a:lnTo>
                    <a:pt x="4997" y="908"/>
                  </a:lnTo>
                  <a:cubicBezTo>
                    <a:pt x="4997" y="407"/>
                    <a:pt x="4589" y="0"/>
                    <a:pt x="4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325" lIns="115325" spcFirstLastPara="1" rIns="115325" wrap="square" tIns="115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65"/>
                <a:buFont typeface="Arial"/>
                <a:buNone/>
              </a:pPr>
              <a:r>
                <a:t/>
              </a:r>
              <a:endParaRPr b="0" i="0" sz="17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9"/>
            <p:cNvSpPr/>
            <p:nvPr/>
          </p:nvSpPr>
          <p:spPr>
            <a:xfrm>
              <a:off x="3074849" y="1427896"/>
              <a:ext cx="69816" cy="110446"/>
            </a:xfrm>
            <a:custGeom>
              <a:rect b="b" l="l" r="r" t="t"/>
              <a:pathLst>
                <a:path extrusionOk="0" h="2876" w="1818">
                  <a:moveTo>
                    <a:pt x="1083" y="1"/>
                  </a:moveTo>
                  <a:cubicBezTo>
                    <a:pt x="1017" y="1"/>
                    <a:pt x="952" y="29"/>
                    <a:pt x="907" y="84"/>
                  </a:cubicBezTo>
                  <a:cubicBezTo>
                    <a:pt x="829" y="180"/>
                    <a:pt x="844" y="325"/>
                    <a:pt x="940" y="403"/>
                  </a:cubicBezTo>
                  <a:cubicBezTo>
                    <a:pt x="1198" y="611"/>
                    <a:pt x="1362" y="929"/>
                    <a:pt x="1362" y="1287"/>
                  </a:cubicBezTo>
                  <a:cubicBezTo>
                    <a:pt x="1362" y="1913"/>
                    <a:pt x="852" y="2422"/>
                    <a:pt x="227" y="2422"/>
                  </a:cubicBezTo>
                  <a:cubicBezTo>
                    <a:pt x="101" y="2422"/>
                    <a:pt x="0" y="2525"/>
                    <a:pt x="0" y="2648"/>
                  </a:cubicBezTo>
                  <a:cubicBezTo>
                    <a:pt x="0" y="2775"/>
                    <a:pt x="102" y="2876"/>
                    <a:pt x="227" y="2876"/>
                  </a:cubicBezTo>
                  <a:cubicBezTo>
                    <a:pt x="1102" y="2876"/>
                    <a:pt x="1816" y="2161"/>
                    <a:pt x="1816" y="1286"/>
                  </a:cubicBezTo>
                  <a:cubicBezTo>
                    <a:pt x="1818" y="792"/>
                    <a:pt x="1590" y="346"/>
                    <a:pt x="1227" y="51"/>
                  </a:cubicBezTo>
                  <a:cubicBezTo>
                    <a:pt x="1185" y="17"/>
                    <a:pt x="1134" y="1"/>
                    <a:pt x="1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5325" lIns="115325" spcFirstLastPara="1" rIns="115325" wrap="square" tIns="115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19"/>
          <p:cNvSpPr/>
          <p:nvPr/>
        </p:nvSpPr>
        <p:spPr>
          <a:xfrm>
            <a:off x="3272675" y="164452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9"/>
          <p:cNvSpPr txBox="1"/>
          <p:nvPr/>
        </p:nvSpPr>
        <p:spPr>
          <a:xfrm flipH="1">
            <a:off x="3849424" y="1644529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Dynamic Allocation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623" name="Google Shape;623;p19"/>
          <p:cNvGrpSpPr/>
          <p:nvPr/>
        </p:nvGrpSpPr>
        <p:grpSpPr>
          <a:xfrm>
            <a:off x="3312057" y="1718466"/>
            <a:ext cx="498432" cy="424822"/>
            <a:chOff x="-4211975" y="2046625"/>
            <a:chExt cx="292250" cy="290675"/>
          </a:xfrm>
        </p:grpSpPr>
        <p:sp>
          <p:nvSpPr>
            <p:cNvPr id="624" name="Google Shape;624;p19"/>
            <p:cNvSpPr/>
            <p:nvPr/>
          </p:nvSpPr>
          <p:spPr>
            <a:xfrm>
              <a:off x="-4211975" y="2081300"/>
              <a:ext cx="256025" cy="256000"/>
            </a:xfrm>
            <a:custGeom>
              <a:rect b="b" l="l" r="r" t="t"/>
              <a:pathLst>
                <a:path extrusionOk="0" h="10240" w="10241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050" lIns="122050" spcFirstLastPara="1" rIns="122050" wrap="square" tIns="122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25"/>
                <a:buFont typeface="Arial"/>
                <a:buNone/>
              </a:pPr>
              <a:r>
                <a:t/>
              </a:r>
              <a:endParaRPr b="0" i="0" sz="18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9"/>
            <p:cNvSpPr/>
            <p:nvPr/>
          </p:nvSpPr>
          <p:spPr>
            <a:xfrm>
              <a:off x="-4057600" y="2046625"/>
              <a:ext cx="137875" cy="137875"/>
            </a:xfrm>
            <a:custGeom>
              <a:rect b="b" l="l" r="r" t="t"/>
              <a:pathLst>
                <a:path extrusionOk="0" h="5515" w="5515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2050" lIns="122050" spcFirstLastPara="1" rIns="122050" wrap="square" tIns="1220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6" name="Google Shape;626;p19"/>
          <p:cNvSpPr/>
          <p:nvPr/>
        </p:nvSpPr>
        <p:spPr>
          <a:xfrm>
            <a:off x="6067725" y="166177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9"/>
          <p:cNvSpPr txBox="1"/>
          <p:nvPr/>
        </p:nvSpPr>
        <p:spPr>
          <a:xfrm flipH="1">
            <a:off x="6644482" y="1661780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Targeted Optimization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28" name="Google Shape;628;p19"/>
          <p:cNvSpPr/>
          <p:nvPr/>
        </p:nvSpPr>
        <p:spPr>
          <a:xfrm>
            <a:off x="6123313" y="1735715"/>
            <a:ext cx="466019" cy="424823"/>
          </a:xfrm>
          <a:custGeom>
            <a:rect b="b" l="l" r="r" t="t"/>
            <a:pathLst>
              <a:path extrusionOk="0" h="12724" w="12877">
                <a:moveTo>
                  <a:pt x="10492" y="1603"/>
                </a:moveTo>
                <a:lnTo>
                  <a:pt x="10429" y="1855"/>
                </a:lnTo>
                <a:cubicBezTo>
                  <a:pt x="10429" y="1981"/>
                  <a:pt x="10492" y="2138"/>
                  <a:pt x="10555" y="2201"/>
                </a:cubicBezTo>
                <a:cubicBezTo>
                  <a:pt x="10649" y="2296"/>
                  <a:pt x="10807" y="2327"/>
                  <a:pt x="10901" y="2327"/>
                </a:cubicBezTo>
                <a:lnTo>
                  <a:pt x="11153" y="2296"/>
                </a:lnTo>
                <a:lnTo>
                  <a:pt x="10492" y="2957"/>
                </a:lnTo>
                <a:lnTo>
                  <a:pt x="9736" y="3083"/>
                </a:lnTo>
                <a:lnTo>
                  <a:pt x="9799" y="2296"/>
                </a:lnTo>
                <a:lnTo>
                  <a:pt x="10492" y="1603"/>
                </a:lnTo>
                <a:close/>
                <a:moveTo>
                  <a:pt x="6270" y="6108"/>
                </a:moveTo>
                <a:cubicBezTo>
                  <a:pt x="6396" y="6108"/>
                  <a:pt x="6459" y="6139"/>
                  <a:pt x="6554" y="6234"/>
                </a:cubicBezTo>
                <a:cubicBezTo>
                  <a:pt x="6617" y="6265"/>
                  <a:pt x="6648" y="6391"/>
                  <a:pt x="6648" y="6486"/>
                </a:cubicBezTo>
                <a:cubicBezTo>
                  <a:pt x="6648" y="6738"/>
                  <a:pt x="6459" y="6927"/>
                  <a:pt x="6270" y="6927"/>
                </a:cubicBezTo>
                <a:cubicBezTo>
                  <a:pt x="6081" y="6927"/>
                  <a:pt x="5861" y="6738"/>
                  <a:pt x="5861" y="6486"/>
                </a:cubicBezTo>
                <a:cubicBezTo>
                  <a:pt x="5861" y="6265"/>
                  <a:pt x="6081" y="6108"/>
                  <a:pt x="6270" y="6108"/>
                </a:cubicBezTo>
                <a:close/>
                <a:moveTo>
                  <a:pt x="6176" y="4375"/>
                </a:moveTo>
                <a:cubicBezTo>
                  <a:pt x="6617" y="4375"/>
                  <a:pt x="7026" y="4501"/>
                  <a:pt x="7341" y="4722"/>
                </a:cubicBezTo>
                <a:lnTo>
                  <a:pt x="6743" y="5320"/>
                </a:lnTo>
                <a:cubicBezTo>
                  <a:pt x="6617" y="5289"/>
                  <a:pt x="6428" y="5226"/>
                  <a:pt x="6239" y="5226"/>
                </a:cubicBezTo>
                <a:cubicBezTo>
                  <a:pt x="5546" y="5226"/>
                  <a:pt x="5010" y="5793"/>
                  <a:pt x="5010" y="6454"/>
                </a:cubicBezTo>
                <a:cubicBezTo>
                  <a:pt x="5010" y="7116"/>
                  <a:pt x="5546" y="7715"/>
                  <a:pt x="6239" y="7715"/>
                </a:cubicBezTo>
                <a:cubicBezTo>
                  <a:pt x="6900" y="7715"/>
                  <a:pt x="7467" y="7147"/>
                  <a:pt x="7467" y="6454"/>
                </a:cubicBezTo>
                <a:cubicBezTo>
                  <a:pt x="7467" y="6265"/>
                  <a:pt x="7404" y="6108"/>
                  <a:pt x="7341" y="5887"/>
                </a:cubicBezTo>
                <a:lnTo>
                  <a:pt x="7908" y="5320"/>
                </a:lnTo>
                <a:cubicBezTo>
                  <a:pt x="8160" y="5635"/>
                  <a:pt x="8286" y="6013"/>
                  <a:pt x="8286" y="6454"/>
                </a:cubicBezTo>
                <a:cubicBezTo>
                  <a:pt x="8286" y="7588"/>
                  <a:pt x="7341" y="8534"/>
                  <a:pt x="6176" y="8534"/>
                </a:cubicBezTo>
                <a:cubicBezTo>
                  <a:pt x="5041" y="8534"/>
                  <a:pt x="4096" y="7588"/>
                  <a:pt x="4096" y="6454"/>
                </a:cubicBezTo>
                <a:cubicBezTo>
                  <a:pt x="4096" y="5320"/>
                  <a:pt x="5041" y="4375"/>
                  <a:pt x="6176" y="4375"/>
                </a:cubicBezTo>
                <a:close/>
                <a:moveTo>
                  <a:pt x="6239" y="2800"/>
                </a:moveTo>
                <a:cubicBezTo>
                  <a:pt x="7089" y="2800"/>
                  <a:pt x="7908" y="3115"/>
                  <a:pt x="8539" y="3619"/>
                </a:cubicBezTo>
                <a:lnTo>
                  <a:pt x="7971" y="4217"/>
                </a:lnTo>
                <a:cubicBezTo>
                  <a:pt x="7499" y="3839"/>
                  <a:pt x="6869" y="3619"/>
                  <a:pt x="6239" y="3619"/>
                </a:cubicBezTo>
                <a:cubicBezTo>
                  <a:pt x="4600" y="3619"/>
                  <a:pt x="3309" y="4911"/>
                  <a:pt x="3309" y="6486"/>
                </a:cubicBezTo>
                <a:cubicBezTo>
                  <a:pt x="3309" y="8124"/>
                  <a:pt x="4632" y="9416"/>
                  <a:pt x="6239" y="9416"/>
                </a:cubicBezTo>
                <a:cubicBezTo>
                  <a:pt x="7845" y="9416"/>
                  <a:pt x="9137" y="8124"/>
                  <a:pt x="9137" y="6486"/>
                </a:cubicBezTo>
                <a:cubicBezTo>
                  <a:pt x="9137" y="5856"/>
                  <a:pt x="8948" y="5226"/>
                  <a:pt x="8539" y="4753"/>
                </a:cubicBezTo>
                <a:lnTo>
                  <a:pt x="9137" y="4154"/>
                </a:lnTo>
                <a:cubicBezTo>
                  <a:pt x="9641" y="4816"/>
                  <a:pt x="9956" y="5604"/>
                  <a:pt x="9956" y="6486"/>
                </a:cubicBezTo>
                <a:cubicBezTo>
                  <a:pt x="9956" y="8534"/>
                  <a:pt x="8318" y="10235"/>
                  <a:pt x="6239" y="10235"/>
                </a:cubicBezTo>
                <a:cubicBezTo>
                  <a:pt x="4191" y="10235"/>
                  <a:pt x="2490" y="8597"/>
                  <a:pt x="2490" y="6486"/>
                </a:cubicBezTo>
                <a:cubicBezTo>
                  <a:pt x="2490" y="4438"/>
                  <a:pt x="4128" y="2800"/>
                  <a:pt x="6239" y="2800"/>
                </a:cubicBezTo>
                <a:close/>
                <a:moveTo>
                  <a:pt x="6270" y="1130"/>
                </a:moveTo>
                <a:cubicBezTo>
                  <a:pt x="7247" y="1130"/>
                  <a:pt x="8223" y="1414"/>
                  <a:pt x="9074" y="1918"/>
                </a:cubicBezTo>
                <a:cubicBezTo>
                  <a:pt x="9074" y="1949"/>
                  <a:pt x="9011" y="2012"/>
                  <a:pt x="9011" y="2044"/>
                </a:cubicBezTo>
                <a:lnTo>
                  <a:pt x="8917" y="2831"/>
                </a:lnTo>
                <a:cubicBezTo>
                  <a:pt x="8160" y="2296"/>
                  <a:pt x="7247" y="1981"/>
                  <a:pt x="6270" y="1981"/>
                </a:cubicBezTo>
                <a:cubicBezTo>
                  <a:pt x="3750" y="1981"/>
                  <a:pt x="1733" y="4028"/>
                  <a:pt x="1733" y="6486"/>
                </a:cubicBezTo>
                <a:cubicBezTo>
                  <a:pt x="1733" y="9006"/>
                  <a:pt x="3781" y="11054"/>
                  <a:pt x="6270" y="11054"/>
                </a:cubicBezTo>
                <a:cubicBezTo>
                  <a:pt x="8759" y="11054"/>
                  <a:pt x="10807" y="9006"/>
                  <a:pt x="10807" y="6486"/>
                </a:cubicBezTo>
                <a:cubicBezTo>
                  <a:pt x="10807" y="5509"/>
                  <a:pt x="10492" y="4596"/>
                  <a:pt x="9925" y="3871"/>
                </a:cubicBezTo>
                <a:lnTo>
                  <a:pt x="10712" y="3745"/>
                </a:lnTo>
                <a:cubicBezTo>
                  <a:pt x="10744" y="3745"/>
                  <a:pt x="10807" y="3745"/>
                  <a:pt x="10838" y="3713"/>
                </a:cubicBezTo>
                <a:cubicBezTo>
                  <a:pt x="11342" y="4533"/>
                  <a:pt x="11626" y="5478"/>
                  <a:pt x="11626" y="6486"/>
                </a:cubicBezTo>
                <a:cubicBezTo>
                  <a:pt x="11626" y="9447"/>
                  <a:pt x="9232" y="11873"/>
                  <a:pt x="6270" y="11873"/>
                </a:cubicBezTo>
                <a:cubicBezTo>
                  <a:pt x="3309" y="11873"/>
                  <a:pt x="914" y="9479"/>
                  <a:pt x="914" y="6486"/>
                </a:cubicBezTo>
                <a:cubicBezTo>
                  <a:pt x="914" y="3524"/>
                  <a:pt x="3309" y="1130"/>
                  <a:pt x="6270" y="1130"/>
                </a:cubicBezTo>
                <a:close/>
                <a:moveTo>
                  <a:pt x="11030" y="0"/>
                </a:moveTo>
                <a:cubicBezTo>
                  <a:pt x="10930" y="0"/>
                  <a:pt x="10829" y="37"/>
                  <a:pt x="10744" y="122"/>
                </a:cubicBezTo>
                <a:lnTo>
                  <a:pt x="9610" y="1256"/>
                </a:lnTo>
                <a:cubicBezTo>
                  <a:pt x="8602" y="594"/>
                  <a:pt x="7467" y="279"/>
                  <a:pt x="6239" y="279"/>
                </a:cubicBezTo>
                <a:cubicBezTo>
                  <a:pt x="2805" y="279"/>
                  <a:pt x="1" y="3020"/>
                  <a:pt x="1" y="6486"/>
                </a:cubicBezTo>
                <a:cubicBezTo>
                  <a:pt x="1" y="9920"/>
                  <a:pt x="2773" y="12724"/>
                  <a:pt x="6239" y="12724"/>
                </a:cubicBezTo>
                <a:cubicBezTo>
                  <a:pt x="9641" y="12724"/>
                  <a:pt x="12445" y="9951"/>
                  <a:pt x="12445" y="6486"/>
                </a:cubicBezTo>
                <a:cubicBezTo>
                  <a:pt x="12445" y="5289"/>
                  <a:pt x="12099" y="4123"/>
                  <a:pt x="11468" y="3115"/>
                </a:cubicBezTo>
                <a:lnTo>
                  <a:pt x="12603" y="1981"/>
                </a:lnTo>
                <a:cubicBezTo>
                  <a:pt x="12877" y="1706"/>
                  <a:pt x="12650" y="1255"/>
                  <a:pt x="12292" y="1255"/>
                </a:cubicBezTo>
                <a:cubicBezTo>
                  <a:pt x="12280" y="1255"/>
                  <a:pt x="12268" y="1255"/>
                  <a:pt x="12256" y="1256"/>
                </a:cubicBezTo>
                <a:lnTo>
                  <a:pt x="11342" y="1382"/>
                </a:lnTo>
                <a:lnTo>
                  <a:pt x="11468" y="468"/>
                </a:lnTo>
                <a:cubicBezTo>
                  <a:pt x="11491" y="203"/>
                  <a:pt x="11265" y="0"/>
                  <a:pt x="1103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9"/>
          <p:cNvSpPr txBox="1"/>
          <p:nvPr>
            <p:ph type="title"/>
          </p:nvPr>
        </p:nvSpPr>
        <p:spPr>
          <a:xfrm>
            <a:off x="720000" y="4642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Recommendation </a:t>
            </a:r>
            <a:r>
              <a:rPr lang="en">
                <a:solidFill>
                  <a:schemeClr val="lt1"/>
                </a:solidFill>
                <a:highlight>
                  <a:srgbClr val="CC4125"/>
                </a:highlight>
              </a:rPr>
              <a:t>Workflow</a:t>
            </a:r>
            <a:endParaRPr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cxnSp>
        <p:nvCxnSpPr>
          <p:cNvPr id="630" name="Google Shape;630;p19"/>
          <p:cNvCxnSpPr>
            <a:stCxn id="611" idx="2"/>
            <a:endCxn id="610" idx="2"/>
          </p:cNvCxnSpPr>
          <p:nvPr/>
        </p:nvCxnSpPr>
        <p:spPr>
          <a:xfrm rot="-5400000">
            <a:off x="3165800" y="2092725"/>
            <a:ext cx="17400" cy="2795100"/>
          </a:xfrm>
          <a:prstGeom prst="bentConnector3">
            <a:avLst>
              <a:gd fmla="val -136853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1" name="Google Shape;631;p19"/>
          <p:cNvCxnSpPr>
            <a:stCxn id="610" idx="0"/>
            <a:endCxn id="609" idx="0"/>
          </p:cNvCxnSpPr>
          <p:nvPr/>
        </p:nvCxnSpPr>
        <p:spPr>
          <a:xfrm flipH="1" rot="-5400000">
            <a:off x="5960850" y="255650"/>
            <a:ext cx="17400" cy="2795100"/>
          </a:xfrm>
          <a:prstGeom prst="bentConnector3">
            <a:avLst>
              <a:gd fmla="val -136853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0"/>
          <p:cNvSpPr txBox="1"/>
          <p:nvPr/>
        </p:nvSpPr>
        <p:spPr>
          <a:xfrm flipH="1">
            <a:off x="6067600" y="1661750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User either accepts the incentive or proceeds with a mandatory feedback reason.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High-value retention data is instantly logged to measure saved GMV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7" name="Google Shape;637;p20"/>
          <p:cNvSpPr txBox="1"/>
          <p:nvPr/>
        </p:nvSpPr>
        <p:spPr>
          <a:xfrm flipH="1">
            <a:off x="3272550" y="1644500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High-value carts trigger an immediate retention step instead of direct cancellation. 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System displays a dynamic incentive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8" name="Google Shape;638;p20"/>
          <p:cNvSpPr txBox="1"/>
          <p:nvPr/>
        </p:nvSpPr>
        <p:spPr>
          <a:xfrm flipH="1">
            <a:off x="477500" y="1661775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Apply value-based assessment when cancellation requests are submitted.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Distinguish high-value carts from low-value ones automatically.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39" name="Google Shape;639;p20"/>
          <p:cNvSpPr/>
          <p:nvPr/>
        </p:nvSpPr>
        <p:spPr>
          <a:xfrm>
            <a:off x="477625" y="166177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0"/>
          <p:cNvSpPr txBox="1"/>
          <p:nvPr>
            <p:ph type="title"/>
          </p:nvPr>
        </p:nvSpPr>
        <p:spPr>
          <a:xfrm>
            <a:off x="720000" y="3899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>
                <a:solidFill>
                  <a:schemeClr val="lt1"/>
                </a:solidFill>
                <a:highlight>
                  <a:srgbClr val="BF9000"/>
                </a:highlight>
              </a:rPr>
              <a:t>Deploy</a:t>
            </a:r>
            <a:r>
              <a:rPr lang="en" sz="2000">
                <a:solidFill>
                  <a:srgbClr val="BF9000"/>
                </a:solidFill>
              </a:rPr>
              <a:t> Value-Based </a:t>
            </a:r>
            <a:r>
              <a:rPr lang="en" sz="2000">
                <a:solidFill>
                  <a:srgbClr val="BF9000"/>
                </a:solidFill>
                <a:highlight>
                  <a:schemeClr val="lt1"/>
                </a:highlight>
              </a:rPr>
              <a:t>Retaining</a:t>
            </a:r>
            <a:r>
              <a:rPr lang="en" sz="2000">
                <a:solidFill>
                  <a:srgbClr val="BF9000"/>
                </a:solidFill>
              </a:rPr>
              <a:t> Triggers at Checkout</a:t>
            </a:r>
            <a:endParaRPr sz="2000">
              <a:solidFill>
                <a:srgbClr val="BF9000"/>
              </a:solidFill>
            </a:endParaRPr>
          </a:p>
        </p:txBody>
      </p:sp>
      <p:sp>
        <p:nvSpPr>
          <p:cNvPr id="641" name="Google Shape;641;p20"/>
          <p:cNvSpPr txBox="1"/>
          <p:nvPr/>
        </p:nvSpPr>
        <p:spPr>
          <a:xfrm flipH="1">
            <a:off x="1054375" y="1661781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Order Value Screening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3272675" y="164452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0"/>
          <p:cNvSpPr txBox="1"/>
          <p:nvPr/>
        </p:nvSpPr>
        <p:spPr>
          <a:xfrm flipH="1">
            <a:off x="3849424" y="1644529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Dynamic Friction Trigger 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44" name="Google Shape;644;p20"/>
          <p:cNvSpPr/>
          <p:nvPr/>
        </p:nvSpPr>
        <p:spPr>
          <a:xfrm>
            <a:off x="6067725" y="166177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0"/>
          <p:cNvSpPr txBox="1"/>
          <p:nvPr/>
        </p:nvSpPr>
        <p:spPr>
          <a:xfrm flipH="1">
            <a:off x="6644482" y="1661780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Intent Resolution 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46" name="Google Shape;646;p20"/>
          <p:cNvSpPr txBox="1"/>
          <p:nvPr>
            <p:ph type="title"/>
          </p:nvPr>
        </p:nvSpPr>
        <p:spPr>
          <a:xfrm>
            <a:off x="720000" y="4642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Recommendation </a:t>
            </a:r>
            <a:r>
              <a:rPr lang="en">
                <a:solidFill>
                  <a:schemeClr val="lt1"/>
                </a:solidFill>
                <a:highlight>
                  <a:srgbClr val="CC4125"/>
                </a:highlight>
              </a:rPr>
              <a:t>Workflow</a:t>
            </a:r>
            <a:endParaRPr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cxnSp>
        <p:nvCxnSpPr>
          <p:cNvPr id="647" name="Google Shape;647;p20"/>
          <p:cNvCxnSpPr>
            <a:stCxn id="638" idx="2"/>
            <a:endCxn id="637" idx="2"/>
          </p:cNvCxnSpPr>
          <p:nvPr/>
        </p:nvCxnSpPr>
        <p:spPr>
          <a:xfrm rot="-5400000">
            <a:off x="3165800" y="2092725"/>
            <a:ext cx="17400" cy="2795100"/>
          </a:xfrm>
          <a:prstGeom prst="bentConnector3">
            <a:avLst>
              <a:gd fmla="val -136853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0"/>
          <p:cNvCxnSpPr>
            <a:stCxn id="637" idx="0"/>
            <a:endCxn id="636" idx="0"/>
          </p:cNvCxnSpPr>
          <p:nvPr/>
        </p:nvCxnSpPr>
        <p:spPr>
          <a:xfrm flipH="1" rot="-5400000">
            <a:off x="5960850" y="255650"/>
            <a:ext cx="17400" cy="2795100"/>
          </a:xfrm>
          <a:prstGeom prst="bentConnector3">
            <a:avLst>
              <a:gd fmla="val -136853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9" name="Google Shape;649;p20"/>
          <p:cNvGrpSpPr/>
          <p:nvPr/>
        </p:nvGrpSpPr>
        <p:grpSpPr>
          <a:xfrm>
            <a:off x="560972" y="1718403"/>
            <a:ext cx="410745" cy="424788"/>
            <a:chOff x="-3462150" y="2046625"/>
            <a:chExt cx="224500" cy="291450"/>
          </a:xfrm>
        </p:grpSpPr>
        <p:sp>
          <p:nvSpPr>
            <p:cNvPr id="650" name="Google Shape;650;p20"/>
            <p:cNvSpPr/>
            <p:nvPr/>
          </p:nvSpPr>
          <p:spPr>
            <a:xfrm>
              <a:off x="-3425125" y="2253000"/>
              <a:ext cx="51225" cy="50425"/>
            </a:xfrm>
            <a:custGeom>
              <a:rect b="b" l="l" r="r" t="t"/>
              <a:pathLst>
                <a:path extrusionOk="0" h="2017" w="2049">
                  <a:moveTo>
                    <a:pt x="1009" y="662"/>
                  </a:moveTo>
                  <a:cubicBezTo>
                    <a:pt x="1198" y="662"/>
                    <a:pt x="1355" y="819"/>
                    <a:pt x="1355" y="1008"/>
                  </a:cubicBezTo>
                  <a:cubicBezTo>
                    <a:pt x="1355" y="1197"/>
                    <a:pt x="1166" y="1355"/>
                    <a:pt x="1009" y="1355"/>
                  </a:cubicBezTo>
                  <a:cubicBezTo>
                    <a:pt x="820" y="1355"/>
                    <a:pt x="662" y="1197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41"/>
                    <a:pt x="0" y="1008"/>
                  </a:cubicBezTo>
                  <a:cubicBezTo>
                    <a:pt x="0" y="1575"/>
                    <a:pt x="473" y="2016"/>
                    <a:pt x="1009" y="2016"/>
                  </a:cubicBezTo>
                  <a:cubicBezTo>
                    <a:pt x="1576" y="2016"/>
                    <a:pt x="2048" y="1575"/>
                    <a:pt x="2048" y="1008"/>
                  </a:cubicBezTo>
                  <a:cubicBezTo>
                    <a:pt x="2048" y="441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1500" lIns="101500" spcFirstLastPara="1" rIns="101500" wrap="square" tIns="10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0"/>
            <p:cNvSpPr/>
            <p:nvPr/>
          </p:nvSpPr>
          <p:spPr>
            <a:xfrm>
              <a:off x="-3425125" y="2116725"/>
              <a:ext cx="51225" cy="49650"/>
            </a:xfrm>
            <a:custGeom>
              <a:rect b="b" l="l" r="r" t="t"/>
              <a:pathLst>
                <a:path extrusionOk="0" h="1986" w="2049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190"/>
                    <a:pt x="0" y="442"/>
                    <a:pt x="95" y="536"/>
                  </a:cubicBezTo>
                  <a:lnTo>
                    <a:pt x="536" y="977"/>
                  </a:lnTo>
                  <a:lnTo>
                    <a:pt x="95" y="1418"/>
                  </a:lnTo>
                  <a:cubicBezTo>
                    <a:pt x="0" y="1544"/>
                    <a:pt x="0" y="1765"/>
                    <a:pt x="95" y="1891"/>
                  </a:cubicBezTo>
                  <a:cubicBezTo>
                    <a:pt x="158" y="1954"/>
                    <a:pt x="252" y="1986"/>
                    <a:pt x="343" y="1986"/>
                  </a:cubicBezTo>
                  <a:cubicBezTo>
                    <a:pt x="434" y="1986"/>
                    <a:pt x="520" y="1954"/>
                    <a:pt x="568" y="1891"/>
                  </a:cubicBezTo>
                  <a:lnTo>
                    <a:pt x="1009" y="1450"/>
                  </a:lnTo>
                  <a:lnTo>
                    <a:pt x="1450" y="1891"/>
                  </a:lnTo>
                  <a:cubicBezTo>
                    <a:pt x="1513" y="1954"/>
                    <a:pt x="1599" y="1986"/>
                    <a:pt x="1686" y="1986"/>
                  </a:cubicBezTo>
                  <a:cubicBezTo>
                    <a:pt x="1773" y="1986"/>
                    <a:pt x="1859" y="1954"/>
                    <a:pt x="1922" y="1891"/>
                  </a:cubicBezTo>
                  <a:cubicBezTo>
                    <a:pt x="2048" y="1765"/>
                    <a:pt x="2048" y="1544"/>
                    <a:pt x="1922" y="1418"/>
                  </a:cubicBezTo>
                  <a:lnTo>
                    <a:pt x="1481" y="977"/>
                  </a:lnTo>
                  <a:lnTo>
                    <a:pt x="1922" y="536"/>
                  </a:lnTo>
                  <a:cubicBezTo>
                    <a:pt x="2048" y="442"/>
                    <a:pt x="2048" y="190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05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1500" lIns="101500" spcFirstLastPara="1" rIns="101500" wrap="square" tIns="10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0"/>
            <p:cNvSpPr/>
            <p:nvPr/>
          </p:nvSpPr>
          <p:spPr>
            <a:xfrm>
              <a:off x="-3425125" y="2185250"/>
              <a:ext cx="51225" cy="49650"/>
            </a:xfrm>
            <a:custGeom>
              <a:rect b="b" l="l" r="r" t="t"/>
              <a:pathLst>
                <a:path extrusionOk="0" h="1986" w="2049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536" y="1009"/>
                  </a:lnTo>
                  <a:lnTo>
                    <a:pt x="95" y="1418"/>
                  </a:lnTo>
                  <a:cubicBezTo>
                    <a:pt x="0" y="1544"/>
                    <a:pt x="0" y="1796"/>
                    <a:pt x="95" y="1891"/>
                  </a:cubicBezTo>
                  <a:cubicBezTo>
                    <a:pt x="158" y="1954"/>
                    <a:pt x="252" y="1985"/>
                    <a:pt x="343" y="1985"/>
                  </a:cubicBezTo>
                  <a:cubicBezTo>
                    <a:pt x="434" y="1985"/>
                    <a:pt x="520" y="1954"/>
                    <a:pt x="568" y="1891"/>
                  </a:cubicBezTo>
                  <a:lnTo>
                    <a:pt x="1009" y="1481"/>
                  </a:lnTo>
                  <a:lnTo>
                    <a:pt x="1450" y="1891"/>
                  </a:lnTo>
                  <a:cubicBezTo>
                    <a:pt x="1513" y="1954"/>
                    <a:pt x="1599" y="1985"/>
                    <a:pt x="1686" y="1985"/>
                  </a:cubicBezTo>
                  <a:cubicBezTo>
                    <a:pt x="1773" y="1985"/>
                    <a:pt x="1859" y="1954"/>
                    <a:pt x="1922" y="1891"/>
                  </a:cubicBezTo>
                  <a:cubicBezTo>
                    <a:pt x="2048" y="1796"/>
                    <a:pt x="2048" y="1544"/>
                    <a:pt x="1922" y="1418"/>
                  </a:cubicBezTo>
                  <a:lnTo>
                    <a:pt x="1481" y="1009"/>
                  </a:lnTo>
                  <a:lnTo>
                    <a:pt x="1922" y="568"/>
                  </a:lnTo>
                  <a:cubicBezTo>
                    <a:pt x="2048" y="410"/>
                    <a:pt x="2048" y="221"/>
                    <a:pt x="1922" y="95"/>
                  </a:cubicBezTo>
                  <a:cubicBezTo>
                    <a:pt x="1859" y="32"/>
                    <a:pt x="1773" y="1"/>
                    <a:pt x="1686" y="1"/>
                  </a:cubicBezTo>
                  <a:cubicBezTo>
                    <a:pt x="1599" y="1"/>
                    <a:pt x="1513" y="32"/>
                    <a:pt x="1450" y="95"/>
                  </a:cubicBezTo>
                  <a:lnTo>
                    <a:pt x="1009" y="536"/>
                  </a:lnTo>
                  <a:lnTo>
                    <a:pt x="568" y="95"/>
                  </a:lnTo>
                  <a:cubicBezTo>
                    <a:pt x="520" y="32"/>
                    <a:pt x="434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1500" lIns="101500" spcFirstLastPara="1" rIns="101500" wrap="square" tIns="10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-3462150" y="2046625"/>
              <a:ext cx="224500" cy="291450"/>
            </a:xfrm>
            <a:custGeom>
              <a:rect b="b" l="l" r="r" t="t"/>
              <a:pathLst>
                <a:path extrusionOk="0" h="11658" w="8980">
                  <a:moveTo>
                    <a:pt x="5924" y="694"/>
                  </a:moveTo>
                  <a:cubicBezTo>
                    <a:pt x="6113" y="694"/>
                    <a:pt x="6270" y="851"/>
                    <a:pt x="6270" y="1040"/>
                  </a:cubicBezTo>
                  <a:cubicBezTo>
                    <a:pt x="6270" y="1229"/>
                    <a:pt x="6113" y="1387"/>
                    <a:pt x="5924" y="1387"/>
                  </a:cubicBezTo>
                  <a:lnTo>
                    <a:pt x="3151" y="1387"/>
                  </a:lnTo>
                  <a:cubicBezTo>
                    <a:pt x="2962" y="1387"/>
                    <a:pt x="2805" y="1229"/>
                    <a:pt x="2805" y="1040"/>
                  </a:cubicBezTo>
                  <a:cubicBezTo>
                    <a:pt x="2805" y="851"/>
                    <a:pt x="2962" y="694"/>
                    <a:pt x="3151" y="694"/>
                  </a:cubicBezTo>
                  <a:close/>
                  <a:moveTo>
                    <a:pt x="8034" y="1356"/>
                  </a:moveTo>
                  <a:cubicBezTo>
                    <a:pt x="8255" y="1356"/>
                    <a:pt x="8413" y="1513"/>
                    <a:pt x="8413" y="1702"/>
                  </a:cubicBezTo>
                  <a:lnTo>
                    <a:pt x="8413" y="10649"/>
                  </a:lnTo>
                  <a:lnTo>
                    <a:pt x="8287" y="10649"/>
                  </a:lnTo>
                  <a:cubicBezTo>
                    <a:pt x="8287" y="10838"/>
                    <a:pt x="8129" y="10996"/>
                    <a:pt x="7940" y="10996"/>
                  </a:cubicBezTo>
                  <a:lnTo>
                    <a:pt x="1103" y="10996"/>
                  </a:lnTo>
                  <a:cubicBezTo>
                    <a:pt x="914" y="10996"/>
                    <a:pt x="757" y="10838"/>
                    <a:pt x="757" y="10649"/>
                  </a:cubicBezTo>
                  <a:lnTo>
                    <a:pt x="757" y="1702"/>
                  </a:lnTo>
                  <a:cubicBezTo>
                    <a:pt x="757" y="1513"/>
                    <a:pt x="914" y="1356"/>
                    <a:pt x="1103" y="1356"/>
                  </a:cubicBezTo>
                  <a:lnTo>
                    <a:pt x="2206" y="1356"/>
                  </a:lnTo>
                  <a:cubicBezTo>
                    <a:pt x="2364" y="1734"/>
                    <a:pt x="2742" y="2017"/>
                    <a:pt x="3214" y="2017"/>
                  </a:cubicBezTo>
                  <a:lnTo>
                    <a:pt x="5955" y="2017"/>
                  </a:lnTo>
                  <a:cubicBezTo>
                    <a:pt x="6396" y="2017"/>
                    <a:pt x="6774" y="1734"/>
                    <a:pt x="6932" y="1356"/>
                  </a:cubicBezTo>
                  <a:close/>
                  <a:moveTo>
                    <a:pt x="3120" y="1"/>
                  </a:moveTo>
                  <a:cubicBezTo>
                    <a:pt x="2679" y="1"/>
                    <a:pt x="2301" y="284"/>
                    <a:pt x="2143" y="694"/>
                  </a:cubicBezTo>
                  <a:lnTo>
                    <a:pt x="1040" y="694"/>
                  </a:lnTo>
                  <a:cubicBezTo>
                    <a:pt x="473" y="694"/>
                    <a:pt x="1" y="1166"/>
                    <a:pt x="1" y="1702"/>
                  </a:cubicBezTo>
                  <a:lnTo>
                    <a:pt x="1" y="10649"/>
                  </a:lnTo>
                  <a:cubicBezTo>
                    <a:pt x="1" y="11185"/>
                    <a:pt x="473" y="11658"/>
                    <a:pt x="1040" y="11658"/>
                  </a:cubicBezTo>
                  <a:lnTo>
                    <a:pt x="7877" y="11658"/>
                  </a:lnTo>
                  <a:cubicBezTo>
                    <a:pt x="8444" y="11658"/>
                    <a:pt x="8917" y="11185"/>
                    <a:pt x="8917" y="10649"/>
                  </a:cubicBezTo>
                  <a:lnTo>
                    <a:pt x="8917" y="1702"/>
                  </a:lnTo>
                  <a:cubicBezTo>
                    <a:pt x="8980" y="1166"/>
                    <a:pt x="8507" y="694"/>
                    <a:pt x="7971" y="694"/>
                  </a:cubicBezTo>
                  <a:lnTo>
                    <a:pt x="6869" y="694"/>
                  </a:lnTo>
                  <a:cubicBezTo>
                    <a:pt x="6711" y="284"/>
                    <a:pt x="6365" y="1"/>
                    <a:pt x="5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1500" lIns="101500" spcFirstLastPara="1" rIns="101500" wrap="square" tIns="10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-3358175" y="2133275"/>
              <a:ext cx="86650" cy="18125"/>
            </a:xfrm>
            <a:custGeom>
              <a:rect b="b" l="l" r="r" t="t"/>
              <a:pathLst>
                <a:path extrusionOk="0" h="725" w="3466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78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1500" lIns="101500" spcFirstLastPara="1" rIns="101500" wrap="square" tIns="10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-3358175" y="2201800"/>
              <a:ext cx="86650" cy="17350"/>
            </a:xfrm>
            <a:custGeom>
              <a:rect b="b" l="l" r="r" t="t"/>
              <a:pathLst>
                <a:path extrusionOk="0" h="694" w="3466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lnTo>
                    <a:pt x="3088" y="693"/>
                  </a:lnTo>
                  <a:cubicBezTo>
                    <a:pt x="3308" y="693"/>
                    <a:pt x="3466" y="536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1500" lIns="101500" spcFirstLastPara="1" rIns="101500" wrap="square" tIns="10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0"/>
            <p:cNvSpPr/>
            <p:nvPr/>
          </p:nvSpPr>
          <p:spPr>
            <a:xfrm>
              <a:off x="-3358175" y="2270325"/>
              <a:ext cx="86650" cy="18125"/>
            </a:xfrm>
            <a:custGeom>
              <a:rect b="b" l="l" r="r" t="t"/>
              <a:pathLst>
                <a:path extrusionOk="0" h="725" w="3466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3088" y="725"/>
                  </a:lnTo>
                  <a:cubicBezTo>
                    <a:pt x="3308" y="725"/>
                    <a:pt x="3466" y="567"/>
                    <a:pt x="3466" y="347"/>
                  </a:cubicBezTo>
                  <a:cubicBezTo>
                    <a:pt x="3466" y="158"/>
                    <a:pt x="3308" y="0"/>
                    <a:pt x="30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1500" lIns="101500" spcFirstLastPara="1" rIns="101500" wrap="square" tIns="101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7" name="Google Shape;657;p20"/>
          <p:cNvGrpSpPr/>
          <p:nvPr/>
        </p:nvGrpSpPr>
        <p:grpSpPr>
          <a:xfrm>
            <a:off x="3354596" y="1718469"/>
            <a:ext cx="410756" cy="424799"/>
            <a:chOff x="-62496925" y="1931475"/>
            <a:chExt cx="275675" cy="316825"/>
          </a:xfrm>
        </p:grpSpPr>
        <p:sp>
          <p:nvSpPr>
            <p:cNvPr id="658" name="Google Shape;658;p20"/>
            <p:cNvSpPr/>
            <p:nvPr/>
          </p:nvSpPr>
          <p:spPr>
            <a:xfrm>
              <a:off x="-62496925" y="1931475"/>
              <a:ext cx="275675" cy="316825"/>
            </a:xfrm>
            <a:custGeom>
              <a:rect b="b" l="l" r="r" t="t"/>
              <a:pathLst>
                <a:path extrusionOk="0" h="12673" w="11027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-62390600" y="2016700"/>
              <a:ext cx="63025" cy="146525"/>
            </a:xfrm>
            <a:custGeom>
              <a:rect b="b" l="l" r="r" t="t"/>
              <a:pathLst>
                <a:path extrusionOk="0" h="5861" w="2521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0" name="Google Shape;660;p20"/>
          <p:cNvSpPr/>
          <p:nvPr/>
        </p:nvSpPr>
        <p:spPr>
          <a:xfrm>
            <a:off x="6193700" y="1718475"/>
            <a:ext cx="410751" cy="424810"/>
          </a:xfrm>
          <a:custGeom>
            <a:rect b="b" l="l" r="r" t="t"/>
            <a:pathLst>
              <a:path extrusionOk="0" h="11657" w="11689">
                <a:moveTo>
                  <a:pt x="5860" y="662"/>
                </a:moveTo>
                <a:cubicBezTo>
                  <a:pt x="6080" y="662"/>
                  <a:pt x="6238" y="851"/>
                  <a:pt x="6238" y="1040"/>
                </a:cubicBezTo>
                <a:lnTo>
                  <a:pt x="6238" y="1386"/>
                </a:lnTo>
                <a:lnTo>
                  <a:pt x="756" y="1386"/>
                </a:lnTo>
                <a:lnTo>
                  <a:pt x="756" y="1040"/>
                </a:lnTo>
                <a:cubicBezTo>
                  <a:pt x="725" y="851"/>
                  <a:pt x="882" y="662"/>
                  <a:pt x="1071" y="662"/>
                </a:cubicBezTo>
                <a:close/>
                <a:moveTo>
                  <a:pt x="6175" y="2048"/>
                </a:moveTo>
                <a:lnTo>
                  <a:pt x="6175" y="3686"/>
                </a:lnTo>
                <a:cubicBezTo>
                  <a:pt x="5639" y="3686"/>
                  <a:pt x="5198" y="4096"/>
                  <a:pt x="5198" y="4663"/>
                </a:cubicBezTo>
                <a:cubicBezTo>
                  <a:pt x="4820" y="4694"/>
                  <a:pt x="4505" y="4883"/>
                  <a:pt x="4348" y="5261"/>
                </a:cubicBezTo>
                <a:lnTo>
                  <a:pt x="3592" y="4505"/>
                </a:lnTo>
                <a:cubicBezTo>
                  <a:pt x="3403" y="4300"/>
                  <a:pt x="3135" y="4198"/>
                  <a:pt x="2867" y="4198"/>
                </a:cubicBezTo>
                <a:cubicBezTo>
                  <a:pt x="2599" y="4198"/>
                  <a:pt x="2331" y="4300"/>
                  <a:pt x="2142" y="4505"/>
                </a:cubicBezTo>
                <a:cubicBezTo>
                  <a:pt x="1733" y="4883"/>
                  <a:pt x="1733" y="5576"/>
                  <a:pt x="2142" y="5954"/>
                </a:cubicBezTo>
                <a:lnTo>
                  <a:pt x="4505" y="8317"/>
                </a:lnTo>
                <a:lnTo>
                  <a:pt x="4316" y="8317"/>
                </a:lnTo>
                <a:cubicBezTo>
                  <a:pt x="3875" y="8317"/>
                  <a:pt x="3466" y="8601"/>
                  <a:pt x="3308" y="9042"/>
                </a:cubicBezTo>
                <a:lnTo>
                  <a:pt x="725" y="9042"/>
                </a:lnTo>
                <a:lnTo>
                  <a:pt x="725" y="8979"/>
                </a:lnTo>
                <a:lnTo>
                  <a:pt x="725" y="2048"/>
                </a:lnTo>
                <a:close/>
                <a:moveTo>
                  <a:pt x="7640" y="3907"/>
                </a:moveTo>
                <a:cubicBezTo>
                  <a:pt x="7727" y="3907"/>
                  <a:pt x="7813" y="3938"/>
                  <a:pt x="7876" y="4001"/>
                </a:cubicBezTo>
                <a:lnTo>
                  <a:pt x="8664" y="4789"/>
                </a:lnTo>
                <a:cubicBezTo>
                  <a:pt x="9325" y="5450"/>
                  <a:pt x="9861" y="6238"/>
                  <a:pt x="10113" y="7026"/>
                </a:cubicBezTo>
                <a:lnTo>
                  <a:pt x="7530" y="9609"/>
                </a:lnTo>
                <a:lnTo>
                  <a:pt x="4222" y="9609"/>
                </a:lnTo>
                <a:cubicBezTo>
                  <a:pt x="4033" y="9609"/>
                  <a:pt x="3875" y="9451"/>
                  <a:pt x="3875" y="9262"/>
                </a:cubicBezTo>
                <a:cubicBezTo>
                  <a:pt x="3875" y="9073"/>
                  <a:pt x="4033" y="8916"/>
                  <a:pt x="4222" y="8916"/>
                </a:cubicBezTo>
                <a:lnTo>
                  <a:pt x="5230" y="8916"/>
                </a:lnTo>
                <a:cubicBezTo>
                  <a:pt x="5387" y="8916"/>
                  <a:pt x="5513" y="8821"/>
                  <a:pt x="5545" y="8695"/>
                </a:cubicBezTo>
                <a:cubicBezTo>
                  <a:pt x="5608" y="8601"/>
                  <a:pt x="5608" y="8443"/>
                  <a:pt x="5482" y="8349"/>
                </a:cubicBezTo>
                <a:lnTo>
                  <a:pt x="2520" y="5387"/>
                </a:lnTo>
                <a:cubicBezTo>
                  <a:pt x="2394" y="5293"/>
                  <a:pt x="2394" y="5041"/>
                  <a:pt x="2520" y="4915"/>
                </a:cubicBezTo>
                <a:cubicBezTo>
                  <a:pt x="2583" y="4868"/>
                  <a:pt x="2670" y="4844"/>
                  <a:pt x="2757" y="4844"/>
                </a:cubicBezTo>
                <a:cubicBezTo>
                  <a:pt x="2843" y="4844"/>
                  <a:pt x="2930" y="4868"/>
                  <a:pt x="2993" y="4915"/>
                </a:cubicBezTo>
                <a:lnTo>
                  <a:pt x="4442" y="6395"/>
                </a:lnTo>
                <a:lnTo>
                  <a:pt x="5450" y="7372"/>
                </a:lnTo>
                <a:cubicBezTo>
                  <a:pt x="5498" y="7435"/>
                  <a:pt x="5584" y="7467"/>
                  <a:pt x="5675" y="7467"/>
                </a:cubicBezTo>
                <a:cubicBezTo>
                  <a:pt x="5765" y="7467"/>
                  <a:pt x="5860" y="7435"/>
                  <a:pt x="5923" y="7372"/>
                </a:cubicBezTo>
                <a:cubicBezTo>
                  <a:pt x="6017" y="7246"/>
                  <a:pt x="6017" y="7026"/>
                  <a:pt x="5923" y="6900"/>
                </a:cubicBezTo>
                <a:lnTo>
                  <a:pt x="4915" y="5923"/>
                </a:lnTo>
                <a:cubicBezTo>
                  <a:pt x="4820" y="5797"/>
                  <a:pt x="4820" y="5545"/>
                  <a:pt x="4915" y="5450"/>
                </a:cubicBezTo>
                <a:cubicBezTo>
                  <a:pt x="4978" y="5387"/>
                  <a:pt x="5072" y="5356"/>
                  <a:pt x="5163" y="5356"/>
                </a:cubicBezTo>
                <a:cubicBezTo>
                  <a:pt x="5253" y="5356"/>
                  <a:pt x="5340" y="5387"/>
                  <a:pt x="5387" y="5450"/>
                </a:cubicBezTo>
                <a:lnTo>
                  <a:pt x="6396" y="6427"/>
                </a:lnTo>
                <a:cubicBezTo>
                  <a:pt x="6443" y="6490"/>
                  <a:pt x="6529" y="6522"/>
                  <a:pt x="6620" y="6522"/>
                </a:cubicBezTo>
                <a:cubicBezTo>
                  <a:pt x="6711" y="6522"/>
                  <a:pt x="6805" y="6490"/>
                  <a:pt x="6868" y="6427"/>
                </a:cubicBezTo>
                <a:cubicBezTo>
                  <a:pt x="6963" y="6301"/>
                  <a:pt x="6963" y="6080"/>
                  <a:pt x="6868" y="5954"/>
                </a:cubicBezTo>
                <a:lnTo>
                  <a:pt x="5860" y="4978"/>
                </a:lnTo>
                <a:cubicBezTo>
                  <a:pt x="5765" y="4852"/>
                  <a:pt x="5765" y="4631"/>
                  <a:pt x="5860" y="4505"/>
                </a:cubicBezTo>
                <a:cubicBezTo>
                  <a:pt x="5923" y="4442"/>
                  <a:pt x="6017" y="4411"/>
                  <a:pt x="6108" y="4411"/>
                </a:cubicBezTo>
                <a:cubicBezTo>
                  <a:pt x="6199" y="4411"/>
                  <a:pt x="6285" y="4442"/>
                  <a:pt x="6333" y="4505"/>
                </a:cubicBezTo>
                <a:lnTo>
                  <a:pt x="7341" y="5482"/>
                </a:lnTo>
                <a:cubicBezTo>
                  <a:pt x="7388" y="5545"/>
                  <a:pt x="7475" y="5576"/>
                  <a:pt x="7565" y="5576"/>
                </a:cubicBezTo>
                <a:cubicBezTo>
                  <a:pt x="7656" y="5576"/>
                  <a:pt x="7750" y="5545"/>
                  <a:pt x="7813" y="5482"/>
                </a:cubicBezTo>
                <a:cubicBezTo>
                  <a:pt x="7908" y="5356"/>
                  <a:pt x="7908" y="5135"/>
                  <a:pt x="7813" y="5009"/>
                </a:cubicBezTo>
                <a:lnTo>
                  <a:pt x="7341" y="4537"/>
                </a:lnTo>
                <a:cubicBezTo>
                  <a:pt x="7278" y="4348"/>
                  <a:pt x="7278" y="4096"/>
                  <a:pt x="7404" y="4001"/>
                </a:cubicBezTo>
                <a:cubicBezTo>
                  <a:pt x="7467" y="3938"/>
                  <a:pt x="7553" y="3907"/>
                  <a:pt x="7640" y="3907"/>
                </a:cubicBezTo>
                <a:close/>
                <a:moveTo>
                  <a:pt x="10554" y="7624"/>
                </a:moveTo>
                <a:lnTo>
                  <a:pt x="10806" y="7845"/>
                </a:lnTo>
                <a:cubicBezTo>
                  <a:pt x="10964" y="8002"/>
                  <a:pt x="10964" y="8191"/>
                  <a:pt x="10806" y="8317"/>
                </a:cubicBezTo>
                <a:lnTo>
                  <a:pt x="8853" y="10239"/>
                </a:lnTo>
                <a:cubicBezTo>
                  <a:pt x="8806" y="10302"/>
                  <a:pt x="8719" y="10334"/>
                  <a:pt x="8628" y="10334"/>
                </a:cubicBezTo>
                <a:cubicBezTo>
                  <a:pt x="8538" y="10334"/>
                  <a:pt x="8443" y="10302"/>
                  <a:pt x="8380" y="10239"/>
                </a:cubicBezTo>
                <a:lnTo>
                  <a:pt x="8160" y="10019"/>
                </a:lnTo>
                <a:lnTo>
                  <a:pt x="10554" y="7624"/>
                </a:lnTo>
                <a:close/>
                <a:moveTo>
                  <a:pt x="3277" y="9672"/>
                </a:moveTo>
                <a:cubicBezTo>
                  <a:pt x="3434" y="10050"/>
                  <a:pt x="3781" y="10334"/>
                  <a:pt x="4222" y="10334"/>
                </a:cubicBezTo>
                <a:lnTo>
                  <a:pt x="6143" y="10334"/>
                </a:lnTo>
                <a:lnTo>
                  <a:pt x="6143" y="10680"/>
                </a:lnTo>
                <a:lnTo>
                  <a:pt x="6175" y="10680"/>
                </a:lnTo>
                <a:cubicBezTo>
                  <a:pt x="6175" y="10869"/>
                  <a:pt x="6017" y="11027"/>
                  <a:pt x="5828" y="11027"/>
                </a:cubicBezTo>
                <a:lnTo>
                  <a:pt x="1040" y="11027"/>
                </a:lnTo>
                <a:cubicBezTo>
                  <a:pt x="819" y="11027"/>
                  <a:pt x="662" y="10869"/>
                  <a:pt x="662" y="10680"/>
                </a:cubicBezTo>
                <a:lnTo>
                  <a:pt x="662" y="9672"/>
                </a:lnTo>
                <a:close/>
                <a:moveTo>
                  <a:pt x="1040" y="0"/>
                </a:moveTo>
                <a:cubicBezTo>
                  <a:pt x="473" y="0"/>
                  <a:pt x="0" y="473"/>
                  <a:pt x="0" y="1040"/>
                </a:cubicBezTo>
                <a:lnTo>
                  <a:pt x="0" y="10649"/>
                </a:lnTo>
                <a:cubicBezTo>
                  <a:pt x="0" y="11184"/>
                  <a:pt x="473" y="11657"/>
                  <a:pt x="1040" y="11657"/>
                </a:cubicBezTo>
                <a:lnTo>
                  <a:pt x="5828" y="11657"/>
                </a:lnTo>
                <a:cubicBezTo>
                  <a:pt x="6396" y="11657"/>
                  <a:pt x="6868" y="11184"/>
                  <a:pt x="6868" y="10649"/>
                </a:cubicBezTo>
                <a:lnTo>
                  <a:pt x="6868" y="10334"/>
                </a:lnTo>
                <a:lnTo>
                  <a:pt x="7467" y="10334"/>
                </a:lnTo>
                <a:lnTo>
                  <a:pt x="7876" y="10775"/>
                </a:lnTo>
                <a:cubicBezTo>
                  <a:pt x="8081" y="10964"/>
                  <a:pt x="8349" y="11058"/>
                  <a:pt x="8613" y="11058"/>
                </a:cubicBezTo>
                <a:cubicBezTo>
                  <a:pt x="8877" y="11058"/>
                  <a:pt x="9136" y="10964"/>
                  <a:pt x="9325" y="10775"/>
                </a:cubicBezTo>
                <a:lnTo>
                  <a:pt x="11279" y="8821"/>
                </a:lnTo>
                <a:cubicBezTo>
                  <a:pt x="11688" y="8443"/>
                  <a:pt x="11688" y="7782"/>
                  <a:pt x="11310" y="7372"/>
                </a:cubicBezTo>
                <a:lnTo>
                  <a:pt x="10869" y="6931"/>
                </a:lnTo>
                <a:cubicBezTo>
                  <a:pt x="10554" y="6080"/>
                  <a:pt x="10082" y="5261"/>
                  <a:pt x="9420" y="4505"/>
                </a:cubicBezTo>
                <a:lnTo>
                  <a:pt x="8380" y="3466"/>
                </a:lnTo>
                <a:cubicBezTo>
                  <a:pt x="8191" y="3277"/>
                  <a:pt x="7931" y="3182"/>
                  <a:pt x="7668" y="3182"/>
                </a:cubicBezTo>
                <a:cubicBezTo>
                  <a:pt x="7404" y="3182"/>
                  <a:pt x="7136" y="3277"/>
                  <a:pt x="6931" y="3466"/>
                </a:cubicBezTo>
                <a:lnTo>
                  <a:pt x="6868" y="3560"/>
                </a:lnTo>
                <a:lnTo>
                  <a:pt x="6868" y="1040"/>
                </a:lnTo>
                <a:cubicBezTo>
                  <a:pt x="6868" y="473"/>
                  <a:pt x="6396" y="0"/>
                  <a:pt x="582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1"/>
          <p:cNvSpPr txBox="1"/>
          <p:nvPr/>
        </p:nvSpPr>
        <p:spPr>
          <a:xfrm flipH="1">
            <a:off x="6067600" y="1661750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Set up automated alerts if a specific department's segment crosses the 20% baseline.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Teams hold unified reviews to address anomalies before they scale.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6" name="Google Shape;666;p21"/>
          <p:cNvSpPr txBox="1"/>
          <p:nvPr/>
        </p:nvSpPr>
        <p:spPr>
          <a:xfrm flipH="1">
            <a:off x="3272550" y="1644500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Launch a shared live dashboard visible to Product, Commercial, and Logistics teams. 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Display real-time leakage values alongside baseline thresholds.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7" name="Google Shape;667;p21"/>
          <p:cNvSpPr txBox="1"/>
          <p:nvPr/>
        </p:nvSpPr>
        <p:spPr>
          <a:xfrm flipH="1">
            <a:off x="477500" y="1661775"/>
            <a:ext cx="2598900" cy="1837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r>
              <a:t/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Define a single, standardized financial cancellation metric across all internal systems 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2583" lvl="0" marL="46813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2"/>
              <a:buFont typeface="Raleway"/>
              <a:buChar char="●"/>
            </a:pPr>
            <a:r>
              <a:rPr b="0" i="0" lang="en" sz="922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Sync raw order status data into a centralized data pipeline. </a:t>
            </a:r>
            <a:endParaRPr b="0" i="0" sz="922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68" name="Google Shape;668;p21"/>
          <p:cNvSpPr/>
          <p:nvPr/>
        </p:nvSpPr>
        <p:spPr>
          <a:xfrm>
            <a:off x="477625" y="166177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1"/>
          <p:cNvSpPr txBox="1"/>
          <p:nvPr>
            <p:ph type="title"/>
          </p:nvPr>
        </p:nvSpPr>
        <p:spPr>
          <a:xfrm>
            <a:off x="720000" y="3899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>
                <a:solidFill>
                  <a:schemeClr val="lt1"/>
                </a:solidFill>
                <a:highlight>
                  <a:srgbClr val="38761D"/>
                </a:highlight>
              </a:rPr>
              <a:t>Standardize</a:t>
            </a:r>
            <a:r>
              <a:rPr lang="en" sz="2000">
                <a:solidFill>
                  <a:srgbClr val="38761D"/>
                </a:solidFill>
              </a:rPr>
              <a:t> Cancellation </a:t>
            </a:r>
            <a:r>
              <a:rPr lang="en" sz="2000">
                <a:solidFill>
                  <a:srgbClr val="38761D"/>
                </a:solidFill>
                <a:highlight>
                  <a:schemeClr val="lt1"/>
                </a:highlight>
              </a:rPr>
              <a:t>Monitoring</a:t>
            </a:r>
            <a:r>
              <a:rPr lang="en" sz="2000">
                <a:solidFill>
                  <a:srgbClr val="38761D"/>
                </a:solidFill>
              </a:rPr>
              <a:t> Across All Dashboards</a:t>
            </a:r>
            <a:endParaRPr sz="2000">
              <a:solidFill>
                <a:srgbClr val="38761D"/>
              </a:solidFill>
            </a:endParaRPr>
          </a:p>
        </p:txBody>
      </p:sp>
      <p:sp>
        <p:nvSpPr>
          <p:cNvPr id="670" name="Google Shape;670;p21"/>
          <p:cNvSpPr txBox="1"/>
          <p:nvPr/>
        </p:nvSpPr>
        <p:spPr>
          <a:xfrm flipH="1">
            <a:off x="1054375" y="1661781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Metric Synchronization 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71" name="Google Shape;671;p21"/>
          <p:cNvSpPr/>
          <p:nvPr/>
        </p:nvSpPr>
        <p:spPr>
          <a:xfrm>
            <a:off x="3272675" y="164452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1"/>
          <p:cNvSpPr txBox="1"/>
          <p:nvPr/>
        </p:nvSpPr>
        <p:spPr>
          <a:xfrm flipH="1">
            <a:off x="3849424" y="1644529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Cross-Department Dashboard 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73" name="Google Shape;673;p21"/>
          <p:cNvSpPr/>
          <p:nvPr/>
        </p:nvSpPr>
        <p:spPr>
          <a:xfrm>
            <a:off x="6067725" y="1661773"/>
            <a:ext cx="577200" cy="572700"/>
          </a:xfrm>
          <a:prstGeom prst="rect">
            <a:avLst/>
          </a:prstGeom>
          <a:noFill/>
          <a:ln cap="flat" cmpd="sng" w="19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3"/>
              <a:buFont typeface="Arial"/>
              <a:buNone/>
            </a:pPr>
            <a:r>
              <a:t/>
            </a:r>
            <a:endParaRPr b="0" i="0" sz="14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1"/>
          <p:cNvSpPr txBox="1"/>
          <p:nvPr/>
        </p:nvSpPr>
        <p:spPr>
          <a:xfrm flipH="1">
            <a:off x="6644482" y="1661780"/>
            <a:ext cx="2022000" cy="42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3625" lIns="93625" spcFirstLastPara="1" rIns="93625" wrap="square" tIns="93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9"/>
              <a:buFont typeface="Arial"/>
              <a:buNone/>
            </a:pPr>
            <a:r>
              <a:rPr b="1" i="0" lang="en" sz="1129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Cross-Functional Alignment </a:t>
            </a:r>
            <a:endParaRPr b="1" i="0" sz="1129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75" name="Google Shape;675;p21"/>
          <p:cNvSpPr txBox="1"/>
          <p:nvPr>
            <p:ph type="title"/>
          </p:nvPr>
        </p:nvSpPr>
        <p:spPr>
          <a:xfrm>
            <a:off x="720000" y="4642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Recommendation </a:t>
            </a:r>
            <a:r>
              <a:rPr lang="en">
                <a:solidFill>
                  <a:schemeClr val="lt1"/>
                </a:solidFill>
                <a:highlight>
                  <a:srgbClr val="CC4125"/>
                </a:highlight>
              </a:rPr>
              <a:t>Workflow</a:t>
            </a:r>
            <a:endParaRPr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cxnSp>
        <p:nvCxnSpPr>
          <p:cNvPr id="676" name="Google Shape;676;p21"/>
          <p:cNvCxnSpPr>
            <a:stCxn id="667" idx="2"/>
            <a:endCxn id="666" idx="2"/>
          </p:cNvCxnSpPr>
          <p:nvPr/>
        </p:nvCxnSpPr>
        <p:spPr>
          <a:xfrm rot="-5400000">
            <a:off x="3165800" y="2092725"/>
            <a:ext cx="17400" cy="2795100"/>
          </a:xfrm>
          <a:prstGeom prst="bentConnector3">
            <a:avLst>
              <a:gd fmla="val -136853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p21"/>
          <p:cNvCxnSpPr>
            <a:stCxn id="666" idx="0"/>
            <a:endCxn id="665" idx="0"/>
          </p:cNvCxnSpPr>
          <p:nvPr/>
        </p:nvCxnSpPr>
        <p:spPr>
          <a:xfrm flipH="1" rot="-5400000">
            <a:off x="5960850" y="255650"/>
            <a:ext cx="17400" cy="2795100"/>
          </a:xfrm>
          <a:prstGeom prst="bentConnector3">
            <a:avLst>
              <a:gd fmla="val -136853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78" name="Google Shape;678;p21"/>
          <p:cNvGrpSpPr/>
          <p:nvPr/>
        </p:nvGrpSpPr>
        <p:grpSpPr>
          <a:xfrm>
            <a:off x="553848" y="1735728"/>
            <a:ext cx="424763" cy="424785"/>
            <a:chOff x="1487200" y="2021475"/>
            <a:chExt cx="483125" cy="483150"/>
          </a:xfrm>
        </p:grpSpPr>
        <p:sp>
          <p:nvSpPr>
            <p:cNvPr id="679" name="Google Shape;679;p21"/>
            <p:cNvSpPr/>
            <p:nvPr/>
          </p:nvSpPr>
          <p:spPr>
            <a:xfrm>
              <a:off x="1487200" y="2021475"/>
              <a:ext cx="483125" cy="483150"/>
            </a:xfrm>
            <a:custGeom>
              <a:rect b="b" l="l" r="r" t="t"/>
              <a:pathLst>
                <a:path extrusionOk="0" h="19326" w="19325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4175" lIns="114175" spcFirstLastPara="1" rIns="114175" wrap="square" tIns="11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48"/>
                <a:buFont typeface="Arial"/>
                <a:buNone/>
              </a:pPr>
              <a:r>
                <a:t/>
              </a:r>
              <a:endParaRPr b="0" i="0" sz="1748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1"/>
            <p:cNvSpPr/>
            <p:nvPr/>
          </p:nvSpPr>
          <p:spPr>
            <a:xfrm>
              <a:off x="1573100" y="2078100"/>
              <a:ext cx="84875" cy="284000"/>
            </a:xfrm>
            <a:custGeom>
              <a:rect b="b" l="l" r="r" t="t"/>
              <a:pathLst>
                <a:path extrusionOk="0" h="11360" w="3395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4175" lIns="114175" spcFirstLastPara="1" rIns="114175" wrap="square" tIns="11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48"/>
                <a:buFont typeface="Arial"/>
                <a:buNone/>
              </a:pPr>
              <a:r>
                <a:t/>
              </a:r>
              <a:endParaRPr b="0" i="0" sz="1748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1"/>
            <p:cNvSpPr/>
            <p:nvPr/>
          </p:nvSpPr>
          <p:spPr>
            <a:xfrm>
              <a:off x="1686325" y="2078100"/>
              <a:ext cx="84875" cy="284000"/>
            </a:xfrm>
            <a:custGeom>
              <a:rect b="b" l="l" r="r" t="t"/>
              <a:pathLst>
                <a:path extrusionOk="0" h="11360" w="3395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4175" lIns="114175" spcFirstLastPara="1" rIns="114175" wrap="square" tIns="11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48"/>
                <a:buFont typeface="Arial"/>
                <a:buNone/>
              </a:pPr>
              <a:r>
                <a:t/>
              </a:r>
              <a:endParaRPr b="0" i="0" sz="1748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21"/>
            <p:cNvSpPr/>
            <p:nvPr/>
          </p:nvSpPr>
          <p:spPr>
            <a:xfrm>
              <a:off x="1799550" y="2078100"/>
              <a:ext cx="84875" cy="284000"/>
            </a:xfrm>
            <a:custGeom>
              <a:rect b="b" l="l" r="r" t="t"/>
              <a:pathLst>
                <a:path extrusionOk="0" h="11360" w="3395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4175" lIns="114175" spcFirstLastPara="1" rIns="114175" wrap="square" tIns="1141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48"/>
                <a:buFont typeface="Arial"/>
                <a:buNone/>
              </a:pPr>
              <a:r>
                <a:t/>
              </a:r>
              <a:endParaRPr b="0" i="0" sz="1748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3" name="Google Shape;683;p21"/>
          <p:cNvGrpSpPr/>
          <p:nvPr/>
        </p:nvGrpSpPr>
        <p:grpSpPr>
          <a:xfrm>
            <a:off x="6143957" y="1736332"/>
            <a:ext cx="424745" cy="423604"/>
            <a:chOff x="3599700" y="1954475"/>
            <a:chExt cx="296175" cy="295400"/>
          </a:xfrm>
        </p:grpSpPr>
        <p:sp>
          <p:nvSpPr>
            <p:cNvPr id="684" name="Google Shape;684;p21"/>
            <p:cNvSpPr/>
            <p:nvPr/>
          </p:nvSpPr>
          <p:spPr>
            <a:xfrm>
              <a:off x="3599700" y="1954475"/>
              <a:ext cx="296175" cy="295400"/>
            </a:xfrm>
            <a:custGeom>
              <a:rect b="b" l="l" r="r" t="t"/>
              <a:pathLst>
                <a:path extrusionOk="0" h="11816" w="11847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125" lIns="111125" spcFirstLastPara="1" rIns="111125" wrap="square" tIns="11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1"/>
            <p:cNvSpPr/>
            <p:nvPr/>
          </p:nvSpPr>
          <p:spPr>
            <a:xfrm>
              <a:off x="3825750" y="20757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125" lIns="111125" spcFirstLastPara="1" rIns="111125" wrap="square" tIns="11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1"/>
            <p:cNvSpPr/>
            <p:nvPr/>
          </p:nvSpPr>
          <p:spPr>
            <a:xfrm>
              <a:off x="3633550" y="2075775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1125" lIns="111125" spcFirstLastPara="1" rIns="111125" wrap="square" tIns="111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7" name="Google Shape;687;p21"/>
          <p:cNvGrpSpPr/>
          <p:nvPr/>
        </p:nvGrpSpPr>
        <p:grpSpPr>
          <a:xfrm>
            <a:off x="3348896" y="1717943"/>
            <a:ext cx="424759" cy="425859"/>
            <a:chOff x="-1333200" y="2770450"/>
            <a:chExt cx="291450" cy="292225"/>
          </a:xfrm>
        </p:grpSpPr>
        <p:sp>
          <p:nvSpPr>
            <p:cNvPr id="688" name="Google Shape;688;p21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275" lIns="92275" spcFirstLastPara="1" rIns="92275" wrap="square" tIns="9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1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2275" lIns="92275" spcFirstLastPara="1" rIns="92275" wrap="square" tIns="92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2"/>
          <p:cNvSpPr txBox="1"/>
          <p:nvPr>
            <p:ph type="title"/>
          </p:nvPr>
        </p:nvSpPr>
        <p:spPr>
          <a:xfrm>
            <a:off x="813163" y="521963"/>
            <a:ext cx="49965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Expected </a:t>
            </a:r>
            <a:r>
              <a:rPr lang="en">
                <a:solidFill>
                  <a:schemeClr val="lt1"/>
                </a:solidFill>
                <a:highlight>
                  <a:srgbClr val="CC4125"/>
                </a:highlight>
              </a:rPr>
              <a:t>Result</a:t>
            </a:r>
            <a:endParaRPr>
              <a:solidFill>
                <a:schemeClr val="lt1"/>
              </a:solidFill>
              <a:highlight>
                <a:srgbClr val="CC4125"/>
              </a:highlight>
            </a:endParaRPr>
          </a:p>
        </p:txBody>
      </p:sp>
      <p:grpSp>
        <p:nvGrpSpPr>
          <p:cNvPr id="695" name="Google Shape;695;p22"/>
          <p:cNvGrpSpPr/>
          <p:nvPr/>
        </p:nvGrpSpPr>
        <p:grpSpPr>
          <a:xfrm>
            <a:off x="5809526" y="879803"/>
            <a:ext cx="2521307" cy="3432708"/>
            <a:chOff x="1655550" y="790900"/>
            <a:chExt cx="2510262" cy="3417671"/>
          </a:xfrm>
        </p:grpSpPr>
        <p:sp>
          <p:nvSpPr>
            <p:cNvPr id="696" name="Google Shape;696;p22"/>
            <p:cNvSpPr/>
            <p:nvPr/>
          </p:nvSpPr>
          <p:spPr>
            <a:xfrm>
              <a:off x="1655550" y="790900"/>
              <a:ext cx="2510262" cy="3417671"/>
            </a:xfrm>
            <a:custGeom>
              <a:rect b="b" l="l" r="r" t="t"/>
              <a:pathLst>
                <a:path extrusionOk="0" h="190426" w="143096">
                  <a:moveTo>
                    <a:pt x="2914" y="0"/>
                  </a:moveTo>
                  <a:cubicBezTo>
                    <a:pt x="1280" y="0"/>
                    <a:pt x="0" y="1281"/>
                    <a:pt x="0" y="2914"/>
                  </a:cubicBezTo>
                  <a:lnTo>
                    <a:pt x="0" y="187512"/>
                  </a:lnTo>
                  <a:cubicBezTo>
                    <a:pt x="0" y="189101"/>
                    <a:pt x="1280" y="190426"/>
                    <a:pt x="2914" y="190426"/>
                  </a:cubicBezTo>
                  <a:lnTo>
                    <a:pt x="140182" y="190426"/>
                  </a:lnTo>
                  <a:cubicBezTo>
                    <a:pt x="141771" y="190426"/>
                    <a:pt x="143096" y="189101"/>
                    <a:pt x="143096" y="187512"/>
                  </a:cubicBezTo>
                  <a:lnTo>
                    <a:pt x="143096" y="2914"/>
                  </a:lnTo>
                  <a:cubicBezTo>
                    <a:pt x="143096" y="1281"/>
                    <a:pt x="141771" y="0"/>
                    <a:pt x="140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5450" lIns="85450" spcFirstLastPara="1" rIns="85450" wrap="square" tIns="8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22"/>
            <p:cNvSpPr/>
            <p:nvPr/>
          </p:nvSpPr>
          <p:spPr>
            <a:xfrm>
              <a:off x="1735300" y="886765"/>
              <a:ext cx="2350730" cy="3115776"/>
            </a:xfrm>
            <a:custGeom>
              <a:rect b="b" l="l" r="r" t="t"/>
              <a:pathLst>
                <a:path extrusionOk="0" h="173605" w="134002">
                  <a:moveTo>
                    <a:pt x="1" y="1"/>
                  </a:moveTo>
                  <a:lnTo>
                    <a:pt x="1" y="53821"/>
                  </a:lnTo>
                  <a:lnTo>
                    <a:pt x="1" y="127599"/>
                  </a:lnTo>
                  <a:lnTo>
                    <a:pt x="1" y="173605"/>
                  </a:lnTo>
                  <a:lnTo>
                    <a:pt x="134001" y="173605"/>
                  </a:lnTo>
                  <a:lnTo>
                    <a:pt x="134001" y="34615"/>
                  </a:lnTo>
                  <a:lnTo>
                    <a:pt x="1340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5450" lIns="85450" spcFirstLastPara="1" rIns="85450" wrap="square" tIns="85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8" name="Google Shape;698;p22" title="Screenshot 2026-06-04 05290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5909" y="1031446"/>
            <a:ext cx="2348579" cy="31295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9" name="Google Shape;699;p22"/>
          <p:cNvCxnSpPr/>
          <p:nvPr/>
        </p:nvCxnSpPr>
        <p:spPr>
          <a:xfrm>
            <a:off x="5875718" y="1135486"/>
            <a:ext cx="2377800" cy="6300"/>
          </a:xfrm>
          <a:prstGeom prst="straightConnector1">
            <a:avLst/>
          </a:prstGeom>
          <a:noFill/>
          <a:ln cap="flat" cmpd="sng" w="178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0" name="Google Shape;700;p22"/>
          <p:cNvSpPr txBox="1"/>
          <p:nvPr/>
        </p:nvSpPr>
        <p:spPr>
          <a:xfrm>
            <a:off x="813163" y="1051538"/>
            <a:ext cx="4996500" cy="27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Target Realization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aleway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Achieving a 10% cancellation value ceiling by the end of 2028 through high-density interventions.</a:t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aleway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Reduce cancellation losses through targeted recovery initiatives.  </a:t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Operational Efficiency </a:t>
            </a:r>
            <a:endParaRPr b="1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aleway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Zero wasted effort by shifting 100% of internal focus and server resources to secure high-density sales channels</a:t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aleway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Eliminating isolated operational blind spots through targeted partner-courier and merchant guarantees in top-performing regions.</a:t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Platform Intelligence</a:t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aleway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Transitioning to an active system that automatically  deploys dynamic retention solutions before money leaves the platform.</a:t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aleway"/>
              <a:buChar char="●"/>
            </a:pPr>
            <a:r>
              <a:rPr b="0" i="0" lang="en" sz="9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Establishing a single source dashboard across demographic and operational variable to prevent department from breaching 10% threshold. </a:t>
            </a:r>
            <a:endParaRPr b="0" i="0" sz="9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01" name="Google Shape;701;p22"/>
          <p:cNvSpPr txBox="1"/>
          <p:nvPr>
            <p:ph type="title"/>
          </p:nvPr>
        </p:nvSpPr>
        <p:spPr>
          <a:xfrm>
            <a:off x="813163" y="3808538"/>
            <a:ext cx="4996500" cy="81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200">
                <a:solidFill>
                  <a:schemeClr val="lt1"/>
                </a:solidFill>
                <a:highlight>
                  <a:schemeClr val="dk1"/>
                </a:highlight>
              </a:rPr>
              <a:t>"By shifting our focus from general operational fixes to value-driven, high-density interventions, we can structurally secure our  GMV and support progress toward the 10% target</a:t>
            </a:r>
            <a:endParaRPr sz="12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23" title="Screenshot 2026-06-04 060404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450" y="1003425"/>
            <a:ext cx="7287799" cy="35940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7" name="Google Shape;707;p23"/>
          <p:cNvSpPr txBox="1"/>
          <p:nvPr>
            <p:ph type="title"/>
          </p:nvPr>
        </p:nvSpPr>
        <p:spPr>
          <a:xfrm>
            <a:off x="686750" y="521975"/>
            <a:ext cx="77712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rgbClr val="CC4125"/>
                </a:solidFill>
              </a:rPr>
              <a:t>Interactive Dashboard Preview</a:t>
            </a:r>
            <a:endParaRPr>
              <a:solidFill>
                <a:srgbClr val="CC4125"/>
              </a:solidFill>
              <a:highlight>
                <a:srgbClr val="CC4125"/>
              </a:highlight>
            </a:endParaRPr>
          </a:p>
        </p:txBody>
      </p:sp>
      <p:sp>
        <p:nvSpPr>
          <p:cNvPr id="708" name="Google Shape;708;p23"/>
          <p:cNvSpPr txBox="1"/>
          <p:nvPr/>
        </p:nvSpPr>
        <p:spPr>
          <a:xfrm>
            <a:off x="7578350" y="4772975"/>
            <a:ext cx="879600" cy="21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sng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Tableau Public</a:t>
            </a:r>
            <a:endParaRPr b="0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4"/>
          <p:cNvSpPr txBox="1"/>
          <p:nvPr>
            <p:ph type="title"/>
          </p:nvPr>
        </p:nvSpPr>
        <p:spPr>
          <a:xfrm>
            <a:off x="2592600" y="1838700"/>
            <a:ext cx="39588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CC4125"/>
                </a:solidFill>
              </a:rPr>
              <a:t>Thank You</a:t>
            </a:r>
            <a:endParaRPr>
              <a:solidFill>
                <a:srgbClr val="CC4125"/>
              </a:solidFill>
            </a:endParaRPr>
          </a:p>
        </p:txBody>
      </p:sp>
      <p:pic>
        <p:nvPicPr>
          <p:cNvPr id="714" name="Google Shape;714;p24" title="1727674497_shopee-logo-pn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550" y="1838700"/>
            <a:ext cx="1466050" cy="14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24"/>
          <p:cNvSpPr txBox="1"/>
          <p:nvPr>
            <p:ph type="title"/>
          </p:nvPr>
        </p:nvSpPr>
        <p:spPr>
          <a:xfrm>
            <a:off x="2592600" y="2570700"/>
            <a:ext cx="39588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2500">
                <a:solidFill>
                  <a:schemeClr val="lt1"/>
                </a:solidFill>
                <a:highlight>
                  <a:schemeClr val="dk1"/>
                </a:highlight>
              </a:rPr>
              <a:t>For your Attention to this presentation</a:t>
            </a:r>
            <a:endParaRPr sz="2500">
              <a:solidFill>
                <a:schemeClr val="lt1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5"/>
          <p:cNvSpPr txBox="1"/>
          <p:nvPr>
            <p:ph type="title"/>
          </p:nvPr>
        </p:nvSpPr>
        <p:spPr>
          <a:xfrm>
            <a:off x="1291500" y="1653775"/>
            <a:ext cx="56388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721" name="Google Shape;721;p25"/>
          <p:cNvSpPr txBox="1"/>
          <p:nvPr>
            <p:ph idx="1" type="subTitle"/>
          </p:nvPr>
        </p:nvSpPr>
        <p:spPr>
          <a:xfrm>
            <a:off x="1291500" y="3254325"/>
            <a:ext cx="38730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Playfair Display"/>
                <a:ea typeface="Playfair Display"/>
                <a:cs typeface="Playfair Display"/>
                <a:sym typeface="Playfair Display"/>
              </a:rPr>
              <a:t>Additional Data</a:t>
            </a:r>
            <a:endParaRPr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6"/>
          <p:cNvSpPr txBox="1"/>
          <p:nvPr/>
        </p:nvSpPr>
        <p:spPr>
          <a:xfrm>
            <a:off x="700775" y="497550"/>
            <a:ext cx="7736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Quality Validation</a:t>
            </a:r>
            <a:endParaRPr b="1" i="0" sz="20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aphicFrame>
        <p:nvGraphicFramePr>
          <p:cNvPr id="727" name="Google Shape;727;p26"/>
          <p:cNvGraphicFramePr/>
          <p:nvPr/>
        </p:nvGraphicFramePr>
        <p:xfrm>
          <a:off x="415275" y="276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{EC2FADD9-81F0-4FCF-8637-203B58AF7179}</a:tableStyleId>
              </a:tblPr>
              <a:tblGrid>
                <a:gridCol w="707850"/>
                <a:gridCol w="707850"/>
                <a:gridCol w="707850"/>
                <a:gridCol w="707850"/>
              </a:tblGrid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Entity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Completeness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Uniqueness 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Consistency 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Order items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470134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X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Orders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289653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X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Shipments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X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Customers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X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Sellers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X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Products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X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728" name="Google Shape;728;p26"/>
          <p:cNvSpPr txBox="1"/>
          <p:nvPr/>
        </p:nvSpPr>
        <p:spPr>
          <a:xfrm>
            <a:off x="415275" y="2513325"/>
            <a:ext cx="41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Before</a:t>
            </a:r>
            <a:endParaRPr b="1" i="0" sz="5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29" name="Google Shape;729;p26"/>
          <p:cNvSpPr txBox="1"/>
          <p:nvPr/>
        </p:nvSpPr>
        <p:spPr>
          <a:xfrm>
            <a:off x="7427100" y="4688000"/>
            <a:ext cx="1716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Completeness : Missing Values Checking</a:t>
            </a:r>
            <a:endParaRPr b="0" i="0" sz="5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Uniqueness : Duplicate Checking</a:t>
            </a:r>
            <a:endParaRPr b="0" i="0" sz="5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0" i="0" lang="en" sz="5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Consistency : Data Type Checking ( O = Passed X = Not Pass),</a:t>
            </a:r>
            <a:endParaRPr b="0" i="0" sz="5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aphicFrame>
        <p:nvGraphicFramePr>
          <p:cNvPr id="730" name="Google Shape;730;p26"/>
          <p:cNvGraphicFramePr/>
          <p:nvPr/>
        </p:nvGraphicFramePr>
        <p:xfrm>
          <a:off x="3827375" y="2767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{EC2FADD9-81F0-4FCF-8637-203B58AF7179}</a:tableStyleId>
              </a:tblPr>
              <a:tblGrid>
                <a:gridCol w="707850"/>
                <a:gridCol w="707850"/>
                <a:gridCol w="707850"/>
                <a:gridCol w="707850"/>
              </a:tblGrid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Entity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Completeness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Uniqueness 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Consistency 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Order items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Orders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Shipments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Customers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Sellers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80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Products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0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rPr lang="en" sz="400" u="none" cap="none" strike="noStrike">
                          <a:solidFill>
                            <a:schemeClr val="dk2"/>
                          </a:solidFill>
                        </a:rPr>
                        <a:t>O</a:t>
                      </a:r>
                      <a:endParaRPr sz="400" u="none" cap="none" strike="noStrike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731" name="Google Shape;731;p26"/>
          <p:cNvSpPr txBox="1"/>
          <p:nvPr/>
        </p:nvSpPr>
        <p:spPr>
          <a:xfrm>
            <a:off x="3846725" y="2513325"/>
            <a:ext cx="413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b="1" i="0" lang="en" sz="5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After</a:t>
            </a:r>
            <a:endParaRPr b="1" i="0" sz="5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32" name="Google Shape;732;p26" title="Screenshot 2026-06-07 05011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270" y="1428627"/>
            <a:ext cx="1056679" cy="908022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26"/>
          <p:cNvSpPr txBox="1"/>
          <p:nvPr/>
        </p:nvSpPr>
        <p:spPr>
          <a:xfrm>
            <a:off x="415268" y="1068487"/>
            <a:ext cx="1365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7"/>
              <a:buFont typeface="Arial"/>
              <a:buNone/>
            </a:pPr>
            <a:r>
              <a:rPr b="1" i="0" lang="en" sz="78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Checking Missing and Duplicate Syntax</a:t>
            </a:r>
            <a:endParaRPr b="1" i="0" sz="787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4" name="Google Shape;734;p26"/>
          <p:cNvSpPr txBox="1"/>
          <p:nvPr/>
        </p:nvSpPr>
        <p:spPr>
          <a:xfrm>
            <a:off x="1808136" y="1068487"/>
            <a:ext cx="1428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7"/>
              <a:buFont typeface="Arial"/>
              <a:buNone/>
            </a:pPr>
            <a:r>
              <a:rPr b="1" i="0" lang="en" sz="78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Imputing Missing Value</a:t>
            </a:r>
            <a:endParaRPr b="1" i="0" sz="787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35" name="Google Shape;735;p26" title="Screenshot 2026-06-07 05033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4654" y="1609249"/>
            <a:ext cx="2424041" cy="189642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Google Shape;736;p26"/>
          <p:cNvSpPr txBox="1"/>
          <p:nvPr/>
        </p:nvSpPr>
        <p:spPr>
          <a:xfrm>
            <a:off x="1904654" y="1338880"/>
            <a:ext cx="489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Example :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37" name="Google Shape;737;p26"/>
          <p:cNvSpPr txBox="1"/>
          <p:nvPr/>
        </p:nvSpPr>
        <p:spPr>
          <a:xfrm>
            <a:off x="1890609" y="1609692"/>
            <a:ext cx="372600" cy="19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38" name="Google Shape;738;p26"/>
          <p:cNvSpPr txBox="1"/>
          <p:nvPr/>
        </p:nvSpPr>
        <p:spPr>
          <a:xfrm>
            <a:off x="1832303" y="1900721"/>
            <a:ext cx="489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Upload Dictionary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39" name="Google Shape;739;p26"/>
          <p:cNvCxnSpPr>
            <a:stCxn id="737" idx="2"/>
            <a:endCxn id="738" idx="0"/>
          </p:cNvCxnSpPr>
          <p:nvPr/>
        </p:nvCxnSpPr>
        <p:spPr>
          <a:xfrm>
            <a:off x="2076909" y="1807692"/>
            <a:ext cx="0" cy="9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0" name="Google Shape;740;p26"/>
          <p:cNvSpPr txBox="1"/>
          <p:nvPr/>
        </p:nvSpPr>
        <p:spPr>
          <a:xfrm>
            <a:off x="2263103" y="1609273"/>
            <a:ext cx="813600" cy="1980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1" name="Google Shape;741;p26"/>
          <p:cNvSpPr txBox="1"/>
          <p:nvPr/>
        </p:nvSpPr>
        <p:spPr>
          <a:xfrm>
            <a:off x="2483589" y="1900721"/>
            <a:ext cx="372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Entity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42" name="Google Shape;742;p26"/>
          <p:cNvCxnSpPr>
            <a:stCxn id="740" idx="2"/>
            <a:endCxn id="741" idx="0"/>
          </p:cNvCxnSpPr>
          <p:nvPr/>
        </p:nvCxnSpPr>
        <p:spPr>
          <a:xfrm>
            <a:off x="2669903" y="1807273"/>
            <a:ext cx="0" cy="933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p26"/>
          <p:cNvSpPr txBox="1"/>
          <p:nvPr/>
        </p:nvSpPr>
        <p:spPr>
          <a:xfrm>
            <a:off x="3076569" y="1609692"/>
            <a:ext cx="606600" cy="19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4" name="Google Shape;744;p26"/>
          <p:cNvSpPr txBox="1"/>
          <p:nvPr/>
        </p:nvSpPr>
        <p:spPr>
          <a:xfrm>
            <a:off x="3018275" y="1900709"/>
            <a:ext cx="489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Column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45" name="Google Shape;745;p26"/>
          <p:cNvCxnSpPr>
            <a:stCxn id="743" idx="2"/>
            <a:endCxn id="744" idx="0"/>
          </p:cNvCxnSpPr>
          <p:nvPr/>
        </p:nvCxnSpPr>
        <p:spPr>
          <a:xfrm flipH="1">
            <a:off x="3262869" y="1807692"/>
            <a:ext cx="117000" cy="9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6" name="Google Shape;746;p26"/>
          <p:cNvSpPr txBox="1"/>
          <p:nvPr/>
        </p:nvSpPr>
        <p:spPr>
          <a:xfrm>
            <a:off x="3683127" y="1605067"/>
            <a:ext cx="645600" cy="1980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47" name="Google Shape;747;p26"/>
          <p:cNvSpPr txBox="1"/>
          <p:nvPr/>
        </p:nvSpPr>
        <p:spPr>
          <a:xfrm>
            <a:off x="3683127" y="1900721"/>
            <a:ext cx="813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Syntax to fill null values with 0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48" name="Google Shape;748;p26"/>
          <p:cNvCxnSpPr>
            <a:stCxn id="746" idx="2"/>
            <a:endCxn id="747" idx="0"/>
          </p:cNvCxnSpPr>
          <p:nvPr/>
        </p:nvCxnSpPr>
        <p:spPr>
          <a:xfrm>
            <a:off x="4005927" y="1803067"/>
            <a:ext cx="84000" cy="978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26"/>
          <p:cNvSpPr txBox="1"/>
          <p:nvPr/>
        </p:nvSpPr>
        <p:spPr>
          <a:xfrm>
            <a:off x="1830975" y="2393900"/>
            <a:ext cx="1697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is completely unique with 0% duplicate</a:t>
            </a:r>
            <a:endParaRPr b="1" i="0" sz="8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0" name="Google Shape;750;p26"/>
          <p:cNvSpPr txBox="1"/>
          <p:nvPr/>
        </p:nvSpPr>
        <p:spPr>
          <a:xfrm>
            <a:off x="4675424" y="1102948"/>
            <a:ext cx="1428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7"/>
              <a:buFont typeface="Arial"/>
              <a:buNone/>
            </a:pPr>
            <a:r>
              <a:rPr b="1" i="0" lang="en" sz="78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Checking Data Type</a:t>
            </a:r>
            <a:endParaRPr b="1" i="0" sz="787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51" name="Google Shape;751;p26" title="Screenshot 2026-06-07 05241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514" y="1600837"/>
            <a:ext cx="1413805" cy="19805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2" name="Google Shape;752;p26"/>
          <p:cNvSpPr txBox="1"/>
          <p:nvPr/>
        </p:nvSpPr>
        <p:spPr>
          <a:xfrm>
            <a:off x="4622836" y="1900721"/>
            <a:ext cx="489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Upload Dictionary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3" name="Google Shape;753;p26"/>
          <p:cNvSpPr txBox="1"/>
          <p:nvPr/>
        </p:nvSpPr>
        <p:spPr>
          <a:xfrm>
            <a:off x="4681142" y="1600837"/>
            <a:ext cx="372600" cy="19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4" name="Google Shape;754;p26"/>
          <p:cNvSpPr txBox="1"/>
          <p:nvPr/>
        </p:nvSpPr>
        <p:spPr>
          <a:xfrm>
            <a:off x="5053637" y="1600837"/>
            <a:ext cx="813600" cy="1980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5" name="Google Shape;755;p26"/>
          <p:cNvSpPr txBox="1"/>
          <p:nvPr/>
        </p:nvSpPr>
        <p:spPr>
          <a:xfrm>
            <a:off x="4622848" y="1351892"/>
            <a:ext cx="489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Example :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6" name="Google Shape;756;p26"/>
          <p:cNvSpPr txBox="1"/>
          <p:nvPr/>
        </p:nvSpPr>
        <p:spPr>
          <a:xfrm>
            <a:off x="5274122" y="1900721"/>
            <a:ext cx="372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Entity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57" name="Google Shape;757;p26"/>
          <p:cNvSpPr txBox="1"/>
          <p:nvPr/>
        </p:nvSpPr>
        <p:spPr>
          <a:xfrm>
            <a:off x="5861642" y="1600837"/>
            <a:ext cx="241800" cy="19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8" name="Google Shape;758;p26"/>
          <p:cNvSpPr txBox="1"/>
          <p:nvPr/>
        </p:nvSpPr>
        <p:spPr>
          <a:xfrm>
            <a:off x="5808808" y="1900721"/>
            <a:ext cx="606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Show data type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59" name="Google Shape;759;p26"/>
          <p:cNvCxnSpPr>
            <a:stCxn id="753" idx="2"/>
            <a:endCxn id="752" idx="0"/>
          </p:cNvCxnSpPr>
          <p:nvPr/>
        </p:nvCxnSpPr>
        <p:spPr>
          <a:xfrm>
            <a:off x="4867442" y="1798837"/>
            <a:ext cx="0" cy="10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0" name="Google Shape;760;p26"/>
          <p:cNvCxnSpPr>
            <a:stCxn id="754" idx="2"/>
            <a:endCxn id="756" idx="0"/>
          </p:cNvCxnSpPr>
          <p:nvPr/>
        </p:nvCxnSpPr>
        <p:spPr>
          <a:xfrm>
            <a:off x="5460437" y="1798837"/>
            <a:ext cx="0" cy="1020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26"/>
          <p:cNvCxnSpPr>
            <a:stCxn id="757" idx="2"/>
            <a:endCxn id="758" idx="0"/>
          </p:cNvCxnSpPr>
          <p:nvPr/>
        </p:nvCxnSpPr>
        <p:spPr>
          <a:xfrm>
            <a:off x="5982542" y="1798837"/>
            <a:ext cx="129600" cy="102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2" name="Google Shape;762;p26"/>
          <p:cNvSpPr txBox="1"/>
          <p:nvPr/>
        </p:nvSpPr>
        <p:spPr>
          <a:xfrm>
            <a:off x="6415353" y="1102948"/>
            <a:ext cx="1428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7"/>
              <a:buFont typeface="Arial"/>
              <a:buNone/>
            </a:pPr>
            <a:r>
              <a:rPr b="1" i="0" lang="en" sz="78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Changing Data Type</a:t>
            </a:r>
            <a:endParaRPr b="1" i="0" sz="787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63" name="Google Shape;763;p26" title="Screenshot 2026-06-07 053034.png"/>
          <p:cNvPicPr preferRelativeResize="0"/>
          <p:nvPr/>
        </p:nvPicPr>
        <p:blipFill rotWithShape="1">
          <a:blip r:embed="rId6">
            <a:alphaModFix/>
          </a:blip>
          <a:srcRect b="0" l="46340" r="0" t="0"/>
          <a:stretch/>
        </p:blipFill>
        <p:spPr>
          <a:xfrm>
            <a:off x="6450145" y="1616210"/>
            <a:ext cx="1620143" cy="185017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26"/>
          <p:cNvSpPr txBox="1"/>
          <p:nvPr/>
        </p:nvSpPr>
        <p:spPr>
          <a:xfrm>
            <a:off x="6450145" y="1609692"/>
            <a:ext cx="301200" cy="19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5" name="Google Shape;765;p26"/>
          <p:cNvSpPr txBox="1"/>
          <p:nvPr/>
        </p:nvSpPr>
        <p:spPr>
          <a:xfrm>
            <a:off x="6751210" y="1609692"/>
            <a:ext cx="645600" cy="1980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6" name="Google Shape;766;p26"/>
          <p:cNvSpPr txBox="1"/>
          <p:nvPr/>
        </p:nvSpPr>
        <p:spPr>
          <a:xfrm>
            <a:off x="7396729" y="1609692"/>
            <a:ext cx="372600" cy="19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7" name="Google Shape;767;p26"/>
          <p:cNvSpPr txBox="1"/>
          <p:nvPr/>
        </p:nvSpPr>
        <p:spPr>
          <a:xfrm>
            <a:off x="7765903" y="1609692"/>
            <a:ext cx="301200" cy="198000"/>
          </a:xfrm>
          <a:prstGeom prst="rect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1"/>
              <a:buFont typeface="Arial"/>
              <a:buNone/>
            </a:pPr>
            <a:r>
              <a:t/>
            </a:r>
            <a:endParaRPr b="0" i="0" sz="1181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8" name="Google Shape;768;p26"/>
          <p:cNvSpPr txBox="1"/>
          <p:nvPr/>
        </p:nvSpPr>
        <p:spPr>
          <a:xfrm>
            <a:off x="7033114" y="1900721"/>
            <a:ext cx="372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Entity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69" name="Google Shape;769;p26"/>
          <p:cNvSpPr txBox="1"/>
          <p:nvPr/>
        </p:nvSpPr>
        <p:spPr>
          <a:xfrm>
            <a:off x="6479686" y="1900721"/>
            <a:ext cx="489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Upload Dictionary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70" name="Google Shape;770;p26"/>
          <p:cNvSpPr txBox="1"/>
          <p:nvPr/>
        </p:nvSpPr>
        <p:spPr>
          <a:xfrm>
            <a:off x="7469954" y="1900709"/>
            <a:ext cx="489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Column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71" name="Google Shape;771;p26"/>
          <p:cNvSpPr txBox="1"/>
          <p:nvPr/>
        </p:nvSpPr>
        <p:spPr>
          <a:xfrm>
            <a:off x="8023382" y="1900721"/>
            <a:ext cx="6990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2"/>
              <a:buFont typeface="Arial"/>
              <a:buNone/>
            </a:pPr>
            <a:r>
              <a:rPr b="1" i="0" lang="en" sz="492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Syntax to change data type (String)</a:t>
            </a:r>
            <a:endParaRPr b="1" i="0" sz="492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772" name="Google Shape;772;p26"/>
          <p:cNvCxnSpPr>
            <a:endCxn id="769" idx="0"/>
          </p:cNvCxnSpPr>
          <p:nvPr/>
        </p:nvCxnSpPr>
        <p:spPr>
          <a:xfrm>
            <a:off x="6600586" y="1807721"/>
            <a:ext cx="123600" cy="9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26"/>
          <p:cNvCxnSpPr>
            <a:endCxn id="768" idx="0"/>
          </p:cNvCxnSpPr>
          <p:nvPr/>
        </p:nvCxnSpPr>
        <p:spPr>
          <a:xfrm>
            <a:off x="7073914" y="1807721"/>
            <a:ext cx="145500" cy="930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26"/>
          <p:cNvCxnSpPr>
            <a:endCxn id="770" idx="0"/>
          </p:cNvCxnSpPr>
          <p:nvPr/>
        </p:nvCxnSpPr>
        <p:spPr>
          <a:xfrm>
            <a:off x="7582754" y="1807709"/>
            <a:ext cx="131700" cy="9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26"/>
          <p:cNvCxnSpPr>
            <a:endCxn id="771" idx="0"/>
          </p:cNvCxnSpPr>
          <p:nvPr/>
        </p:nvCxnSpPr>
        <p:spPr>
          <a:xfrm>
            <a:off x="7916582" y="1807721"/>
            <a:ext cx="456300" cy="930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6" name="Google Shape;776;p26"/>
          <p:cNvSpPr/>
          <p:nvPr/>
        </p:nvSpPr>
        <p:spPr>
          <a:xfrm>
            <a:off x="3365400" y="3421575"/>
            <a:ext cx="372600" cy="525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7" name="Google Shape;777;p26"/>
          <p:cNvSpPr txBox="1"/>
          <p:nvPr/>
        </p:nvSpPr>
        <p:spPr>
          <a:xfrm>
            <a:off x="6900526" y="2407500"/>
            <a:ext cx="16203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7"/>
              <a:buFont typeface="Arial"/>
              <a:buNone/>
            </a:pPr>
            <a:r>
              <a:rPr b="1" i="0" lang="en" sz="88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Preparation Workflow</a:t>
            </a:r>
            <a:endParaRPr b="1" i="0" sz="887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78" name="Google Shape;778;p26"/>
          <p:cNvSpPr txBox="1"/>
          <p:nvPr/>
        </p:nvSpPr>
        <p:spPr>
          <a:xfrm>
            <a:off x="7030325" y="2762875"/>
            <a:ext cx="1365000" cy="16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Raw Data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Missing Value Check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Duplicate Removal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Type Standardization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Analysis Ready Dataset</a:t>
            </a:r>
            <a:endParaRPr b="1" i="0" sz="8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9" name="Google Shape;779;p26"/>
          <p:cNvSpPr txBox="1"/>
          <p:nvPr/>
        </p:nvSpPr>
        <p:spPr>
          <a:xfrm>
            <a:off x="6781711" y="4276387"/>
            <a:ext cx="14280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9950" lIns="89950" spcFirstLastPara="1" rIns="89950" wrap="square" tIns="89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7"/>
              <a:buFont typeface="Arial"/>
              <a:buNone/>
            </a:pPr>
            <a:r>
              <a:rPr b="1" i="0" lang="en" sz="787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 ; Python </a:t>
            </a:r>
            <a:r>
              <a:rPr b="1" i="0" lang="en" sz="787" u="sng" cap="none" strike="noStrike">
                <a:solidFill>
                  <a:schemeClr val="hlink"/>
                </a:solidFill>
                <a:latin typeface="Playfair Display"/>
                <a:ea typeface="Playfair Display"/>
                <a:cs typeface="Playfair Display"/>
                <a:sym typeface="Playfair Display"/>
                <a:hlinkClick r:id="rId7"/>
              </a:rPr>
              <a:t>Colab</a:t>
            </a:r>
            <a:endParaRPr b="1" i="0" sz="787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27"/>
          <p:cNvSpPr txBox="1"/>
          <p:nvPr/>
        </p:nvSpPr>
        <p:spPr>
          <a:xfrm>
            <a:off x="700775" y="497550"/>
            <a:ext cx="7736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Correlation &amp; Distribution Validation </a:t>
            </a:r>
            <a:endParaRPr b="1" i="0" sz="20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85" name="Google Shape;785;p27"/>
          <p:cNvSpPr txBox="1"/>
          <p:nvPr/>
        </p:nvSpPr>
        <p:spPr>
          <a:xfrm>
            <a:off x="1573125" y="1061550"/>
            <a:ext cx="19347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Demographic Validation</a:t>
            </a:r>
            <a:endParaRPr b="1" i="0" sz="9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86" name="Google Shape;786;p27" title="Screenshot 2026-06-07 16045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3125" y="1383900"/>
            <a:ext cx="3273057" cy="2697872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27"/>
          <p:cNvSpPr txBox="1"/>
          <p:nvPr/>
        </p:nvSpPr>
        <p:spPr>
          <a:xfrm>
            <a:off x="1573150" y="4130822"/>
            <a:ext cx="32730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Conclusion: Similar median across all demographic</a:t>
            </a:r>
            <a:endParaRPr b="0" i="0" sz="10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8" name="Google Shape;788;p27"/>
          <p:cNvSpPr txBox="1"/>
          <p:nvPr/>
        </p:nvSpPr>
        <p:spPr>
          <a:xfrm>
            <a:off x="4980578" y="1061550"/>
            <a:ext cx="21471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Shipping Fee vs Loss corr</a:t>
            </a:r>
            <a:endParaRPr b="1" i="0" sz="9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89" name="Google Shape;789;p27" title="Screenshot 2026-06-07 16124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48004" y="1955793"/>
            <a:ext cx="1252921" cy="375276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27"/>
          <p:cNvSpPr txBox="1"/>
          <p:nvPr/>
        </p:nvSpPr>
        <p:spPr>
          <a:xfrm>
            <a:off x="4991360" y="2407633"/>
            <a:ext cx="2573100" cy="40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7750" lIns="77750" spcFirstLastPara="1" rIns="77750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5"/>
              <a:buFont typeface="Arial"/>
              <a:buNone/>
            </a:pPr>
            <a:r>
              <a:rPr b="0" i="0" lang="en" sz="765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Conclusion: Weak Positive association</a:t>
            </a:r>
            <a:endParaRPr b="0" i="0" sz="765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91" name="Google Shape;791;p27" title="Screenshot 2026-06-07 161426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1347" y="1414525"/>
            <a:ext cx="2573168" cy="464716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27"/>
          <p:cNvSpPr txBox="1"/>
          <p:nvPr/>
        </p:nvSpPr>
        <p:spPr>
          <a:xfrm>
            <a:off x="4980578" y="2889675"/>
            <a:ext cx="2147100" cy="3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Shipping Duration vs Loss corr</a:t>
            </a:r>
            <a:endParaRPr b="1" i="0" sz="90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793" name="Google Shape;793;p27" title="Screenshot 2026-06-07 161925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50805" y="3701693"/>
            <a:ext cx="1254244" cy="419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27" title="Screenshot 2026-06-07 161804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91349" y="3198525"/>
            <a:ext cx="2573175" cy="464717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27"/>
          <p:cNvSpPr txBox="1"/>
          <p:nvPr/>
        </p:nvSpPr>
        <p:spPr>
          <a:xfrm>
            <a:off x="4987925" y="4159950"/>
            <a:ext cx="2573100" cy="405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7750" lIns="77750" spcFirstLastPara="1" rIns="77750" wrap="square" tIns="777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Conclusion: Near Zero, Corelation almost non existent</a:t>
            </a:r>
            <a:endParaRPr b="0" i="0" sz="10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8"/>
          <p:cNvSpPr txBox="1"/>
          <p:nvPr/>
        </p:nvSpPr>
        <p:spPr>
          <a:xfrm>
            <a:off x="700775" y="497550"/>
            <a:ext cx="7736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Concentration / Pareto Analysis </a:t>
            </a:r>
            <a:endParaRPr b="1" i="0" sz="20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1" name="Google Shape;801;p28"/>
          <p:cNvSpPr txBox="1"/>
          <p:nvPr/>
        </p:nvSpPr>
        <p:spPr>
          <a:xfrm>
            <a:off x="398500" y="1079163"/>
            <a:ext cx="2131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7575" lIns="97575" spcFirstLastPara="1" rIns="97575" wrap="square" tIns="9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Product Category Concentration</a:t>
            </a:r>
            <a:endParaRPr b="1" i="0" sz="96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02" name="Google Shape;802;p28"/>
          <p:cNvSpPr txBox="1"/>
          <p:nvPr/>
        </p:nvSpPr>
        <p:spPr>
          <a:xfrm>
            <a:off x="398511" y="4095391"/>
            <a:ext cx="27459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82975" lIns="82975" spcFirstLastPara="1" rIns="82975" wrap="square" tIns="8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7"/>
              <a:buFont typeface="Arial"/>
              <a:buNone/>
            </a:pPr>
            <a:r>
              <a:rPr b="0" i="0" lang="en" sz="101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Conclusion: Home and electronics contribute 96% of Loss due to Cancelation</a:t>
            </a:r>
            <a:endParaRPr b="0" i="0" sz="1017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03" name="Google Shape;803;p28" title="Screenshot 2026-06-07 17321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9911" y="1443624"/>
            <a:ext cx="4215588" cy="2535966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28"/>
          <p:cNvSpPr txBox="1"/>
          <p:nvPr/>
        </p:nvSpPr>
        <p:spPr>
          <a:xfrm>
            <a:off x="4529922" y="4095391"/>
            <a:ext cx="2745900" cy="432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2975" lIns="82975" spcFirstLastPara="1" rIns="82975" wrap="square" tIns="829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7"/>
              <a:buFont typeface="Arial"/>
              <a:buNone/>
            </a:pPr>
            <a:r>
              <a:rPr b="0" i="0" lang="en" sz="1017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Conclusion: 48 out of 200 or roughly 24% sellers contribute 80% of total Loss due to Cancelation</a:t>
            </a:r>
            <a:endParaRPr b="0" i="0" sz="1017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05" name="Google Shape;805;p28" title="Screenshot 2026-06-07 17370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500" y="1586860"/>
            <a:ext cx="3978509" cy="2249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28"/>
          <p:cNvSpPr txBox="1"/>
          <p:nvPr/>
        </p:nvSpPr>
        <p:spPr>
          <a:xfrm>
            <a:off x="4529911" y="1079149"/>
            <a:ext cx="21312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7575" lIns="97575" spcFirstLastPara="1" rIns="97575" wrap="square" tIns="97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" sz="96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Sellers Concentration</a:t>
            </a:r>
            <a:endParaRPr b="1" i="0" sz="960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9"/>
          <p:cNvSpPr txBox="1"/>
          <p:nvPr/>
        </p:nvSpPr>
        <p:spPr>
          <a:xfrm>
            <a:off x="700775" y="497550"/>
            <a:ext cx="7736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CC412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Limitations &amp; Future Work </a:t>
            </a:r>
            <a:endParaRPr b="1" i="0" sz="2000" u="none" cap="none" strike="noStrike">
              <a:solidFill>
                <a:srgbClr val="CC4125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2" name="Google Shape;812;p29"/>
          <p:cNvSpPr txBox="1"/>
          <p:nvPr/>
        </p:nvSpPr>
        <p:spPr>
          <a:xfrm>
            <a:off x="1544725" y="1296450"/>
            <a:ext cx="3027300" cy="25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6325" lIns="96325" spcFirstLastPara="1" rIns="96325" wrap="square" tIns="96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4"/>
              <a:buFont typeface="Arial"/>
              <a:buNone/>
            </a:pPr>
            <a:r>
              <a:rPr b="1" i="0" lang="en" sz="1264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Limitations</a:t>
            </a:r>
            <a:endParaRPr b="1" i="0" sz="1264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4"/>
              <a:buFont typeface="Arial"/>
              <a:buNone/>
            </a:pPr>
            <a:r>
              <a:t/>
            </a:r>
            <a:endParaRPr b="1" i="0" sz="1264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4"/>
              <a:buFont typeface="Arial"/>
              <a:buNone/>
            </a:pPr>
            <a:r>
              <a:t/>
            </a:r>
            <a:endParaRPr b="1" i="0" sz="1264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Cancellation reason data was unavailable.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Analysis focuses on historical patterns.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Findings indicate association rather than causation.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Seller operational metrics were not included.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3" name="Google Shape;813;p29"/>
          <p:cNvSpPr txBox="1"/>
          <p:nvPr/>
        </p:nvSpPr>
        <p:spPr>
          <a:xfrm>
            <a:off x="4571969" y="1296450"/>
            <a:ext cx="3027300" cy="25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6325" lIns="96325" spcFirstLastPara="1" rIns="96325" wrap="square" tIns="963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9"/>
              <a:buFont typeface="Arial"/>
              <a:buNone/>
            </a:pPr>
            <a:r>
              <a:rPr b="1" i="0" lang="en" sz="1159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Future Work</a:t>
            </a:r>
            <a:endParaRPr b="1" i="0" sz="1159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9"/>
              <a:buFont typeface="Arial"/>
              <a:buNone/>
            </a:pPr>
            <a:r>
              <a:t/>
            </a:r>
            <a:endParaRPr b="1" i="0" sz="1159" u="none" cap="none" strike="noStrike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9"/>
              <a:buFont typeface="Arial"/>
              <a:buNone/>
            </a:pPr>
            <a:r>
              <a:t/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Cancellation Reason Analysis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Seller Performance Analysis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Customer Behavior Analysis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4462" lvl="0" marL="48172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9"/>
              <a:buFont typeface="Raleway"/>
              <a:buChar char="●"/>
            </a:pPr>
            <a:r>
              <a:rPr b="0" i="0" lang="en" sz="1159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Predictive Cancellation Risk Modeling</a:t>
            </a:r>
            <a:endParaRPr b="0" i="0" sz="1159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essional Gradient Theme by Slidesgo">
  <a:themeElements>
    <a:clrScheme name="Simple Light">
      <a:dk1>
        <a:srgbClr val="073763"/>
      </a:dk1>
      <a:lt1>
        <a:srgbClr val="FAF2E8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394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